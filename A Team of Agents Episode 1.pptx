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people join. When you start: no introduction, no agenda. Click to the next slide and go straight into the story. Your credibility comes later, inside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(memorize): "A while back I picked up what looked like a simple ticket: create a least-privilege IAM role for our developers." STORY: Walk the four boxes. "If you've done one of these, you know the path. You write the policy, submit it to security in ServiceNow, and it comes back: too broad, or missing a justification. You fix it, resubmit, and wait again." [Confirm: how many rounds a request like this usually takes, and how long each one waits.] HOOK (slow down): "This time, it was approved on the first request. No revisions." OVERVIEW: "In the next fifteen minutes I'll show you how: the team of AI specialists I built, how they work, and then we'll run one live." BRIDGE: "But the IAM policy was never really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work isn't slow. The handoffs are." EXPLAIN: "The people who know our security and compliance standards sit on other teams, each with its own queue. A question that takes them ten minutes to answer can sit for days. And by the time feedback arrives, I've moved on and have to switch back." CREDIBILITY (point at the bottom line): "And this isn't about being new. My day job is hardening our AWS baseline and running our EKS clusters. I still learned some of our standards only when the review came back." WISH I'D KNOWN: "What I wish I'd known: the standards existed. I just didn't have them in front of me while I was doing the work." BRIDGE: "So I tried to fix that with AI. It didn't work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tried three things." THE MISTAKE (own it): "First, a generic chatbot. It gave me a confident IAM policy, and it was exactly the kind of broad policy security sends back. My mistake was trusting an answer that didn't know our standards." "Second, I pasted our standards into the chat. Better, but different every time, and gone by the next session." "Third, I gave the agent a role: one that knows our standards and has the skills to apply them. That's what worked." BRIDGE: "That third step has two pieces. First,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skill teaches an agent how we do a task." EXPLAIN: "It's just a folder with a Markdown file: a name, a description of when to use it, and the steps. The agent reads only the descriptions at first and opens a skill when a task matches, so it can carry a lot of them. And it's an open standard, so the same skill works in Copilot, VS Code, Cursor and others." TEASER: "I won't go deeper today. Building your own skills is Episode 2." BRIDGE: "Skills solved the how. They didn't solve the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problem a persona solves: a generic AI answers like nobody in particular." EXPLAIN (left card): "When I need a security answer, I don't want a general opinion. It'll answer anything, it doesn't know where to stop, and it gives a developer and an auditor the same answer." POINT at the right card: "I want someone who thinks like our security team: applies our standards every time, knows its limits, and tells me what still needs a person. That's a persona. It's a role description, like one you'd write for a new hire." SAY (memorize): "Skills say how. A persona says who." BRIDGE: "Put a persona and its skills together, and you get a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kit is a specialist, defined in one file." WALK the right-hand column, not the JSON: who the agent is, the skills it can use, the team rules it always reads, the only tools it's allowed, and which model it runs on. ANALOGY: "It's the job description plus the toolbox for one hire. When I start an agent in sncfleet.ai, I pick a kit, and that's who shows up." POINT: "Change the kit file, and every agent started after that gets the change." BRIDGE: "So here's the team I've hired."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"Meet my team." EXPLAIN: "Two of them do the work: devsecops and the .NET developer. The other three give me a first pass I'd otherwise wait days for. The security engineer before the security review. The CMMC analyst before compliance. The PR reviewer before a teammate looks at it." IMPORTANT (say it plainly): "They don't replace those teams. They make sure that when my work reaches them, it's already right." POINT at the dark card: "And adding a specialist isn't building a new tool. It's a persona file and a JSON file." BRIDGE: "So let's go back to that IAM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"Same ticket, but this time I had my security engineer." STORY (walk the four steps): "I started an agent with the security-engineer kit and told it what our developers needed to do. It drafted the policy to our least-privilege standard, explained every permission, and wrote the justification security would ask for. Then I reviewed it, adjusted what I wanted, and submitted it in ServiceNow." RESULT (slow down, let it land): "About a day of work. One request. Zero revisions from the security team." POINT at step 4: "Notice who approved it: the security team. The agent didn't skip the review. It got the work right before it reached them." BRIDGE: "And it isn't just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isn't just approvals. It's the work itself." STORY: "We moved our EKS nodes to Bottlerocket, with FIPS. Testing a new node OS normally takes weeks: does FIPS work, do our workloads run on it, does DNS resolve, do the logs arrive and check out." RESULT: "With my agents helping plan the tests, read the output and chase down the failures, it took about two days." [Optional: one specific thing the agent caught or solved. A real detail makes this land.] BRIDGE: "Which raises the fair question: can we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"Agents prepare the work. People still approve it." EXPLAIN: "Agents can be wrong, and skills can run commands, so the design assumes mistakes will happen." POINT at two cards, not all six: "It never holds real credentials, and a person always merges. Nothing it does reaches a live environment without review." Let the room read the rest. [Before presenting, confirm all six cards match the work version.] BRIDGE: "So what does this change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what changes for us." ONE LINE EACH: First-pass approvals: "Work reaches security and compliance already meeting our standards, like that IAM request." Days, not weeks: "Like Bottlerocket: weeks of testing in two days." Auditable: "Procedures live in git, and agent work arrives as reviewable commits. That matters for CMMC." Cost: "Routine work runs on cheaper models; only the hard problems use the strongest one." HAND-OFF (memorize): "Let me show you. I'm going to hand an overly broad IAM policy to my security engineer, live." Then stop sharing the slides and share the terminal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3202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61480"/>
            <a:ext cx="10566400" cy="3883720"/>
          </a:xfrm>
          <a:prstGeom prst="rect">
            <a:avLst/>
          </a:prstGeom>
          <a:noFill/>
          <a:ln/>
        </p:spPr>
        <p:txBody>
          <a:bodyPr wrap="square" lIns="0" tIns="0" rIns="0" bIns="0" rtlCol="0" anchor="t"/>
          <a:lstStyle>
            <a:lvl1pPr algn="l" indent="0" marL="0">
              <a:lnSpc>
                <a:spcPct val="140000"/>
              </a:lnSpc>
              <a:buNone/>
              <a:defRPr lang="en-US" sz="1600" dirty="0">
                <a:solidFill>
                  <a:srgbClr val="13202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3202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61480"/>
            <a:ext cx="10566400" cy="3883720"/>
          </a:xfrm>
          <a:prstGeom prst="rect">
            <a:avLst/>
          </a:prstGeom>
          <a:noFill/>
          <a:ln/>
        </p:spPr>
        <p:txBody>
          <a:bodyPr wrap="square" lIns="0" tIns="0" rIns="0" bIns="0" rtlCol="0" anchor="t"/>
          <a:lstStyle>
            <a:lvl1pPr algn="l" indent="0" marL="0">
              <a:lnSpc>
                <a:spcPct val="140000"/>
              </a:lnSpc>
              <a:buNone/>
              <a:defRPr lang="en-US" sz="1600" dirty="0">
                <a:solidFill>
                  <a:srgbClr val="13202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4"/>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Shape 1"/>
          <p:cNvSpPr/>
          <p:nvPr/>
        </p:nvSpPr>
        <p:spPr>
          <a:xfrm>
            <a:off x="7496175" y="1273175"/>
            <a:ext cx="3879850" cy="2533650"/>
          </a:xfrm>
          <a:prstGeom prst="roundRect">
            <a:avLst>
              <a:gd name="adj" fmla="val 3885"/>
            </a:avLst>
          </a:prstGeom>
          <a:solidFill>
            <a:srgbClr val="182836"/>
          </a:solidFill>
          <a:ln w="6350">
            <a:solidFill>
              <a:srgbClr val="2A3C4D"/>
            </a:solidFill>
            <a:prstDash val="solid"/>
          </a:ln>
        </p:spPr>
      </p:sp>
      <p:sp>
        <p:nvSpPr>
          <p:cNvPr id="4" name="Text 2"/>
          <p:cNvSpPr/>
          <p:nvPr/>
        </p:nvSpPr>
        <p:spPr>
          <a:xfrm>
            <a:off x="7747000" y="14986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kit: security-engineer</a:t>
            </a:r>
            <a:endParaRPr lang="en-US" sz="1200" dirty="0"/>
          </a:p>
        </p:txBody>
      </p:sp>
      <p:sp>
        <p:nvSpPr>
          <p:cNvPr id="5" name="Text 3"/>
          <p:cNvSpPr/>
          <p:nvPr/>
        </p:nvSpPr>
        <p:spPr>
          <a:xfrm>
            <a:off x="7747000" y="19050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persona     who it is</a:t>
            </a:r>
            <a:endParaRPr lang="en-US" sz="1200" dirty="0"/>
          </a:p>
        </p:txBody>
      </p:sp>
      <p:sp>
        <p:nvSpPr>
          <p:cNvPr id="6" name="Text 4"/>
          <p:cNvSpPr/>
          <p:nvPr/>
        </p:nvSpPr>
        <p:spPr>
          <a:xfrm>
            <a:off x="7747000" y="22606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skills      how it works</a:t>
            </a:r>
            <a:endParaRPr lang="en-US" sz="1200" dirty="0"/>
          </a:p>
        </p:txBody>
      </p:sp>
      <p:sp>
        <p:nvSpPr>
          <p:cNvPr id="7" name="Text 5"/>
          <p:cNvSpPr/>
          <p:nvPr/>
        </p:nvSpPr>
        <p:spPr>
          <a:xfrm>
            <a:off x="7747000" y="26162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references  what it knows</a:t>
            </a:r>
            <a:endParaRPr lang="en-US" sz="1200" dirty="0"/>
          </a:p>
        </p:txBody>
      </p:sp>
      <p:sp>
        <p:nvSpPr>
          <p:cNvPr id="8" name="Text 6"/>
          <p:cNvSpPr/>
          <p:nvPr/>
        </p:nvSpPr>
        <p:spPr>
          <a:xfrm>
            <a:off x="7747000" y="2971800"/>
            <a:ext cx="35318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mcp_servers  what it can touch</a:t>
            </a:r>
            <a:endParaRPr lang="en-US" sz="1200" dirty="0"/>
          </a:p>
        </p:txBody>
      </p:sp>
      <p:sp>
        <p:nvSpPr>
          <p:cNvPr id="9" name="Text 7"/>
          <p:cNvSpPr/>
          <p:nvPr/>
        </p:nvSpPr>
        <p:spPr>
          <a:xfrm>
            <a:off x="812800" y="220354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EPISODE 1 · SNCFLEET.AI</a:t>
            </a:r>
            <a:endParaRPr lang="en-US" sz="1200" dirty="0"/>
          </a:p>
        </p:txBody>
      </p:sp>
      <p:sp>
        <p:nvSpPr>
          <p:cNvPr id="10" name="Text 8"/>
          <p:cNvSpPr/>
          <p:nvPr>
            <p:ph type="title"/>
          </p:nvPr>
        </p:nvSpPr>
        <p:spPr>
          <a:xfrm>
            <a:off x="812800" y="2670870"/>
            <a:ext cx="640969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2EC"/>
                </a:solidFill>
                <a:latin typeface="IBM Plex Sans" pitchFamily="34" charset="0"/>
                <a:ea typeface="IBM Plex Sans" pitchFamily="34" charset="-122"/>
                <a:cs typeface="IBM Plex Sans" pitchFamily="34" charset="-120"/>
              </a:rPr>
              <a:t>A team of agents</a:t>
            </a:r>
            <a:endParaRPr lang="en-US" sz="6000" dirty="0"/>
          </a:p>
        </p:txBody>
      </p:sp>
      <p:sp>
        <p:nvSpPr>
          <p:cNvPr id="11" name="Text 9"/>
          <p:cNvSpPr/>
          <p:nvPr/>
        </p:nvSpPr>
        <p:spPr>
          <a:xfrm>
            <a:off x="812800" y="3724970"/>
            <a:ext cx="627888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8C4CF"/>
                </a:solidFill>
                <a:latin typeface="IBM Plex Sans" pitchFamily="34" charset="0"/>
                <a:ea typeface="IBM Plex Sans" pitchFamily="34" charset="-122"/>
                <a:cs typeface="IBM Plex Sans" pitchFamily="34" charset="-120"/>
              </a:rPr>
              <a:t>How personas and kits turned weeks of back-and-forth into days</a:t>
            </a:r>
            <a:endParaRPr lang="en-US" sz="22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IBM Plex Sans" pitchFamily="34" charset="0"/>
                <a:ea typeface="IBM Plex Sans" pitchFamily="34" charset="-122"/>
                <a:cs typeface="IBM Plex Sans" pitchFamily="34" charset="-120"/>
              </a:rPr>
              <a:t>[Your name] · DevSecOps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A REAL TICKET</a:t>
            </a:r>
            <a:endParaRPr lang="en-US" sz="1200" dirty="0"/>
          </a:p>
        </p:txBody>
      </p:sp>
      <p:sp>
        <p:nvSpPr>
          <p:cNvPr id="3" name="Text 1"/>
          <p:cNvSpPr/>
          <p:nvPr>
            <p:ph type="title"/>
          </p:nvPr>
        </p:nvSpPr>
        <p:spPr>
          <a:xfrm>
            <a:off x="812800" y="1330920"/>
            <a:ext cx="9810750"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"Create a least-privilege IAM role for our developers."</a:t>
            </a:r>
            <a:endParaRPr lang="en-US" sz="3600" dirty="0"/>
          </a:p>
        </p:txBody>
      </p:sp>
      <p:sp>
        <p:nvSpPr>
          <p:cNvPr id="4" name="Shape 2"/>
          <p:cNvSpPr/>
          <p:nvPr/>
        </p:nvSpPr>
        <p:spPr>
          <a:xfrm>
            <a:off x="815975" y="2690416"/>
            <a:ext cx="2289175" cy="1448891"/>
          </a:xfrm>
          <a:prstGeom prst="roundRect">
            <a:avLst>
              <a:gd name="adj" fmla="val 6793"/>
            </a:avLst>
          </a:prstGeom>
          <a:solidFill>
            <a:srgbClr val="FBFAF6"/>
          </a:solidFill>
          <a:ln w="6350">
            <a:solidFill>
              <a:srgbClr val="DAD5C8"/>
            </a:solidFill>
            <a:prstDash val="solid"/>
          </a:ln>
        </p:spPr>
      </p:sp>
      <p:sp>
        <p:nvSpPr>
          <p:cNvPr id="5" name="Text 3"/>
          <p:cNvSpPr/>
          <p:nvPr/>
        </p:nvSpPr>
        <p:spPr>
          <a:xfrm>
            <a:off x="1022350" y="2896791"/>
            <a:ext cx="1932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1022350" y="3186311"/>
            <a:ext cx="193271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Draft</a:t>
            </a:r>
            <a:endParaRPr lang="en-US" sz="1600" dirty="0"/>
          </a:p>
        </p:txBody>
      </p:sp>
      <p:sp>
        <p:nvSpPr>
          <p:cNvPr id="7" name="Text 5"/>
          <p:cNvSpPr/>
          <p:nvPr/>
        </p:nvSpPr>
        <p:spPr>
          <a:xfrm>
            <a:off x="1022350" y="3506291"/>
            <a:ext cx="19327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Write the role and the policy</a:t>
            </a:r>
            <a:endParaRPr lang="en-US" sz="1200" dirty="0"/>
          </a:p>
        </p:txBody>
      </p:sp>
      <p:pic>
        <p:nvPicPr>
          <p:cNvPr id="8" name="Image 0" descr="arrow-right">    </p:cNvPr>
          <p:cNvPicPr>
            <a:picLocks noChangeAspect="1"/>
          </p:cNvPicPr>
          <p:nvPr/>
        </p:nvPicPr>
        <p:blipFill>
          <a:blip r:embed="rId1"/>
          <a:srcRect l="0" r="0" t="0" b="0"/>
          <a:stretch/>
        </p:blipFill>
        <p:spPr>
          <a:xfrm>
            <a:off x="3209925" y="3351312"/>
            <a:ext cx="254000" cy="127000"/>
          </a:xfrm>
          <a:prstGeom prst="rect">
            <a:avLst/>
          </a:prstGeom>
        </p:spPr>
      </p:pic>
      <p:sp>
        <p:nvSpPr>
          <p:cNvPr id="9" name="Shape 6"/>
          <p:cNvSpPr/>
          <p:nvPr/>
        </p:nvSpPr>
        <p:spPr>
          <a:xfrm>
            <a:off x="3568700" y="2690416"/>
            <a:ext cx="2289175" cy="1448891"/>
          </a:xfrm>
          <a:prstGeom prst="roundRect">
            <a:avLst>
              <a:gd name="adj" fmla="val 6793"/>
            </a:avLst>
          </a:prstGeom>
          <a:solidFill>
            <a:srgbClr val="FBFAF6"/>
          </a:solidFill>
          <a:ln w="6350">
            <a:solidFill>
              <a:srgbClr val="DAD5C8"/>
            </a:solidFill>
            <a:prstDash val="solid"/>
          </a:ln>
        </p:spPr>
      </p:sp>
      <p:sp>
        <p:nvSpPr>
          <p:cNvPr id="10" name="Text 7"/>
          <p:cNvSpPr/>
          <p:nvPr/>
        </p:nvSpPr>
        <p:spPr>
          <a:xfrm>
            <a:off x="3775075" y="2896791"/>
            <a:ext cx="1932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2</a:t>
            </a:r>
            <a:endParaRPr lang="en-US" sz="1200" dirty="0"/>
          </a:p>
        </p:txBody>
      </p:sp>
      <p:sp>
        <p:nvSpPr>
          <p:cNvPr id="11" name="Text 8"/>
          <p:cNvSpPr/>
          <p:nvPr/>
        </p:nvSpPr>
        <p:spPr>
          <a:xfrm>
            <a:off x="3775075" y="3186311"/>
            <a:ext cx="193271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Submit</a:t>
            </a:r>
            <a:endParaRPr lang="en-US" sz="1600" dirty="0"/>
          </a:p>
        </p:txBody>
      </p:sp>
      <p:sp>
        <p:nvSpPr>
          <p:cNvPr id="12" name="Text 9"/>
          <p:cNvSpPr/>
          <p:nvPr/>
        </p:nvSpPr>
        <p:spPr>
          <a:xfrm>
            <a:off x="3775075" y="3506291"/>
            <a:ext cx="19327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Security request in ServiceNow</a:t>
            </a:r>
            <a:endParaRPr lang="en-US" sz="1200" dirty="0"/>
          </a:p>
        </p:txBody>
      </p:sp>
      <p:pic>
        <p:nvPicPr>
          <p:cNvPr id="13" name="Image 1" descr="arrow-right">    </p:cNvPr>
          <p:cNvPicPr>
            <a:picLocks noChangeAspect="1"/>
          </p:cNvPicPr>
          <p:nvPr/>
        </p:nvPicPr>
        <p:blipFill>
          <a:blip r:embed="rId2"/>
          <a:srcRect l="0" r="0" t="0" b="0"/>
          <a:stretch/>
        </p:blipFill>
        <p:spPr>
          <a:xfrm>
            <a:off x="5962650" y="3351312"/>
            <a:ext cx="254000" cy="127000"/>
          </a:xfrm>
          <a:prstGeom prst="rect">
            <a:avLst/>
          </a:prstGeom>
        </p:spPr>
      </p:pic>
      <p:sp>
        <p:nvSpPr>
          <p:cNvPr id="14" name="Shape 10"/>
          <p:cNvSpPr/>
          <p:nvPr/>
        </p:nvSpPr>
        <p:spPr>
          <a:xfrm>
            <a:off x="6321425" y="2690416"/>
            <a:ext cx="2289175" cy="1448891"/>
          </a:xfrm>
          <a:prstGeom prst="roundRect">
            <a:avLst>
              <a:gd name="adj" fmla="val 6793"/>
            </a:avLst>
          </a:prstGeom>
          <a:solidFill>
            <a:srgbClr val="FBFAF6"/>
          </a:solidFill>
          <a:ln w="6350">
            <a:solidFill>
              <a:srgbClr val="DAD5C8"/>
            </a:solidFill>
            <a:prstDash val="solid"/>
          </a:ln>
        </p:spPr>
      </p:sp>
      <p:sp>
        <p:nvSpPr>
          <p:cNvPr id="15" name="Text 11"/>
          <p:cNvSpPr/>
          <p:nvPr/>
        </p:nvSpPr>
        <p:spPr>
          <a:xfrm>
            <a:off x="6527800" y="2896791"/>
            <a:ext cx="1932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3</a:t>
            </a:r>
            <a:endParaRPr lang="en-US" sz="1200" dirty="0"/>
          </a:p>
        </p:txBody>
      </p:sp>
      <p:sp>
        <p:nvSpPr>
          <p:cNvPr id="16" name="Text 12"/>
          <p:cNvSpPr/>
          <p:nvPr/>
        </p:nvSpPr>
        <p:spPr>
          <a:xfrm>
            <a:off x="6527800" y="3186311"/>
            <a:ext cx="193271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Findings</a:t>
            </a:r>
            <a:endParaRPr lang="en-US" sz="1600" dirty="0"/>
          </a:p>
        </p:txBody>
      </p:sp>
      <p:sp>
        <p:nvSpPr>
          <p:cNvPr id="17" name="Text 13"/>
          <p:cNvSpPr/>
          <p:nvPr/>
        </p:nvSpPr>
        <p:spPr>
          <a:xfrm>
            <a:off x="6527800" y="3506291"/>
            <a:ext cx="193271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Too broad, missing a justification</a:t>
            </a:r>
            <a:endParaRPr lang="en-US" sz="1200" dirty="0"/>
          </a:p>
        </p:txBody>
      </p:sp>
      <p:pic>
        <p:nvPicPr>
          <p:cNvPr id="18" name="Image 2" descr="arrow-right">    </p:cNvPr>
          <p:cNvPicPr>
            <a:picLocks noChangeAspect="1"/>
          </p:cNvPicPr>
          <p:nvPr/>
        </p:nvPicPr>
        <p:blipFill>
          <a:blip r:embed="rId3"/>
          <a:srcRect l="0" r="0" t="0" b="0"/>
          <a:stretch/>
        </p:blipFill>
        <p:spPr>
          <a:xfrm>
            <a:off x="8715375" y="3351312"/>
            <a:ext cx="254000" cy="127000"/>
          </a:xfrm>
          <a:prstGeom prst="rect">
            <a:avLst/>
          </a:prstGeom>
        </p:spPr>
      </p:pic>
      <p:sp>
        <p:nvSpPr>
          <p:cNvPr id="19" name="Shape 14"/>
          <p:cNvSpPr/>
          <p:nvPr/>
        </p:nvSpPr>
        <p:spPr>
          <a:xfrm>
            <a:off x="9077325" y="2793901"/>
            <a:ext cx="2295525" cy="1241921"/>
          </a:xfrm>
          <a:prstGeom prst="roundRect">
            <a:avLst>
              <a:gd name="adj" fmla="val 7670"/>
            </a:avLst>
          </a:prstGeom>
          <a:solidFill>
            <a:srgbClr val="FBFAF6"/>
          </a:solidFill>
          <a:ln w="12700">
            <a:solidFill>
              <a:srgbClr val="9A5B0E"/>
            </a:solidFill>
            <a:prstDash val="solid"/>
          </a:ln>
        </p:spPr>
      </p:sp>
      <p:sp>
        <p:nvSpPr>
          <p:cNvPr id="20" name="Text 15"/>
          <p:cNvSpPr/>
          <p:nvPr/>
        </p:nvSpPr>
        <p:spPr>
          <a:xfrm>
            <a:off x="9286875" y="3003451"/>
            <a:ext cx="1932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JetBrains Mono" pitchFamily="49" charset="0"/>
                <a:ea typeface="JetBrains Mono" pitchFamily="49" charset="-122"/>
                <a:cs typeface="JetBrains Mono" pitchFamily="49" charset="-120"/>
              </a:rPr>
              <a:t>4</a:t>
            </a:r>
            <a:endParaRPr lang="en-US" sz="1200" dirty="0"/>
          </a:p>
        </p:txBody>
      </p:sp>
      <p:sp>
        <p:nvSpPr>
          <p:cNvPr id="21" name="Text 16"/>
          <p:cNvSpPr/>
          <p:nvPr/>
        </p:nvSpPr>
        <p:spPr>
          <a:xfrm>
            <a:off x="9286875" y="3292971"/>
            <a:ext cx="193271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Revise</a:t>
            </a:r>
            <a:endParaRPr lang="en-US" sz="1600" dirty="0"/>
          </a:p>
        </p:txBody>
      </p:sp>
      <p:sp>
        <p:nvSpPr>
          <p:cNvPr id="22" name="Text 17"/>
          <p:cNvSpPr/>
          <p:nvPr/>
        </p:nvSpPr>
        <p:spPr>
          <a:xfrm>
            <a:off x="9286875" y="3612952"/>
            <a:ext cx="19327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Fix, resubmit, wait again</a:t>
            </a:r>
            <a:endParaRPr lang="en-US" sz="1200" dirty="0"/>
          </a:p>
        </p:txBody>
      </p:sp>
      <p:sp>
        <p:nvSpPr>
          <p:cNvPr id="23" name="Text 18"/>
          <p:cNvSpPr/>
          <p:nvPr/>
        </p:nvSpPr>
        <p:spPr>
          <a:xfrm>
            <a:off x="812800" y="4447282"/>
            <a:ext cx="9810750"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3"/>
                </a:solidFill>
                <a:latin typeface="IBM Plex Sans" pitchFamily="34" charset="0"/>
                <a:ea typeface="IBM Plex Sans" pitchFamily="34" charset="-122"/>
                <a:cs typeface="IBM Plex Sans" pitchFamily="34" charset="-120"/>
              </a:rPr>
              <a:t>Requests like this often go back and forth with security, and every round waits in the queue.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THE REAL PROBLEM</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The work isn't slow. The handoffs are.</a:t>
            </a:r>
            <a:endParaRPr lang="en-US" sz="3600" dirty="0"/>
          </a:p>
        </p:txBody>
      </p:sp>
      <p:sp>
        <p:nvSpPr>
          <p:cNvPr id="4" name="Shape 2"/>
          <p:cNvSpPr/>
          <p:nvPr/>
        </p:nvSpPr>
        <p:spPr>
          <a:xfrm>
            <a:off x="815975" y="2164655"/>
            <a:ext cx="3376017" cy="1370112"/>
          </a:xfrm>
          <a:prstGeom prst="roundRect">
            <a:avLst>
              <a:gd name="adj" fmla="val 7184"/>
            </a:avLst>
          </a:prstGeom>
          <a:solidFill>
            <a:srgbClr val="FBFAF6"/>
          </a:solidFill>
          <a:ln w="6350">
            <a:solidFill>
              <a:srgbClr val="DAD5C8"/>
            </a:solidFill>
            <a:prstDash val="solid"/>
          </a:ln>
        </p:spPr>
      </p:sp>
      <p:sp>
        <p:nvSpPr>
          <p:cNvPr id="5" name="Text 3"/>
          <p:cNvSpPr/>
          <p:nvPr/>
        </p:nvSpPr>
        <p:spPr>
          <a:xfrm>
            <a:off x="1073150" y="2421830"/>
            <a:ext cx="294751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Experts sit on other teams</a:t>
            </a:r>
            <a:endParaRPr lang="en-US" sz="1600" dirty="0"/>
          </a:p>
        </p:txBody>
      </p:sp>
      <p:sp>
        <p:nvSpPr>
          <p:cNvPr id="6" name="Text 4"/>
          <p:cNvSpPr/>
          <p:nvPr/>
        </p:nvSpPr>
        <p:spPr>
          <a:xfrm>
            <a:off x="1073150" y="2767211"/>
            <a:ext cx="29475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Security, compliance, networking: each with its own queue.</a:t>
            </a:r>
            <a:endParaRPr lang="en-US" sz="1400" dirty="0"/>
          </a:p>
        </p:txBody>
      </p:sp>
      <p:sp>
        <p:nvSpPr>
          <p:cNvPr id="7" name="Shape 5"/>
          <p:cNvSpPr/>
          <p:nvPr/>
        </p:nvSpPr>
        <p:spPr>
          <a:xfrm>
            <a:off x="4401542" y="2164655"/>
            <a:ext cx="3376116" cy="1370112"/>
          </a:xfrm>
          <a:prstGeom prst="roundRect">
            <a:avLst>
              <a:gd name="adj" fmla="val 7184"/>
            </a:avLst>
          </a:prstGeom>
          <a:solidFill>
            <a:srgbClr val="FBFAF6"/>
          </a:solidFill>
          <a:ln w="6350">
            <a:solidFill>
              <a:srgbClr val="DAD5C8"/>
            </a:solidFill>
            <a:prstDash val="solid"/>
          </a:ln>
        </p:spPr>
      </p:sp>
      <p:sp>
        <p:nvSpPr>
          <p:cNvPr id="8" name="Text 6"/>
          <p:cNvSpPr/>
          <p:nvPr/>
        </p:nvSpPr>
        <p:spPr>
          <a:xfrm>
            <a:off x="4658717" y="2421830"/>
            <a:ext cx="294761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Every consult waits</a:t>
            </a:r>
            <a:endParaRPr lang="en-US" sz="1600" dirty="0"/>
          </a:p>
        </p:txBody>
      </p:sp>
      <p:sp>
        <p:nvSpPr>
          <p:cNvPr id="9" name="Text 7"/>
          <p:cNvSpPr/>
          <p:nvPr/>
        </p:nvSpPr>
        <p:spPr>
          <a:xfrm>
            <a:off x="4658717" y="2767211"/>
            <a:ext cx="294761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A ten-minute answer can sit in a queue for days.</a:t>
            </a:r>
            <a:endParaRPr lang="en-US" sz="1400" dirty="0"/>
          </a:p>
        </p:txBody>
      </p:sp>
      <p:sp>
        <p:nvSpPr>
          <p:cNvPr id="10" name="Shape 8"/>
          <p:cNvSpPr/>
          <p:nvPr/>
        </p:nvSpPr>
        <p:spPr>
          <a:xfrm>
            <a:off x="7990384" y="2167830"/>
            <a:ext cx="3382466" cy="1363762"/>
          </a:xfrm>
          <a:prstGeom prst="roundRect">
            <a:avLst>
              <a:gd name="adj" fmla="val 6984"/>
            </a:avLst>
          </a:prstGeom>
          <a:solidFill>
            <a:srgbClr val="FBFAF6"/>
          </a:solidFill>
          <a:ln w="12700">
            <a:solidFill>
              <a:srgbClr val="9A5B0E"/>
            </a:solidFill>
            <a:prstDash val="solid"/>
          </a:ln>
        </p:spPr>
      </p:sp>
      <p:sp>
        <p:nvSpPr>
          <p:cNvPr id="11" name="Text 9"/>
          <p:cNvSpPr/>
          <p:nvPr/>
        </p:nvSpPr>
        <p:spPr>
          <a:xfrm>
            <a:off x="8250734" y="2428180"/>
            <a:ext cx="294761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Feedback comes late</a:t>
            </a:r>
            <a:endParaRPr lang="en-US" sz="1600" dirty="0"/>
          </a:p>
        </p:txBody>
      </p:sp>
      <p:sp>
        <p:nvSpPr>
          <p:cNvPr id="12" name="Text 10"/>
          <p:cNvSpPr/>
          <p:nvPr/>
        </p:nvSpPr>
        <p:spPr>
          <a:xfrm>
            <a:off x="8250734" y="2773561"/>
            <a:ext cx="294761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Findings arrive after you've moved on, so you switch back.</a:t>
            </a:r>
            <a:endParaRPr lang="en-US" sz="1400" dirty="0"/>
          </a:p>
        </p:txBody>
      </p:sp>
      <p:sp>
        <p:nvSpPr>
          <p:cNvPr id="13" name="Text 11"/>
          <p:cNvSpPr/>
          <p:nvPr/>
        </p:nvSpPr>
        <p:spPr>
          <a:xfrm>
            <a:off x="812800" y="3842742"/>
            <a:ext cx="1020318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3202C"/>
                </a:solidFill>
                <a:latin typeface="IBM Plex Sans" pitchFamily="34" charset="0"/>
                <a:ea typeface="IBM Plex Sans" pitchFamily="34" charset="-122"/>
                <a:cs typeface="IBM Plex Sans" pitchFamily="34" charset="-120"/>
              </a:rPr>
              <a:t>My day job is hardening our AWS baseline and running EKS, and I still learned some of our standards only when the review came back.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HOW I GOT HERE</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Three things I tried</a:t>
            </a:r>
            <a:endParaRPr lang="en-US" sz="3600" dirty="0"/>
          </a:p>
        </p:txBody>
      </p:sp>
      <p:sp>
        <p:nvSpPr>
          <p:cNvPr id="4" name="Shape 2"/>
          <p:cNvSpPr/>
          <p:nvPr/>
        </p:nvSpPr>
        <p:spPr>
          <a:xfrm>
            <a:off x="815975" y="2282726"/>
            <a:ext cx="3147417" cy="1987252"/>
          </a:xfrm>
          <a:prstGeom prst="roundRect">
            <a:avLst>
              <a:gd name="adj" fmla="val 4953"/>
            </a:avLst>
          </a:prstGeom>
          <a:solidFill>
            <a:srgbClr val="FBFAF6"/>
          </a:solidFill>
          <a:ln w="6350">
            <a:solidFill>
              <a:srgbClr val="DAD5C8"/>
            </a:solidFill>
            <a:prstDash val="solid"/>
          </a:ln>
        </p:spPr>
      </p:sp>
      <p:sp>
        <p:nvSpPr>
          <p:cNvPr id="5" name="Text 3"/>
          <p:cNvSpPr/>
          <p:nvPr/>
        </p:nvSpPr>
        <p:spPr>
          <a:xfrm>
            <a:off x="1073150" y="2539901"/>
            <a:ext cx="27120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73150" y="2854821"/>
            <a:ext cx="271205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A generic chatbot</a:t>
            </a:r>
            <a:endParaRPr lang="en-US" sz="1600" dirty="0"/>
          </a:p>
        </p:txBody>
      </p:sp>
      <p:sp>
        <p:nvSpPr>
          <p:cNvPr id="7" name="Text 5"/>
          <p:cNvSpPr/>
          <p:nvPr/>
        </p:nvSpPr>
        <p:spPr>
          <a:xfrm>
            <a:off x="1073150" y="3200202"/>
            <a:ext cx="271205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Confident answers that didn't know our standards.</a:t>
            </a:r>
            <a:endParaRPr lang="en-US" sz="1400" dirty="0"/>
          </a:p>
        </p:txBody>
      </p:sp>
      <p:sp>
        <p:nvSpPr>
          <p:cNvPr id="8" name="Text 6"/>
          <p:cNvSpPr/>
          <p:nvPr/>
        </p:nvSpPr>
        <p:spPr>
          <a:xfrm>
            <a:off x="1073150" y="3799483"/>
            <a:ext cx="27120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Result: generic</a:t>
            </a:r>
            <a:endParaRPr lang="en-US" sz="1200" dirty="0"/>
          </a:p>
        </p:txBody>
      </p:sp>
      <p:pic>
        <p:nvPicPr>
          <p:cNvPr id="9" name="Image 0" descr="arrow-right">    </p:cNvPr>
          <p:cNvPicPr>
            <a:picLocks noChangeAspect="1"/>
          </p:cNvPicPr>
          <p:nvPr/>
        </p:nvPicPr>
        <p:blipFill>
          <a:blip r:embed="rId1"/>
          <a:srcRect l="0" r="0" t="0" b="0"/>
          <a:stretch/>
        </p:blipFill>
        <p:spPr>
          <a:xfrm>
            <a:off x="4093567" y="3200102"/>
            <a:ext cx="304800" cy="152400"/>
          </a:xfrm>
          <a:prstGeom prst="rect">
            <a:avLst/>
          </a:prstGeom>
        </p:spPr>
      </p:pic>
      <p:sp>
        <p:nvSpPr>
          <p:cNvPr id="10" name="Shape 7"/>
          <p:cNvSpPr/>
          <p:nvPr/>
        </p:nvSpPr>
        <p:spPr>
          <a:xfrm>
            <a:off x="4528542" y="2282726"/>
            <a:ext cx="3147516" cy="1987252"/>
          </a:xfrm>
          <a:prstGeom prst="roundRect">
            <a:avLst>
              <a:gd name="adj" fmla="val 4953"/>
            </a:avLst>
          </a:prstGeom>
          <a:solidFill>
            <a:srgbClr val="FBFAF6"/>
          </a:solidFill>
          <a:ln w="6350">
            <a:solidFill>
              <a:srgbClr val="DAD5C8"/>
            </a:solidFill>
            <a:prstDash val="solid"/>
          </a:ln>
        </p:spPr>
      </p:sp>
      <p:sp>
        <p:nvSpPr>
          <p:cNvPr id="11" name="Text 8"/>
          <p:cNvSpPr/>
          <p:nvPr/>
        </p:nvSpPr>
        <p:spPr>
          <a:xfrm>
            <a:off x="4785717" y="2539901"/>
            <a:ext cx="2712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02</a:t>
            </a:r>
            <a:endParaRPr lang="en-US" sz="1200" dirty="0"/>
          </a:p>
        </p:txBody>
      </p:sp>
      <p:sp>
        <p:nvSpPr>
          <p:cNvPr id="12" name="Text 9"/>
          <p:cNvSpPr/>
          <p:nvPr/>
        </p:nvSpPr>
        <p:spPr>
          <a:xfrm>
            <a:off x="4785717" y="2854821"/>
            <a:ext cx="27121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Pasting our standards in</a:t>
            </a:r>
            <a:endParaRPr lang="en-US" sz="1600" dirty="0"/>
          </a:p>
        </p:txBody>
      </p:sp>
      <p:sp>
        <p:nvSpPr>
          <p:cNvPr id="13" name="Text 10"/>
          <p:cNvSpPr/>
          <p:nvPr/>
        </p:nvSpPr>
        <p:spPr>
          <a:xfrm>
            <a:off x="4785717" y="3200202"/>
            <a:ext cx="271216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Better, but different every time and lost between chats.</a:t>
            </a:r>
            <a:endParaRPr lang="en-US" sz="1400" dirty="0"/>
          </a:p>
        </p:txBody>
      </p:sp>
      <p:sp>
        <p:nvSpPr>
          <p:cNvPr id="14" name="Text 11"/>
          <p:cNvSpPr/>
          <p:nvPr/>
        </p:nvSpPr>
        <p:spPr>
          <a:xfrm>
            <a:off x="4785717" y="3799483"/>
            <a:ext cx="2712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Result: inconsistent</a:t>
            </a:r>
            <a:endParaRPr lang="en-US" sz="1200" dirty="0"/>
          </a:p>
        </p:txBody>
      </p:sp>
      <p:pic>
        <p:nvPicPr>
          <p:cNvPr id="15" name="Image 1" descr="arrow-right">    </p:cNvPr>
          <p:cNvPicPr>
            <a:picLocks noChangeAspect="1"/>
          </p:cNvPicPr>
          <p:nvPr/>
        </p:nvPicPr>
        <p:blipFill>
          <a:blip r:embed="rId2"/>
          <a:srcRect l="0" r="0" t="0" b="0"/>
          <a:stretch/>
        </p:blipFill>
        <p:spPr>
          <a:xfrm>
            <a:off x="7806234" y="3200102"/>
            <a:ext cx="304800" cy="152400"/>
          </a:xfrm>
          <a:prstGeom prst="rect">
            <a:avLst/>
          </a:prstGeom>
        </p:spPr>
      </p:pic>
      <p:sp>
        <p:nvSpPr>
          <p:cNvPr id="16" name="Shape 12"/>
          <p:cNvSpPr/>
          <p:nvPr/>
        </p:nvSpPr>
        <p:spPr>
          <a:xfrm>
            <a:off x="8238034" y="2161480"/>
            <a:ext cx="3141166" cy="2229743"/>
          </a:xfrm>
          <a:prstGeom prst="roundRect">
            <a:avLst>
              <a:gd name="adj" fmla="val 4557"/>
            </a:avLst>
          </a:prstGeom>
          <a:solidFill>
            <a:srgbClr val="0F1A24"/>
          </a:solidFill>
          <a:ln/>
        </p:spPr>
      </p:sp>
      <p:sp>
        <p:nvSpPr>
          <p:cNvPr id="17" name="Text 13"/>
          <p:cNvSpPr/>
          <p:nvPr/>
        </p:nvSpPr>
        <p:spPr>
          <a:xfrm>
            <a:off x="8492034" y="2415480"/>
            <a:ext cx="2712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JetBrains Mono" pitchFamily="49" charset="0"/>
                <a:ea typeface="JetBrains Mono" pitchFamily="49" charset="-122"/>
                <a:cs typeface="JetBrains Mono" pitchFamily="49" charset="-120"/>
              </a:rPr>
              <a:t>03</a:t>
            </a:r>
            <a:endParaRPr lang="en-US" sz="1200" dirty="0"/>
          </a:p>
        </p:txBody>
      </p:sp>
      <p:sp>
        <p:nvSpPr>
          <p:cNvPr id="18" name="Text 14"/>
          <p:cNvSpPr/>
          <p:nvPr/>
        </p:nvSpPr>
        <p:spPr>
          <a:xfrm>
            <a:off x="8492034" y="2730401"/>
            <a:ext cx="27121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Giving the agent a role</a:t>
            </a:r>
            <a:endParaRPr lang="en-US" sz="1600" dirty="0"/>
          </a:p>
        </p:txBody>
      </p:sp>
      <p:sp>
        <p:nvSpPr>
          <p:cNvPr id="19" name="Text 15"/>
          <p:cNvSpPr/>
          <p:nvPr/>
        </p:nvSpPr>
        <p:spPr>
          <a:xfrm>
            <a:off x="8492034" y="3075781"/>
            <a:ext cx="271216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A persona that knows our standards, with skills to apply them.</a:t>
            </a:r>
            <a:endParaRPr lang="en-US" sz="1400" dirty="0"/>
          </a:p>
        </p:txBody>
      </p:sp>
      <p:sp>
        <p:nvSpPr>
          <p:cNvPr id="20" name="Text 16"/>
          <p:cNvSpPr/>
          <p:nvPr/>
        </p:nvSpPr>
        <p:spPr>
          <a:xfrm>
            <a:off x="8492034" y="3923903"/>
            <a:ext cx="2712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IBM Plex Sans" pitchFamily="34" charset="0"/>
                <a:ea typeface="IBM Plex Sans" pitchFamily="34" charset="-122"/>
                <a:cs typeface="IBM Plex Sans" pitchFamily="34" charset="-120"/>
              </a:rPr>
              <a:t>Result: this worked</a:t>
            </a:r>
            <a:endParaRPr lang="en-US" sz="1200" dirty="0"/>
          </a:p>
        </p:txBody>
      </p:sp>
      <p:sp>
        <p:nvSpPr>
          <p:cNvPr id="21" name="Text 17"/>
          <p:cNvSpPr/>
          <p:nvPr/>
        </p:nvSpPr>
        <p:spPr>
          <a:xfrm>
            <a:off x="812800" y="4696023"/>
            <a:ext cx="9810750" cy="3199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3"/>
                </a:solidFill>
                <a:latin typeface="IBM Plex Sans" pitchFamily="34" charset="0"/>
                <a:ea typeface="IBM Plex Sans" pitchFamily="34" charset="-122"/>
                <a:cs typeface="IBM Plex Sans" pitchFamily="34" charset="-120"/>
              </a:rPr>
              <a:t>That third step has two pieces: </a:t>
            </a:r>
            <a:r>
              <a:rPr lang="en-US" sz="1600" b="1" dirty="0">
                <a:solidFill>
                  <a:srgbClr val="13202C"/>
                </a:solidFill>
                <a:latin typeface="IBM Plex Sans" pitchFamily="34" charset="0"/>
                <a:ea typeface="IBM Plex Sans" pitchFamily="34" charset="-122"/>
                <a:cs typeface="IBM Plex Sans" pitchFamily="34" charset="-120"/>
              </a:rPr>
              <a:t>skills</a:t>
            </a:r>
            <a:r>
              <a:rPr lang="en-US" sz="1600" dirty="0">
                <a:solidFill>
                  <a:srgbClr val="4A5563"/>
                </a:solidFill>
                <a:latin typeface="IBM Plex Sans" pitchFamily="34" charset="0"/>
                <a:ea typeface="IBM Plex Sans" pitchFamily="34" charset="-122"/>
                <a:cs typeface="IBM Plex Sans" pitchFamily="34" charset="-120"/>
              </a:rPr>
              <a:t> and </a:t>
            </a:r>
            <a:r>
              <a:rPr lang="en-US" sz="1600" b="1" dirty="0">
                <a:solidFill>
                  <a:srgbClr val="13202C"/>
                </a:solidFill>
                <a:latin typeface="IBM Plex Sans" pitchFamily="34" charset="0"/>
                <a:ea typeface="IBM Plex Sans" pitchFamily="34" charset="-122"/>
                <a:cs typeface="IBM Plex Sans" pitchFamily="34" charset="-120"/>
              </a:rPr>
              <a:t>personas</a:t>
            </a:r>
            <a:r>
              <a:rPr lang="en-US" sz="1600" dirty="0">
                <a:solidFill>
                  <a:srgbClr val="4A5563"/>
                </a:solidFill>
                <a:latin typeface="IBM Plex Sans" pitchFamily="34" charset="0"/>
                <a:ea typeface="IBM Plex Sans" pitchFamily="34" charset="-122"/>
                <a:cs typeface="IBM Plex Sans" pitchFamily="34" charset="-120"/>
              </a:rPr>
              <a: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5D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SKILLS IN ONE MINUTE</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A skill teaches an agent how we do a task</a:t>
            </a:r>
            <a:endParaRPr lang="en-US" sz="3600" dirty="0"/>
          </a:p>
        </p:txBody>
      </p:sp>
      <p:sp>
        <p:nvSpPr>
          <p:cNvPr id="4" name="Shape 2"/>
          <p:cNvSpPr/>
          <p:nvPr/>
        </p:nvSpPr>
        <p:spPr>
          <a:xfrm>
            <a:off x="812800" y="2161480"/>
            <a:ext cx="4826000" cy="2796183"/>
          </a:xfrm>
          <a:prstGeom prst="roundRect">
            <a:avLst>
              <a:gd name="adj" fmla="val 3634"/>
            </a:avLst>
          </a:prstGeom>
          <a:solidFill>
            <a:srgbClr val="0F1A24"/>
          </a:solidFill>
          <a:ln/>
        </p:spPr>
      </p:sp>
      <p:sp>
        <p:nvSpPr>
          <p:cNvPr id="5" name="Text 3"/>
          <p:cNvSpPr/>
          <p:nvPr/>
        </p:nvSpPr>
        <p:spPr>
          <a:xfrm>
            <a:off x="1066800" y="2415480"/>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k8s-triage/</a:t>
            </a:r>
            <a:endParaRPr lang="en-US" sz="1200" dirty="0"/>
          </a:p>
        </p:txBody>
      </p:sp>
      <p:sp>
        <p:nvSpPr>
          <p:cNvPr id="6" name="Text 4"/>
          <p:cNvSpPr/>
          <p:nvPr/>
        </p:nvSpPr>
        <p:spPr>
          <a:xfrm>
            <a:off x="1066800" y="2679601"/>
            <a:ext cx="444754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SKILL.md</a:t>
            </a:r>
            <a:endParaRPr lang="en-US" sz="1200" dirty="0"/>
          </a:p>
        </p:txBody>
      </p:sp>
      <p:sp>
        <p:nvSpPr>
          <p:cNvPr id="7" name="Shape 5"/>
          <p:cNvSpPr/>
          <p:nvPr/>
        </p:nvSpPr>
        <p:spPr>
          <a:xfrm>
            <a:off x="1066800" y="2943721"/>
            <a:ext cx="4318000" cy="12700"/>
          </a:xfrm>
          <a:prstGeom prst="rect">
            <a:avLst/>
          </a:prstGeom>
          <a:solidFill>
            <a:srgbClr val="2A3C4D"/>
          </a:solidFill>
          <a:ln/>
        </p:spPr>
      </p:sp>
      <p:sp>
        <p:nvSpPr>
          <p:cNvPr id="8" name="Text 6"/>
          <p:cNvSpPr/>
          <p:nvPr/>
        </p:nvSpPr>
        <p:spPr>
          <a:xfrm>
            <a:off x="1066800" y="3007221"/>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a:t>
            </a:r>
            <a:endParaRPr lang="en-US" sz="1200" dirty="0"/>
          </a:p>
        </p:txBody>
      </p:sp>
      <p:sp>
        <p:nvSpPr>
          <p:cNvPr id="9" name="Text 7"/>
          <p:cNvSpPr/>
          <p:nvPr/>
        </p:nvSpPr>
        <p:spPr>
          <a:xfrm>
            <a:off x="1066800" y="3271341"/>
            <a:ext cx="444754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name:</a:t>
            </a:r>
            <a:r>
              <a:rPr lang="en-US" sz="1200" dirty="0">
                <a:solidFill>
                  <a:srgbClr val="F4F2EC"/>
                </a:solidFill>
                <a:latin typeface="JetBrains Mono" pitchFamily="49" charset="0"/>
                <a:ea typeface="JetBrains Mono" pitchFamily="49" charset="-122"/>
                <a:cs typeface="JetBrains Mono" pitchFamily="49" charset="-120"/>
              </a:rPr>
              <a:t> k8s-triage</a:t>
            </a:r>
            <a:endParaRPr lang="en-US" sz="1200" dirty="0"/>
          </a:p>
        </p:txBody>
      </p:sp>
      <p:sp>
        <p:nvSpPr>
          <p:cNvPr id="10" name="Text 8"/>
          <p:cNvSpPr/>
          <p:nvPr/>
        </p:nvSpPr>
        <p:spPr>
          <a:xfrm>
            <a:off x="1066800" y="3535462"/>
            <a:ext cx="444754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description:</a:t>
            </a:r>
            <a:r>
              <a:rPr lang="en-US" sz="1200" dirty="0">
                <a:solidFill>
                  <a:srgbClr val="F4F2EC"/>
                </a:solidFill>
                <a:latin typeface="JetBrains Mono" pitchFamily="49" charset="0"/>
                <a:ea typeface="JetBrains Mono" pitchFamily="49" charset="-122"/>
                <a:cs typeface="JetBrains Mono" pitchFamily="49" charset="-120"/>
              </a:rPr>
              <a:t> Read-only triage of a broken Kubernetes workload. Use when asked why a pod is failing.</a:t>
            </a:r>
            <a:endParaRPr lang="en-US" sz="1200" dirty="0"/>
          </a:p>
        </p:txBody>
      </p:sp>
      <p:sp>
        <p:nvSpPr>
          <p:cNvPr id="11" name="Text 9"/>
          <p:cNvSpPr/>
          <p:nvPr/>
        </p:nvSpPr>
        <p:spPr>
          <a:xfrm>
            <a:off x="1066800" y="4226223"/>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a:t>
            </a:r>
            <a:endParaRPr lang="en-US" sz="1200" dirty="0"/>
          </a:p>
        </p:txBody>
      </p:sp>
      <p:sp>
        <p:nvSpPr>
          <p:cNvPr id="12" name="Text 10"/>
          <p:cNvSpPr/>
          <p:nvPr/>
        </p:nvSpPr>
        <p:spPr>
          <a:xfrm>
            <a:off x="1066800" y="4490343"/>
            <a:ext cx="4447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 Steps, rules, examples…</a:t>
            </a:r>
            <a:endParaRPr lang="en-US" sz="1200" dirty="0"/>
          </a:p>
        </p:txBody>
      </p:sp>
      <p:sp>
        <p:nvSpPr>
          <p:cNvPr id="13" name="Text 11"/>
          <p:cNvSpPr/>
          <p:nvPr/>
        </p:nvSpPr>
        <p:spPr>
          <a:xfrm>
            <a:off x="5994400" y="2416770"/>
            <a:ext cx="554634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Just a folder of Markdown</a:t>
            </a:r>
            <a:endParaRPr lang="en-US" sz="1600" dirty="0"/>
          </a:p>
        </p:txBody>
      </p:sp>
      <p:sp>
        <p:nvSpPr>
          <p:cNvPr id="14" name="Text 12"/>
          <p:cNvSpPr/>
          <p:nvPr/>
        </p:nvSpPr>
        <p:spPr>
          <a:xfrm>
            <a:off x="5994400" y="2711351"/>
            <a:ext cx="554634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Lives in git and gets reviewed like code.</a:t>
            </a:r>
            <a:endParaRPr lang="en-US" sz="1400" dirty="0"/>
          </a:p>
        </p:txBody>
      </p:sp>
      <p:sp>
        <p:nvSpPr>
          <p:cNvPr id="15" name="Text 13"/>
          <p:cNvSpPr/>
          <p:nvPr/>
        </p:nvSpPr>
        <p:spPr>
          <a:xfrm>
            <a:off x="5994400" y="3163391"/>
            <a:ext cx="554634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Loaded only when needed</a:t>
            </a:r>
            <a:endParaRPr lang="en-US" sz="1600" dirty="0"/>
          </a:p>
        </p:txBody>
      </p:sp>
      <p:sp>
        <p:nvSpPr>
          <p:cNvPr id="16" name="Text 14"/>
          <p:cNvSpPr/>
          <p:nvPr/>
        </p:nvSpPr>
        <p:spPr>
          <a:xfrm>
            <a:off x="5994400" y="3457972"/>
            <a:ext cx="554634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The agent reads the description, then opens it when a task matches.</a:t>
            </a:r>
            <a:endParaRPr lang="en-US" sz="1400" dirty="0"/>
          </a:p>
        </p:txBody>
      </p:sp>
      <p:sp>
        <p:nvSpPr>
          <p:cNvPr id="17" name="Text 15"/>
          <p:cNvSpPr/>
          <p:nvPr/>
        </p:nvSpPr>
        <p:spPr>
          <a:xfrm>
            <a:off x="5994400" y="4158853"/>
            <a:ext cx="554634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An open standard</a:t>
            </a:r>
            <a:endParaRPr lang="en-US" sz="1600" dirty="0"/>
          </a:p>
        </p:txBody>
      </p:sp>
      <p:sp>
        <p:nvSpPr>
          <p:cNvPr id="18" name="Text 16"/>
          <p:cNvSpPr/>
          <p:nvPr/>
        </p:nvSpPr>
        <p:spPr>
          <a:xfrm>
            <a:off x="5994400" y="4453434"/>
            <a:ext cx="554634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agentskills.io: Copilot, VS Code, Cursor, Codex and more read it.</a:t>
            </a:r>
            <a:endParaRPr lang="en-US" sz="1400" dirty="0"/>
          </a:p>
        </p:txBody>
      </p:sp>
      <p:sp>
        <p:nvSpPr>
          <p:cNvPr id="19" name="Text 17"/>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JetBrains Mono" pitchFamily="49" charset="0"/>
                <a:ea typeface="JetBrains Mono" pitchFamily="49" charset="-122"/>
                <a:cs typeface="JetBrains Mono" pitchFamily="49" charset="-120"/>
              </a:rPr>
              <a:t>Episode 2 → building your own skills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PERSONA: THE PROBLEM IT SOLVES</a:t>
            </a:r>
            <a:endParaRPr lang="en-US" sz="1200" dirty="0"/>
          </a:p>
        </p:txBody>
      </p:sp>
      <p:sp>
        <p:nvSpPr>
          <p:cNvPr id="3" name="Text 1"/>
          <p:cNvSpPr/>
          <p:nvPr>
            <p:ph type="title"/>
          </p:nvPr>
        </p:nvSpPr>
        <p:spPr>
          <a:xfrm>
            <a:off x="812800" y="1330920"/>
            <a:ext cx="9810750"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2EC"/>
                </a:solidFill>
                <a:latin typeface="IBM Plex Sans" pitchFamily="34" charset="0"/>
                <a:ea typeface="IBM Plex Sans" pitchFamily="34" charset="-122"/>
                <a:cs typeface="IBM Plex Sans" pitchFamily="34" charset="-120"/>
              </a:rPr>
              <a:t>A generic AI answers like nobody in particular</a:t>
            </a:r>
            <a:endParaRPr lang="en-US" sz="3600" dirty="0"/>
          </a:p>
        </p:txBody>
      </p:sp>
      <p:sp>
        <p:nvSpPr>
          <p:cNvPr id="4" name="Shape 2"/>
          <p:cNvSpPr/>
          <p:nvPr/>
        </p:nvSpPr>
        <p:spPr>
          <a:xfrm>
            <a:off x="815975" y="2690416"/>
            <a:ext cx="5168900" cy="1672530"/>
          </a:xfrm>
          <a:prstGeom prst="roundRect">
            <a:avLst>
              <a:gd name="adj" fmla="val 5885"/>
            </a:avLst>
          </a:prstGeom>
          <a:solidFill>
            <a:srgbClr val="182836"/>
          </a:solidFill>
          <a:ln w="6350">
            <a:solidFill>
              <a:srgbClr val="2A3C4D"/>
            </a:solidFill>
            <a:prstDash val="solid"/>
          </a:ln>
        </p:spPr>
      </p:sp>
      <p:sp>
        <p:nvSpPr>
          <p:cNvPr id="5" name="Text 3"/>
          <p:cNvSpPr/>
          <p:nvPr/>
        </p:nvSpPr>
        <p:spPr>
          <a:xfrm>
            <a:off x="1073150" y="2947591"/>
            <a:ext cx="479418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8C4CF"/>
                </a:solidFill>
                <a:latin typeface="IBM Plex Sans" pitchFamily="34" charset="0"/>
                <a:ea typeface="IBM Plex Sans" pitchFamily="34" charset="-122"/>
                <a:cs typeface="IBM Plex Sans" pitchFamily="34" charset="-120"/>
              </a:rPr>
              <a:t>Generic assistant</a:t>
            </a:r>
            <a:endParaRPr lang="en-US" sz="1600" dirty="0"/>
          </a:p>
        </p:txBody>
      </p:sp>
      <p:sp>
        <p:nvSpPr>
          <p:cNvPr id="6" name="Text 4"/>
          <p:cNvSpPr/>
          <p:nvPr/>
        </p:nvSpPr>
        <p:spPr>
          <a:xfrm>
            <a:off x="1151382" y="3292971"/>
            <a:ext cx="4708334" cy="8255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B8C4CF"/>
                </a:solidFill>
                <a:latin typeface="IBM Plex Sans" pitchFamily="34" charset="0"/>
                <a:ea typeface="IBM Plex Sans" pitchFamily="34" charset="-122"/>
                <a:cs typeface="IBM Plex Sans" pitchFamily="34" charset="-120"/>
              </a:rPr>
              <a:t>Answers anything, to nobody's standard</a:t>
            </a:r>
            <a:endParaRPr lang="en-US" sz="1400" dirty="0"/>
          </a:p>
          <a:p>
            <a:pPr algn="l" marL="175768" indent="-175768">
              <a:lnSpc>
                <a:spcPts val="2100"/>
              </a:lnSpc>
              <a:buSzPct val="100000"/>
              <a:buChar char="•"/>
            </a:pPr>
            <a:r>
              <a:rPr lang="en-US" sz="1400" dirty="0">
                <a:solidFill>
                  <a:srgbClr val="B8C4CF"/>
                </a:solidFill>
                <a:latin typeface="IBM Plex Sans" pitchFamily="34" charset="0"/>
                <a:ea typeface="IBM Plex Sans" pitchFamily="34" charset="-122"/>
                <a:cs typeface="IBM Plex Sans" pitchFamily="34" charset="-120"/>
              </a:rPr>
              <a:t>Doesn't know where to stop</a:t>
            </a:r>
            <a:endParaRPr lang="en-US" sz="1400" dirty="0"/>
          </a:p>
          <a:p>
            <a:pPr algn="l" marL="175768" indent="-175768">
              <a:lnSpc>
                <a:spcPts val="2100"/>
              </a:lnSpc>
              <a:buSzPct val="100000"/>
              <a:buChar char="•"/>
            </a:pPr>
            <a:r>
              <a:rPr lang="en-US" sz="1400" dirty="0">
                <a:solidFill>
                  <a:srgbClr val="B8C4CF"/>
                </a:solidFill>
                <a:latin typeface="IBM Plex Sans" pitchFamily="34" charset="0"/>
                <a:ea typeface="IBM Plex Sans" pitchFamily="34" charset="-122"/>
                <a:cs typeface="IBM Plex Sans" pitchFamily="34" charset="-120"/>
              </a:rPr>
              <a:t>Same answer for a developer or an auditor</a:t>
            </a:r>
            <a:endParaRPr lang="en-US" sz="1400" dirty="0"/>
          </a:p>
        </p:txBody>
      </p:sp>
      <p:sp>
        <p:nvSpPr>
          <p:cNvPr id="7" name="Shape 5"/>
          <p:cNvSpPr/>
          <p:nvPr/>
        </p:nvSpPr>
        <p:spPr>
          <a:xfrm>
            <a:off x="6197600" y="2693591"/>
            <a:ext cx="5175250" cy="1666180"/>
          </a:xfrm>
          <a:prstGeom prst="roundRect">
            <a:avLst>
              <a:gd name="adj" fmla="val 5717"/>
            </a:avLst>
          </a:prstGeom>
          <a:solidFill>
            <a:srgbClr val="182836"/>
          </a:solidFill>
          <a:ln w="12700">
            <a:solidFill>
              <a:srgbClr val="E8A33D"/>
            </a:solidFill>
            <a:prstDash val="solid"/>
          </a:ln>
        </p:spPr>
      </p:sp>
      <p:sp>
        <p:nvSpPr>
          <p:cNvPr id="8" name="Text 6"/>
          <p:cNvSpPr/>
          <p:nvPr/>
        </p:nvSpPr>
        <p:spPr>
          <a:xfrm>
            <a:off x="6457950" y="2953941"/>
            <a:ext cx="479418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Security engineer persona</a:t>
            </a:r>
            <a:endParaRPr lang="en-US" sz="1600" dirty="0"/>
          </a:p>
        </p:txBody>
      </p:sp>
      <p:sp>
        <p:nvSpPr>
          <p:cNvPr id="9" name="Text 7"/>
          <p:cNvSpPr/>
          <p:nvPr/>
        </p:nvSpPr>
        <p:spPr>
          <a:xfrm>
            <a:off x="6536182" y="3299321"/>
            <a:ext cx="4708334" cy="8255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F4F2EC"/>
                </a:solidFill>
                <a:latin typeface="IBM Plex Sans" pitchFamily="34" charset="0"/>
                <a:ea typeface="IBM Plex Sans" pitchFamily="34" charset="-122"/>
                <a:cs typeface="IBM Plex Sans" pitchFamily="34" charset="-120"/>
              </a:rPr>
              <a:t>Applies our standards every time</a:t>
            </a:r>
            <a:endParaRPr lang="en-US" sz="1400" dirty="0"/>
          </a:p>
          <a:p>
            <a:pPr algn="l" marL="175768" indent="-175768">
              <a:lnSpc>
                <a:spcPts val="2100"/>
              </a:lnSpc>
              <a:buSzPct val="100000"/>
              <a:buChar char="•"/>
            </a:pPr>
            <a:r>
              <a:rPr lang="en-US" sz="1400" dirty="0">
                <a:solidFill>
                  <a:srgbClr val="F4F2EC"/>
                </a:solidFill>
                <a:latin typeface="IBM Plex Sans" pitchFamily="34" charset="0"/>
                <a:ea typeface="IBM Plex Sans" pitchFamily="34" charset="-122"/>
                <a:cs typeface="IBM Plex Sans" pitchFamily="34" charset="-120"/>
              </a:rPr>
              <a:t>Knows its hard limits</a:t>
            </a:r>
            <a:endParaRPr lang="en-US" sz="1400" dirty="0"/>
          </a:p>
          <a:p>
            <a:pPr algn="l" marL="175768" indent="-175768">
              <a:lnSpc>
                <a:spcPts val="2100"/>
              </a:lnSpc>
              <a:buSzPct val="100000"/>
              <a:buChar char="•"/>
            </a:pPr>
            <a:r>
              <a:rPr lang="en-US" sz="1400" dirty="0">
                <a:solidFill>
                  <a:srgbClr val="F4F2EC"/>
                </a:solidFill>
                <a:latin typeface="IBM Plex Sans" pitchFamily="34" charset="0"/>
                <a:ea typeface="IBM Plex Sans" pitchFamily="34" charset="-122"/>
                <a:cs typeface="IBM Plex Sans" pitchFamily="34" charset="-120"/>
              </a:rPr>
              <a:t>Flags what still needs a person</a:t>
            </a:r>
            <a:endParaRPr lang="en-US" sz="1400" dirty="0"/>
          </a:p>
        </p:txBody>
      </p:sp>
      <p:sp>
        <p:nvSpPr>
          <p:cNvPr id="10" name="Text 8"/>
          <p:cNvSpPr/>
          <p:nvPr/>
        </p:nvSpPr>
        <p:spPr>
          <a:xfrm>
            <a:off x="812800" y="4670921"/>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Skills say </a:t>
            </a:r>
            <a:r>
              <a:rPr lang="en-US" sz="2200" b="1" dirty="0">
                <a:solidFill>
                  <a:srgbClr val="7FB2EA"/>
                </a:solidFill>
                <a:latin typeface="IBM Plex Sans" pitchFamily="34" charset="0"/>
                <a:ea typeface="IBM Plex Sans" pitchFamily="34" charset="-122"/>
                <a:cs typeface="IBM Plex Sans" pitchFamily="34" charset="-120"/>
              </a:rPr>
              <a:t>how</a:t>
            </a:r>
            <a:r>
              <a:rPr lang="en-US" sz="2200" b="1" dirty="0">
                <a:solidFill>
                  <a:srgbClr val="F4F2EC"/>
                </a:solidFill>
                <a:latin typeface="IBM Plex Sans" pitchFamily="34" charset="0"/>
                <a:ea typeface="IBM Plex Sans" pitchFamily="34" charset="-122"/>
                <a:cs typeface="IBM Plex Sans" pitchFamily="34" charset="-120"/>
              </a:rPr>
              <a:t>. A persona says </a:t>
            </a:r>
            <a:r>
              <a:rPr lang="en-US" sz="2200" b="1" dirty="0">
                <a:solidFill>
                  <a:srgbClr val="E8A33D"/>
                </a:solidFill>
                <a:latin typeface="IBM Plex Sans" pitchFamily="34" charset="0"/>
                <a:ea typeface="IBM Plex Sans" pitchFamily="34" charset="-122"/>
                <a:cs typeface="IBM Plex Sans" pitchFamily="34" charset="-120"/>
              </a:rPr>
              <a:t>who</a:t>
            </a:r>
            <a:r>
              <a:rPr lang="en-US" sz="2200" b="1" dirty="0">
                <a:solidFill>
                  <a:srgbClr val="F4F2EC"/>
                </a:solidFill>
                <a:latin typeface="IBM Plex Sans" pitchFamily="34" charset="0"/>
                <a:ea typeface="IBM Plex Sans" pitchFamily="34" charset="-122"/>
                <a:cs typeface="IBM Plex Sans" pitchFamily="34" charset="-120"/>
              </a:rPr>
              <a: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KITS: HIRING A SPECIALIST</a:t>
            </a:r>
            <a:endParaRPr lang="en-US" sz="1200" dirty="0"/>
          </a:p>
        </p:txBody>
      </p:sp>
      <p:sp>
        <p:nvSpPr>
          <p:cNvPr id="3" name="Text 1"/>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A kit is a specialist, defined in one file</a:t>
            </a:r>
            <a:endParaRPr lang="en-US" sz="3600" dirty="0"/>
          </a:p>
        </p:txBody>
      </p:sp>
      <p:sp>
        <p:nvSpPr>
          <p:cNvPr id="4" name="Shape 2"/>
          <p:cNvSpPr/>
          <p:nvPr/>
        </p:nvSpPr>
        <p:spPr>
          <a:xfrm>
            <a:off x="812800" y="2161480"/>
            <a:ext cx="5461000" cy="3883720"/>
          </a:xfrm>
          <a:prstGeom prst="roundRect">
            <a:avLst>
              <a:gd name="adj" fmla="val 2616"/>
            </a:avLst>
          </a:prstGeom>
          <a:solidFill>
            <a:srgbClr val="0F1A24"/>
          </a:solidFill>
          <a:ln/>
        </p:spPr>
      </p:sp>
      <p:sp>
        <p:nvSpPr>
          <p:cNvPr id="5" name="Text 3"/>
          <p:cNvSpPr/>
          <p:nvPr/>
        </p:nvSpPr>
        <p:spPr>
          <a:xfrm>
            <a:off x="1066800" y="2865239"/>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1066800" y="3116659"/>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"title"</a:t>
            </a:r>
            <a:r>
              <a:rPr lang="en-US" sz="1200" dirty="0">
                <a:solidFill>
                  <a:srgbClr val="F4F2EC"/>
                </a:solidFill>
                <a:latin typeface="JetBrains Mono" pitchFamily="49" charset="0"/>
                <a:ea typeface="JetBrains Mono" pitchFamily="49" charset="-122"/>
                <a:cs typeface="JetBrains Mono" pitchFamily="49" charset="-120"/>
              </a:rPr>
              <a:t>: "DevOps engineer, senior",</a:t>
            </a:r>
            <a:endParaRPr lang="en-US" sz="1200" dirty="0"/>
          </a:p>
        </p:txBody>
      </p:sp>
      <p:sp>
        <p:nvSpPr>
          <p:cNvPr id="7" name="Text 5"/>
          <p:cNvSpPr/>
          <p:nvPr/>
        </p:nvSpPr>
        <p:spPr>
          <a:xfrm>
            <a:off x="1066800" y="3368080"/>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E8A33D"/>
                </a:solidFill>
                <a:latin typeface="JetBrains Mono" pitchFamily="49" charset="0"/>
                <a:ea typeface="JetBrains Mono" pitchFamily="49" charset="-122"/>
                <a:cs typeface="JetBrains Mono" pitchFamily="49" charset="-120"/>
              </a:rPr>
              <a:t>"persona"</a:t>
            </a:r>
            <a:r>
              <a:rPr lang="en-US" sz="1200" dirty="0">
                <a:solidFill>
                  <a:srgbClr val="F4F2EC"/>
                </a:solidFill>
                <a:latin typeface="JetBrains Mono" pitchFamily="49" charset="0"/>
                <a:ea typeface="JetBrains Mono" pitchFamily="49" charset="-122"/>
                <a:cs typeface="JetBrains Mono" pitchFamily="49" charset="-120"/>
              </a:rPr>
              <a:t>: "devops-gov",</a:t>
            </a:r>
            <a:endParaRPr lang="en-US" sz="1200" dirty="0"/>
          </a:p>
        </p:txBody>
      </p:sp>
      <p:sp>
        <p:nvSpPr>
          <p:cNvPr id="8" name="Text 6"/>
          <p:cNvSpPr/>
          <p:nvPr/>
        </p:nvSpPr>
        <p:spPr>
          <a:xfrm>
            <a:off x="1066800" y="3619500"/>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"skills"</a:t>
            </a:r>
            <a:r>
              <a:rPr lang="en-US" sz="1200" dirty="0">
                <a:solidFill>
                  <a:srgbClr val="F4F2EC"/>
                </a:solidFill>
                <a:latin typeface="JetBrains Mono" pitchFamily="49" charset="0"/>
                <a:ea typeface="JetBrains Mono" pitchFamily="49" charset="-122"/>
                <a:cs typeface="JetBrains Mono" pitchFamily="49" charset="-120"/>
              </a:rPr>
              <a:t>: ["terraform-gov",</a:t>
            </a:r>
            <a:endParaRPr lang="en-US" sz="1200" dirty="0"/>
          </a:p>
        </p:txBody>
      </p:sp>
      <p:sp>
        <p:nvSpPr>
          <p:cNvPr id="9" name="Text 7"/>
          <p:cNvSpPr/>
          <p:nvPr/>
        </p:nvSpPr>
        <p:spPr>
          <a:xfrm>
            <a:off x="1066800" y="3870920"/>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"kubernetes-gov", "k8s-triage",</a:t>
            </a:r>
            <a:endParaRPr lang="en-US" sz="1200" dirty="0"/>
          </a:p>
        </p:txBody>
      </p:sp>
      <p:sp>
        <p:nvSpPr>
          <p:cNvPr id="10" name="Text 8"/>
          <p:cNvSpPr/>
          <p:nvPr/>
        </p:nvSpPr>
        <p:spPr>
          <a:xfrm>
            <a:off x="1066800" y="4122341"/>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"github-actions-gov"],</a:t>
            </a:r>
            <a:endParaRPr lang="en-US" sz="1200" dirty="0"/>
          </a:p>
        </p:txBody>
      </p:sp>
      <p:sp>
        <p:nvSpPr>
          <p:cNvPr id="11" name="Text 9"/>
          <p:cNvSpPr/>
          <p:nvPr/>
        </p:nvSpPr>
        <p:spPr>
          <a:xfrm>
            <a:off x="1066800" y="4373761"/>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"references"</a:t>
            </a:r>
            <a:r>
              <a:rPr lang="en-US" sz="1200" dirty="0">
                <a:solidFill>
                  <a:srgbClr val="F4F2EC"/>
                </a:solidFill>
                <a:latin typeface="JetBrains Mono" pitchFamily="49" charset="0"/>
                <a:ea typeface="JetBrains Mono" pitchFamily="49" charset="-122"/>
                <a:cs typeface="JetBrains Mono" pitchFamily="49" charset="-120"/>
              </a:rPr>
              <a:t>: ["devsecops-team"],</a:t>
            </a:r>
            <a:endParaRPr lang="en-US" sz="1200" dirty="0"/>
          </a:p>
        </p:txBody>
      </p:sp>
      <p:sp>
        <p:nvSpPr>
          <p:cNvPr id="12" name="Text 10"/>
          <p:cNvSpPr/>
          <p:nvPr/>
        </p:nvSpPr>
        <p:spPr>
          <a:xfrm>
            <a:off x="1066800" y="4625181"/>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"mcp_servers"</a:t>
            </a:r>
            <a:r>
              <a:rPr lang="en-US" sz="1200" dirty="0">
                <a:solidFill>
                  <a:srgbClr val="F4F2EC"/>
                </a:solidFill>
                <a:latin typeface="JetBrains Mono" pitchFamily="49" charset="0"/>
                <a:ea typeface="JetBrains Mono" pitchFamily="49" charset="-122"/>
                <a:cs typeface="JetBrains Mono" pitchFamily="49" charset="-120"/>
              </a:rPr>
              <a:t>: ["github"],</a:t>
            </a:r>
            <a:endParaRPr lang="en-US" sz="1200" dirty="0"/>
          </a:p>
        </p:txBody>
      </p:sp>
      <p:sp>
        <p:nvSpPr>
          <p:cNvPr id="13" name="Text 11"/>
          <p:cNvSpPr/>
          <p:nvPr/>
        </p:nvSpPr>
        <p:spPr>
          <a:xfrm>
            <a:off x="1066800" y="4876602"/>
            <a:ext cx="510159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4F2EC"/>
                </a:solidFill>
                <a:latin typeface="JetBrains Mono" pitchFamily="49" charset="0"/>
                <a:ea typeface="JetBrains Mono" pitchFamily="49" charset="-122"/>
                <a:cs typeface="JetBrains Mono" pitchFamily="49" charset="-120"/>
              </a:rPr>
              <a:t>  </a:t>
            </a:r>
            <a:r>
              <a:rPr lang="en-US" sz="1200" dirty="0">
                <a:solidFill>
                  <a:srgbClr val="7FB2EA"/>
                </a:solidFill>
                <a:latin typeface="JetBrains Mono" pitchFamily="49" charset="0"/>
                <a:ea typeface="JetBrains Mono" pitchFamily="49" charset="-122"/>
                <a:cs typeface="JetBrains Mono" pitchFamily="49" charset="-120"/>
              </a:rPr>
              <a:t>"model"</a:t>
            </a:r>
            <a:r>
              <a:rPr lang="en-US" sz="1200" dirty="0">
                <a:solidFill>
                  <a:srgbClr val="F4F2EC"/>
                </a:solidFill>
                <a:latin typeface="JetBrains Mono" pitchFamily="49" charset="0"/>
                <a:ea typeface="JetBrains Mono" pitchFamily="49" charset="-122"/>
                <a:cs typeface="JetBrains Mono" pitchFamily="49" charset="-120"/>
              </a:rPr>
              <a:t>: "opus"</a:t>
            </a:r>
            <a:endParaRPr lang="en-US" sz="1200" dirty="0"/>
          </a:p>
        </p:txBody>
      </p:sp>
      <p:sp>
        <p:nvSpPr>
          <p:cNvPr id="14" name="Text 12"/>
          <p:cNvSpPr/>
          <p:nvPr/>
        </p:nvSpPr>
        <p:spPr>
          <a:xfrm>
            <a:off x="1066800" y="5128022"/>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JetBrains Mono" pitchFamily="49" charset="0"/>
                <a:ea typeface="JetBrains Mono" pitchFamily="49" charset="-122"/>
                <a:cs typeface="JetBrains Mono" pitchFamily="49" charset="-120"/>
              </a:rPr>
              <a:t>}</a:t>
            </a:r>
            <a:endParaRPr lang="en-US" sz="1200" dirty="0"/>
          </a:p>
        </p:txBody>
      </p:sp>
      <p:sp>
        <p:nvSpPr>
          <p:cNvPr id="15" name="Text 13"/>
          <p:cNvSpPr/>
          <p:nvPr/>
        </p:nvSpPr>
        <p:spPr>
          <a:xfrm>
            <a:off x="6629400" y="2975769"/>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persona</a:t>
            </a:r>
            <a:r>
              <a:rPr lang="en-US" sz="1400" dirty="0">
                <a:solidFill>
                  <a:srgbClr val="4A5563"/>
                </a:solidFill>
                <a:latin typeface="IBM Plex Sans" pitchFamily="34" charset="0"/>
                <a:ea typeface="IBM Plex Sans" pitchFamily="34" charset="-122"/>
                <a:cs typeface="IBM Plex Sans" pitchFamily="34" charset="-120"/>
              </a:rPr>
              <a:t> · who the agent is</a:t>
            </a:r>
            <a:endParaRPr lang="en-US" sz="1400" dirty="0"/>
          </a:p>
        </p:txBody>
      </p:sp>
      <p:sp>
        <p:nvSpPr>
          <p:cNvPr id="16" name="Text 14"/>
          <p:cNvSpPr/>
          <p:nvPr/>
        </p:nvSpPr>
        <p:spPr>
          <a:xfrm>
            <a:off x="6629400" y="3377009"/>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skills</a:t>
            </a:r>
            <a:r>
              <a:rPr lang="en-US" sz="1400" dirty="0">
                <a:solidFill>
                  <a:srgbClr val="4A5563"/>
                </a:solidFill>
                <a:latin typeface="IBM Plex Sans" pitchFamily="34" charset="0"/>
                <a:ea typeface="IBM Plex Sans" pitchFamily="34" charset="-122"/>
                <a:cs typeface="IBM Plex Sans" pitchFamily="34" charset="-120"/>
              </a:rPr>
              <a:t> · the procedures it can pick up</a:t>
            </a:r>
            <a:endParaRPr lang="en-US" sz="1400" dirty="0"/>
          </a:p>
        </p:txBody>
      </p:sp>
      <p:sp>
        <p:nvSpPr>
          <p:cNvPr id="17" name="Text 15"/>
          <p:cNvSpPr/>
          <p:nvPr/>
        </p:nvSpPr>
        <p:spPr>
          <a:xfrm>
            <a:off x="6629400" y="3778250"/>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references</a:t>
            </a:r>
            <a:r>
              <a:rPr lang="en-US" sz="1400" dirty="0">
                <a:solidFill>
                  <a:srgbClr val="4A5563"/>
                </a:solidFill>
                <a:latin typeface="IBM Plex Sans" pitchFamily="34" charset="0"/>
                <a:ea typeface="IBM Plex Sans" pitchFamily="34" charset="-122"/>
                <a:cs typeface="IBM Plex Sans" pitchFamily="34" charset="-120"/>
              </a:rPr>
              <a:t> · team rules read every session</a:t>
            </a:r>
            <a:endParaRPr lang="en-US" sz="1400" dirty="0"/>
          </a:p>
        </p:txBody>
      </p:sp>
      <p:sp>
        <p:nvSpPr>
          <p:cNvPr id="18" name="Text 16"/>
          <p:cNvSpPr/>
          <p:nvPr/>
        </p:nvSpPr>
        <p:spPr>
          <a:xfrm>
            <a:off x="6629400" y="4179491"/>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mcp_servers</a:t>
            </a:r>
            <a:r>
              <a:rPr lang="en-US" sz="1400" dirty="0">
                <a:solidFill>
                  <a:srgbClr val="4A5563"/>
                </a:solidFill>
                <a:latin typeface="IBM Plex Sans" pitchFamily="34" charset="0"/>
                <a:ea typeface="IBM Plex Sans" pitchFamily="34" charset="-122"/>
                <a:cs typeface="IBM Plex Sans" pitchFamily="34" charset="-120"/>
              </a:rPr>
              <a:t> · the only tools it gets</a:t>
            </a:r>
            <a:endParaRPr lang="en-US" sz="1400" dirty="0"/>
          </a:p>
        </p:txBody>
      </p:sp>
      <p:sp>
        <p:nvSpPr>
          <p:cNvPr id="19" name="Text 17"/>
          <p:cNvSpPr/>
          <p:nvPr/>
        </p:nvSpPr>
        <p:spPr>
          <a:xfrm>
            <a:off x="6629400" y="4580731"/>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model</a:t>
            </a:r>
            <a:r>
              <a:rPr lang="en-US" sz="1400" dirty="0">
                <a:solidFill>
                  <a:srgbClr val="4A5563"/>
                </a:solidFill>
                <a:latin typeface="IBM Plex Sans" pitchFamily="34" charset="0"/>
                <a:ea typeface="IBM Plex Sans" pitchFamily="34" charset="-122"/>
                <a:cs typeface="IBM Plex Sans" pitchFamily="34" charset="-120"/>
              </a:rPr>
              <a:t> · sized to the job</a:t>
            </a:r>
            <a:endParaRPr lang="en-US" sz="1400" dirty="0"/>
          </a:p>
        </p:txBody>
      </p:sp>
      <p:sp>
        <p:nvSpPr>
          <p:cNvPr id="20" name="Text 18"/>
          <p:cNvSpPr/>
          <p:nvPr/>
        </p:nvSpPr>
        <p:spPr>
          <a:xfrm>
            <a:off x="6629400" y="4981972"/>
            <a:ext cx="489229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C"/>
                </a:solidFill>
                <a:latin typeface="IBM Plex Sans" pitchFamily="34" charset="0"/>
                <a:ea typeface="IBM Plex Sans" pitchFamily="34" charset="-122"/>
                <a:cs typeface="IBM Plex Sans" pitchFamily="34" charset="-120"/>
              </a:rPr>
              <a:t>profile</a:t>
            </a:r>
            <a:r>
              <a:rPr lang="en-US" sz="1400" dirty="0">
                <a:solidFill>
                  <a:srgbClr val="4A5563"/>
                </a:solidFill>
                <a:latin typeface="IBM Plex Sans" pitchFamily="34" charset="0"/>
                <a:ea typeface="IBM Plex Sans" pitchFamily="34" charset="-122"/>
                <a:cs typeface="IBM Plex Sans" pitchFamily="34" charset="-120"/>
              </a:rPr>
              <a:t> · run on the host or in a container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SNCFLEET.AI</a:t>
            </a:r>
            <a:endParaRPr lang="en-US" sz="1200" dirty="0"/>
          </a:p>
        </p:txBody>
      </p:sp>
      <p:sp>
        <p:nvSpPr>
          <p:cNvPr id="3" name="Text 1"/>
          <p:cNvSpPr/>
          <p:nvPr>
            <p:ph type="title"/>
          </p:nvPr>
        </p:nvSpPr>
        <p:spPr>
          <a:xfrm>
            <a:off x="812800" y="12801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Meet my team</a:t>
            </a:r>
            <a:endParaRPr lang="en-US" sz="3600" dirty="0"/>
          </a:p>
        </p:txBody>
      </p:sp>
      <p:sp>
        <p:nvSpPr>
          <p:cNvPr id="4" name="Shape 2"/>
          <p:cNvSpPr/>
          <p:nvPr/>
        </p:nvSpPr>
        <p:spPr>
          <a:xfrm>
            <a:off x="819150" y="2066230"/>
            <a:ext cx="3407767" cy="1495822"/>
          </a:xfrm>
          <a:prstGeom prst="roundRect">
            <a:avLst>
              <a:gd name="adj" fmla="val 6368"/>
            </a:avLst>
          </a:prstGeom>
          <a:solidFill>
            <a:srgbClr val="FBFAF6"/>
          </a:solidFill>
          <a:ln w="12700">
            <a:solidFill>
              <a:srgbClr val="9A5B0E"/>
            </a:solidFill>
            <a:prstDash val="solid"/>
          </a:ln>
        </p:spPr>
      </p:sp>
      <p:sp>
        <p:nvSpPr>
          <p:cNvPr id="5" name="Text 3"/>
          <p:cNvSpPr/>
          <p:nvPr/>
        </p:nvSpPr>
        <p:spPr>
          <a:xfrm>
            <a:off x="1028700" y="2275780"/>
            <a:ext cx="3078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security-engineer</a:t>
            </a:r>
            <a:endParaRPr lang="en-US" sz="1200" dirty="0"/>
          </a:p>
        </p:txBody>
      </p:sp>
      <p:sp>
        <p:nvSpPr>
          <p:cNvPr id="6" name="Text 4"/>
          <p:cNvSpPr/>
          <p:nvPr/>
        </p:nvSpPr>
        <p:spPr>
          <a:xfrm>
            <a:off x="1028700" y="2565301"/>
            <a:ext cx="307832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Least privilege, hardening and threat review.</a:t>
            </a:r>
            <a:endParaRPr lang="en-US" sz="1400" dirty="0"/>
          </a:p>
        </p:txBody>
      </p:sp>
      <p:sp>
        <p:nvSpPr>
          <p:cNvPr id="7" name="Text 5"/>
          <p:cNvSpPr/>
          <p:nvPr/>
        </p:nvSpPr>
        <p:spPr>
          <a:xfrm>
            <a:off x="1028700" y="3139182"/>
            <a:ext cx="3078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First pass before: the security review</a:t>
            </a:r>
            <a:endParaRPr lang="en-US" sz="1200" dirty="0"/>
          </a:p>
        </p:txBody>
      </p:sp>
      <p:sp>
        <p:nvSpPr>
          <p:cNvPr id="8" name="Shape 6"/>
          <p:cNvSpPr/>
          <p:nvPr/>
        </p:nvSpPr>
        <p:spPr>
          <a:xfrm>
            <a:off x="4388842" y="2063055"/>
            <a:ext cx="3414216" cy="1502172"/>
          </a:xfrm>
          <a:prstGeom prst="roundRect">
            <a:avLst>
              <a:gd name="adj" fmla="val 6552"/>
            </a:avLst>
          </a:prstGeom>
          <a:solidFill>
            <a:srgbClr val="FBFAF6"/>
          </a:solidFill>
          <a:ln w="6350">
            <a:solidFill>
              <a:srgbClr val="DAD5C8"/>
            </a:solidFill>
            <a:prstDash val="solid"/>
          </a:ln>
        </p:spPr>
      </p:sp>
      <p:sp>
        <p:nvSpPr>
          <p:cNvPr id="9" name="Text 7"/>
          <p:cNvSpPr/>
          <p:nvPr/>
        </p:nvSpPr>
        <p:spPr>
          <a:xfrm>
            <a:off x="4595217" y="22694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cmmc-analyst</a:t>
            </a:r>
            <a:endParaRPr lang="en-US" sz="1200" dirty="0"/>
          </a:p>
        </p:txBody>
      </p:sp>
      <p:sp>
        <p:nvSpPr>
          <p:cNvPr id="10" name="Text 8"/>
          <p:cNvSpPr/>
          <p:nvPr/>
        </p:nvSpPr>
        <p:spPr>
          <a:xfrm>
            <a:off x="4595217" y="2558951"/>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Maps changes and evidence to CMMC Level 2.</a:t>
            </a:r>
            <a:endParaRPr lang="en-US" sz="1400" dirty="0"/>
          </a:p>
        </p:txBody>
      </p:sp>
      <p:sp>
        <p:nvSpPr>
          <p:cNvPr id="11" name="Text 9"/>
          <p:cNvSpPr/>
          <p:nvPr/>
        </p:nvSpPr>
        <p:spPr>
          <a:xfrm>
            <a:off x="4595217" y="313283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First pass before: compliance</a:t>
            </a:r>
            <a:endParaRPr lang="en-US" sz="1200" dirty="0"/>
          </a:p>
        </p:txBody>
      </p:sp>
      <p:sp>
        <p:nvSpPr>
          <p:cNvPr id="12" name="Shape 10"/>
          <p:cNvSpPr/>
          <p:nvPr/>
        </p:nvSpPr>
        <p:spPr>
          <a:xfrm>
            <a:off x="7961809" y="2063055"/>
            <a:ext cx="3414216" cy="1502172"/>
          </a:xfrm>
          <a:prstGeom prst="roundRect">
            <a:avLst>
              <a:gd name="adj" fmla="val 6552"/>
            </a:avLst>
          </a:prstGeom>
          <a:solidFill>
            <a:srgbClr val="FBFAF6"/>
          </a:solidFill>
          <a:ln w="6350">
            <a:solidFill>
              <a:srgbClr val="DAD5C8"/>
            </a:solidFill>
            <a:prstDash val="solid"/>
          </a:ln>
        </p:spPr>
      </p:sp>
      <p:sp>
        <p:nvSpPr>
          <p:cNvPr id="13" name="Text 11"/>
          <p:cNvSpPr/>
          <p:nvPr/>
        </p:nvSpPr>
        <p:spPr>
          <a:xfrm>
            <a:off x="8168184" y="22694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pr-reviewer</a:t>
            </a:r>
            <a:endParaRPr lang="en-US" sz="1200" dirty="0"/>
          </a:p>
        </p:txBody>
      </p:sp>
      <p:sp>
        <p:nvSpPr>
          <p:cNvPr id="14" name="Text 12"/>
          <p:cNvSpPr/>
          <p:nvPr/>
        </p:nvSpPr>
        <p:spPr>
          <a:xfrm>
            <a:off x="8168184" y="2558951"/>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Checks pull requests against our checklist.</a:t>
            </a:r>
            <a:endParaRPr lang="en-US" sz="1400" dirty="0"/>
          </a:p>
        </p:txBody>
      </p:sp>
      <p:sp>
        <p:nvSpPr>
          <p:cNvPr id="15" name="Text 13"/>
          <p:cNvSpPr/>
          <p:nvPr/>
        </p:nvSpPr>
        <p:spPr>
          <a:xfrm>
            <a:off x="8168184" y="313283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First pass before: a teammate's review</a:t>
            </a:r>
            <a:endParaRPr lang="en-US" sz="1200" dirty="0"/>
          </a:p>
        </p:txBody>
      </p:sp>
      <p:sp>
        <p:nvSpPr>
          <p:cNvPr id="16" name="Shape 14"/>
          <p:cNvSpPr/>
          <p:nvPr/>
        </p:nvSpPr>
        <p:spPr>
          <a:xfrm>
            <a:off x="815975" y="3723977"/>
            <a:ext cx="3414117" cy="1489472"/>
          </a:xfrm>
          <a:prstGeom prst="roundRect">
            <a:avLst>
              <a:gd name="adj" fmla="val 6608"/>
            </a:avLst>
          </a:prstGeom>
          <a:solidFill>
            <a:srgbClr val="FBFAF6"/>
          </a:solidFill>
          <a:ln w="6350">
            <a:solidFill>
              <a:srgbClr val="DAD5C8"/>
            </a:solidFill>
            <a:prstDash val="solid"/>
          </a:ln>
        </p:spPr>
      </p:sp>
      <p:sp>
        <p:nvSpPr>
          <p:cNvPr id="17" name="Text 15"/>
          <p:cNvSpPr/>
          <p:nvPr/>
        </p:nvSpPr>
        <p:spPr>
          <a:xfrm>
            <a:off x="1022350" y="3930352"/>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devsecops</a:t>
            </a:r>
            <a:endParaRPr lang="en-US" sz="1200" dirty="0"/>
          </a:p>
        </p:txBody>
      </p:sp>
      <p:sp>
        <p:nvSpPr>
          <p:cNvPr id="18" name="Text 16"/>
          <p:cNvSpPr/>
          <p:nvPr/>
        </p:nvSpPr>
        <p:spPr>
          <a:xfrm>
            <a:off x="1022350" y="4219873"/>
            <a:ext cx="30914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Pipelines, infrastructure as code, our AWS baseline.</a:t>
            </a:r>
            <a:endParaRPr lang="en-US" sz="1400" dirty="0"/>
          </a:p>
        </p:txBody>
      </p:sp>
      <p:sp>
        <p:nvSpPr>
          <p:cNvPr id="19" name="Text 17"/>
          <p:cNvSpPr/>
          <p:nvPr/>
        </p:nvSpPr>
        <p:spPr>
          <a:xfrm>
            <a:off x="1022350" y="4793754"/>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Does the build and test work</a:t>
            </a:r>
            <a:endParaRPr lang="en-US" sz="1200" dirty="0"/>
          </a:p>
        </p:txBody>
      </p:sp>
      <p:sp>
        <p:nvSpPr>
          <p:cNvPr id="20" name="Shape 18"/>
          <p:cNvSpPr/>
          <p:nvPr/>
        </p:nvSpPr>
        <p:spPr>
          <a:xfrm>
            <a:off x="4388842" y="3723977"/>
            <a:ext cx="3414216" cy="1489472"/>
          </a:xfrm>
          <a:prstGeom prst="roundRect">
            <a:avLst>
              <a:gd name="adj" fmla="val 6608"/>
            </a:avLst>
          </a:prstGeom>
          <a:solidFill>
            <a:srgbClr val="FBFAF6"/>
          </a:solidFill>
          <a:ln w="6350">
            <a:solidFill>
              <a:srgbClr val="DAD5C8"/>
            </a:solidFill>
            <a:prstDash val="solid"/>
          </a:ln>
        </p:spPr>
      </p:sp>
      <p:sp>
        <p:nvSpPr>
          <p:cNvPr id="21" name="Text 19"/>
          <p:cNvSpPr/>
          <p:nvPr/>
        </p:nvSpPr>
        <p:spPr>
          <a:xfrm>
            <a:off x="4595217" y="393035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64A8"/>
                </a:solidFill>
                <a:latin typeface="JetBrains Mono" pitchFamily="49" charset="0"/>
                <a:ea typeface="JetBrains Mono" pitchFamily="49" charset="-122"/>
                <a:cs typeface="JetBrains Mono" pitchFamily="49" charset="-120"/>
              </a:rPr>
              <a:t>dotnet-developer</a:t>
            </a:r>
            <a:endParaRPr lang="en-US" sz="1200" dirty="0"/>
          </a:p>
        </p:txBody>
      </p:sp>
      <p:sp>
        <p:nvSpPr>
          <p:cNvPr id="22" name="Text 20"/>
          <p:cNvSpPr/>
          <p:nvPr/>
        </p:nvSpPr>
        <p:spPr>
          <a:xfrm>
            <a:off x="4595217" y="4219873"/>
            <a:ext cx="30915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Builds and fixes C#/.NET features, with tests.</a:t>
            </a:r>
            <a:endParaRPr lang="en-US" sz="1400" dirty="0"/>
          </a:p>
        </p:txBody>
      </p:sp>
      <p:sp>
        <p:nvSpPr>
          <p:cNvPr id="23" name="Text 21"/>
          <p:cNvSpPr/>
          <p:nvPr/>
        </p:nvSpPr>
        <p:spPr>
          <a:xfrm>
            <a:off x="4595217" y="4793754"/>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B0E"/>
                </a:solidFill>
                <a:latin typeface="IBM Plex Sans" pitchFamily="34" charset="0"/>
                <a:ea typeface="IBM Plex Sans" pitchFamily="34" charset="-122"/>
                <a:cs typeface="IBM Plex Sans" pitchFamily="34" charset="-120"/>
              </a:rPr>
              <a:t>Does the build and test work</a:t>
            </a:r>
            <a:endParaRPr lang="en-US" sz="1200" dirty="0"/>
          </a:p>
        </p:txBody>
      </p:sp>
      <p:sp>
        <p:nvSpPr>
          <p:cNvPr id="24" name="Shape 22"/>
          <p:cNvSpPr/>
          <p:nvPr/>
        </p:nvSpPr>
        <p:spPr>
          <a:xfrm>
            <a:off x="7958634" y="3720802"/>
            <a:ext cx="3420566" cy="1495822"/>
          </a:xfrm>
          <a:prstGeom prst="roundRect">
            <a:avLst>
              <a:gd name="adj" fmla="val 6792"/>
            </a:avLst>
          </a:prstGeom>
          <a:solidFill>
            <a:srgbClr val="0F1A24"/>
          </a:solidFill>
          <a:ln/>
        </p:spPr>
      </p:sp>
      <p:sp>
        <p:nvSpPr>
          <p:cNvPr id="25" name="Text 23"/>
          <p:cNvSpPr/>
          <p:nvPr/>
        </p:nvSpPr>
        <p:spPr>
          <a:xfrm>
            <a:off x="8161834" y="4075113"/>
            <a:ext cx="3104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JetBrains Mono" pitchFamily="49" charset="0"/>
                <a:ea typeface="JetBrains Mono" pitchFamily="49" charset="-122"/>
                <a:cs typeface="JetBrains Mono" pitchFamily="49" charset="-120"/>
              </a:rPr>
              <a:t>+ next specialist</a:t>
            </a:r>
            <a:endParaRPr lang="en-US" sz="1200" dirty="0"/>
          </a:p>
        </p:txBody>
      </p:sp>
      <p:sp>
        <p:nvSpPr>
          <p:cNvPr id="26" name="Text 24"/>
          <p:cNvSpPr/>
          <p:nvPr/>
        </p:nvSpPr>
        <p:spPr>
          <a:xfrm>
            <a:off x="8161834" y="4364633"/>
            <a:ext cx="310459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A persona file and a JSON file, reviewed in a PR.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24"/>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BACK TO THE TICKET</a:t>
            </a:r>
            <a:endParaRPr lang="en-US" sz="1200" dirty="0"/>
          </a:p>
        </p:txBody>
      </p:sp>
      <p:sp>
        <p:nvSpPr>
          <p:cNvPr id="4" name="Text 2"/>
          <p:cNvSpPr/>
          <p:nvPr>
            <p:ph type="title"/>
          </p:nvPr>
        </p:nvSpPr>
        <p:spPr>
          <a:xfrm>
            <a:off x="812800" y="1330920"/>
            <a:ext cx="10203180"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2EC"/>
                </a:solidFill>
                <a:latin typeface="IBM Plex Sans" pitchFamily="34" charset="0"/>
                <a:ea typeface="IBM Plex Sans" pitchFamily="34" charset="-122"/>
                <a:cs typeface="IBM Plex Sans" pitchFamily="34" charset="-120"/>
              </a:rPr>
              <a:t>The same IAM request, with my security engineer</a:t>
            </a:r>
            <a:endParaRPr lang="en-US" sz="3600" dirty="0"/>
          </a:p>
        </p:txBody>
      </p:sp>
      <p:sp>
        <p:nvSpPr>
          <p:cNvPr id="5" name="Shape 3"/>
          <p:cNvSpPr/>
          <p:nvPr/>
        </p:nvSpPr>
        <p:spPr>
          <a:xfrm>
            <a:off x="815975" y="2696766"/>
            <a:ext cx="2289175" cy="1398091"/>
          </a:xfrm>
          <a:prstGeom prst="roundRect">
            <a:avLst>
              <a:gd name="adj" fmla="val 7040"/>
            </a:avLst>
          </a:prstGeom>
          <a:solidFill>
            <a:srgbClr val="182836"/>
          </a:solidFill>
          <a:ln w="6350">
            <a:solidFill>
              <a:srgbClr val="2A3C4D"/>
            </a:solidFill>
            <a:prstDash val="solid"/>
          </a:ln>
        </p:spPr>
      </p:sp>
      <p:sp>
        <p:nvSpPr>
          <p:cNvPr id="6" name="Text 4"/>
          <p:cNvSpPr/>
          <p:nvPr/>
        </p:nvSpPr>
        <p:spPr>
          <a:xfrm>
            <a:off x="996950" y="2877741"/>
            <a:ext cx="1985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1 · agent</a:t>
            </a:r>
            <a:endParaRPr lang="en-US" sz="1200" dirty="0"/>
          </a:p>
        </p:txBody>
      </p:sp>
      <p:sp>
        <p:nvSpPr>
          <p:cNvPr id="7" name="Text 5"/>
          <p:cNvSpPr/>
          <p:nvPr/>
        </p:nvSpPr>
        <p:spPr>
          <a:xfrm>
            <a:off x="996950" y="3167261"/>
            <a:ext cx="198504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Draft</a:t>
            </a:r>
            <a:endParaRPr lang="en-US" sz="1600" dirty="0"/>
          </a:p>
        </p:txBody>
      </p:sp>
      <p:sp>
        <p:nvSpPr>
          <p:cNvPr id="8" name="Text 6"/>
          <p:cNvSpPr/>
          <p:nvPr/>
        </p:nvSpPr>
        <p:spPr>
          <a:xfrm>
            <a:off x="996950" y="3487241"/>
            <a:ext cx="19850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IBM Plex Sans" pitchFamily="34" charset="0"/>
                <a:ea typeface="IBM Plex Sans" pitchFamily="34" charset="-122"/>
                <a:cs typeface="IBM Plex Sans" pitchFamily="34" charset="-120"/>
              </a:rPr>
              <a:t>Policy written to our least-privilege standard</a:t>
            </a:r>
            <a:endParaRPr lang="en-US" sz="1200" dirty="0"/>
          </a:p>
        </p:txBody>
      </p:sp>
      <p:pic>
        <p:nvPicPr>
          <p:cNvPr id="9" name="Image 0" descr="arrow-right">    </p:cNvPr>
          <p:cNvPicPr>
            <a:picLocks noChangeAspect="1"/>
          </p:cNvPicPr>
          <p:nvPr/>
        </p:nvPicPr>
        <p:blipFill>
          <a:blip r:embed="rId1"/>
          <a:srcRect l="0" r="0" t="0" b="0"/>
          <a:stretch/>
        </p:blipFill>
        <p:spPr>
          <a:xfrm>
            <a:off x="3209925" y="3332262"/>
            <a:ext cx="254000" cy="127000"/>
          </a:xfrm>
          <a:prstGeom prst="rect">
            <a:avLst/>
          </a:prstGeom>
        </p:spPr>
      </p:pic>
      <p:sp>
        <p:nvSpPr>
          <p:cNvPr id="10" name="Shape 7"/>
          <p:cNvSpPr/>
          <p:nvPr/>
        </p:nvSpPr>
        <p:spPr>
          <a:xfrm>
            <a:off x="3568700" y="2696766"/>
            <a:ext cx="2289175" cy="1398091"/>
          </a:xfrm>
          <a:prstGeom prst="roundRect">
            <a:avLst>
              <a:gd name="adj" fmla="val 7040"/>
            </a:avLst>
          </a:prstGeom>
          <a:solidFill>
            <a:srgbClr val="182836"/>
          </a:solidFill>
          <a:ln w="6350">
            <a:solidFill>
              <a:srgbClr val="2A3C4D"/>
            </a:solidFill>
            <a:prstDash val="solid"/>
          </a:ln>
        </p:spPr>
      </p:sp>
      <p:sp>
        <p:nvSpPr>
          <p:cNvPr id="11" name="Text 8"/>
          <p:cNvSpPr/>
          <p:nvPr/>
        </p:nvSpPr>
        <p:spPr>
          <a:xfrm>
            <a:off x="3749675" y="2877741"/>
            <a:ext cx="1985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2 · agent</a:t>
            </a:r>
            <a:endParaRPr lang="en-US" sz="1200" dirty="0"/>
          </a:p>
        </p:txBody>
      </p:sp>
      <p:sp>
        <p:nvSpPr>
          <p:cNvPr id="12" name="Text 9"/>
          <p:cNvSpPr/>
          <p:nvPr/>
        </p:nvSpPr>
        <p:spPr>
          <a:xfrm>
            <a:off x="3749675" y="3167261"/>
            <a:ext cx="198504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Explain</a:t>
            </a:r>
            <a:endParaRPr lang="en-US" sz="1600" dirty="0"/>
          </a:p>
        </p:txBody>
      </p:sp>
      <p:sp>
        <p:nvSpPr>
          <p:cNvPr id="13" name="Text 10"/>
          <p:cNvSpPr/>
          <p:nvPr/>
        </p:nvSpPr>
        <p:spPr>
          <a:xfrm>
            <a:off x="3749675" y="3487241"/>
            <a:ext cx="19850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IBM Plex Sans" pitchFamily="34" charset="0"/>
                <a:ea typeface="IBM Plex Sans" pitchFamily="34" charset="-122"/>
                <a:cs typeface="IBM Plex Sans" pitchFamily="34" charset="-120"/>
              </a:rPr>
              <a:t>Every permission justified, in writing</a:t>
            </a:r>
            <a:endParaRPr lang="en-US" sz="1200" dirty="0"/>
          </a:p>
        </p:txBody>
      </p:sp>
      <p:pic>
        <p:nvPicPr>
          <p:cNvPr id="14" name="Image 1" descr="arrow-right">    </p:cNvPr>
          <p:cNvPicPr>
            <a:picLocks noChangeAspect="1"/>
          </p:cNvPicPr>
          <p:nvPr/>
        </p:nvPicPr>
        <p:blipFill>
          <a:blip r:embed="rId2"/>
          <a:srcRect l="0" r="0" t="0" b="0"/>
          <a:stretch/>
        </p:blipFill>
        <p:spPr>
          <a:xfrm>
            <a:off x="5962650" y="3332262"/>
            <a:ext cx="254000" cy="127000"/>
          </a:xfrm>
          <a:prstGeom prst="rect">
            <a:avLst/>
          </a:prstGeom>
        </p:spPr>
      </p:pic>
      <p:sp>
        <p:nvSpPr>
          <p:cNvPr id="15" name="Shape 11"/>
          <p:cNvSpPr/>
          <p:nvPr/>
        </p:nvSpPr>
        <p:spPr>
          <a:xfrm>
            <a:off x="6321425" y="2696766"/>
            <a:ext cx="2289175" cy="1398091"/>
          </a:xfrm>
          <a:prstGeom prst="roundRect">
            <a:avLst>
              <a:gd name="adj" fmla="val 7040"/>
            </a:avLst>
          </a:prstGeom>
          <a:solidFill>
            <a:srgbClr val="182836"/>
          </a:solidFill>
          <a:ln w="6350">
            <a:solidFill>
              <a:srgbClr val="2A3C4D"/>
            </a:solidFill>
            <a:prstDash val="solid"/>
          </a:ln>
        </p:spPr>
      </p:sp>
      <p:sp>
        <p:nvSpPr>
          <p:cNvPr id="16" name="Text 12"/>
          <p:cNvSpPr/>
          <p:nvPr/>
        </p:nvSpPr>
        <p:spPr>
          <a:xfrm>
            <a:off x="6502400" y="2877741"/>
            <a:ext cx="1985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2EA"/>
                </a:solidFill>
                <a:latin typeface="JetBrains Mono" pitchFamily="49" charset="0"/>
                <a:ea typeface="JetBrains Mono" pitchFamily="49" charset="-122"/>
                <a:cs typeface="JetBrains Mono" pitchFamily="49" charset="-120"/>
              </a:rPr>
              <a:t>3 · me</a:t>
            </a:r>
            <a:endParaRPr lang="en-US" sz="1200" dirty="0"/>
          </a:p>
        </p:txBody>
      </p:sp>
      <p:sp>
        <p:nvSpPr>
          <p:cNvPr id="17" name="Text 13"/>
          <p:cNvSpPr/>
          <p:nvPr/>
        </p:nvSpPr>
        <p:spPr>
          <a:xfrm>
            <a:off x="6502400" y="3167261"/>
            <a:ext cx="198504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Review</a:t>
            </a:r>
            <a:endParaRPr lang="en-US" sz="1600" dirty="0"/>
          </a:p>
        </p:txBody>
      </p:sp>
      <p:sp>
        <p:nvSpPr>
          <p:cNvPr id="18" name="Text 14"/>
          <p:cNvSpPr/>
          <p:nvPr/>
        </p:nvSpPr>
        <p:spPr>
          <a:xfrm>
            <a:off x="6502400" y="3487241"/>
            <a:ext cx="19850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IBM Plex Sans" pitchFamily="34" charset="0"/>
                <a:ea typeface="IBM Plex Sans" pitchFamily="34" charset="-122"/>
                <a:cs typeface="IBM Plex Sans" pitchFamily="34" charset="-120"/>
              </a:rPr>
              <a:t>I check it, then submit in ServiceNow</a:t>
            </a:r>
            <a:endParaRPr lang="en-US" sz="1200" dirty="0"/>
          </a:p>
        </p:txBody>
      </p:sp>
      <p:pic>
        <p:nvPicPr>
          <p:cNvPr id="19" name="Image 2" descr="arrow-right">    </p:cNvPr>
          <p:cNvPicPr>
            <a:picLocks noChangeAspect="1"/>
          </p:cNvPicPr>
          <p:nvPr/>
        </p:nvPicPr>
        <p:blipFill>
          <a:blip r:embed="rId3"/>
          <a:srcRect l="0" r="0" t="0" b="0"/>
          <a:stretch/>
        </p:blipFill>
        <p:spPr>
          <a:xfrm>
            <a:off x="8715375" y="3332262"/>
            <a:ext cx="254000" cy="127000"/>
          </a:xfrm>
          <a:prstGeom prst="rect">
            <a:avLst/>
          </a:prstGeom>
        </p:spPr>
      </p:pic>
      <p:sp>
        <p:nvSpPr>
          <p:cNvPr id="20" name="Shape 15"/>
          <p:cNvSpPr/>
          <p:nvPr/>
        </p:nvSpPr>
        <p:spPr>
          <a:xfrm>
            <a:off x="9077325" y="2693591"/>
            <a:ext cx="2295525" cy="1404441"/>
          </a:xfrm>
          <a:prstGeom prst="roundRect">
            <a:avLst>
              <a:gd name="adj" fmla="val 6782"/>
            </a:avLst>
          </a:prstGeom>
          <a:solidFill>
            <a:srgbClr val="182836"/>
          </a:solidFill>
          <a:ln w="12700">
            <a:solidFill>
              <a:srgbClr val="E8A33D"/>
            </a:solidFill>
            <a:prstDash val="solid"/>
          </a:ln>
        </p:spPr>
      </p:sp>
      <p:sp>
        <p:nvSpPr>
          <p:cNvPr id="21" name="Text 16"/>
          <p:cNvSpPr/>
          <p:nvPr/>
        </p:nvSpPr>
        <p:spPr>
          <a:xfrm>
            <a:off x="9261475" y="2877741"/>
            <a:ext cx="1985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JetBrains Mono" pitchFamily="49" charset="0"/>
                <a:ea typeface="JetBrains Mono" pitchFamily="49" charset="-122"/>
                <a:cs typeface="JetBrains Mono" pitchFamily="49" charset="-120"/>
              </a:rPr>
              <a:t>4 · security team</a:t>
            </a:r>
            <a:endParaRPr lang="en-US" sz="1200" dirty="0"/>
          </a:p>
        </p:txBody>
      </p:sp>
      <p:sp>
        <p:nvSpPr>
          <p:cNvPr id="22" name="Text 17"/>
          <p:cNvSpPr/>
          <p:nvPr/>
        </p:nvSpPr>
        <p:spPr>
          <a:xfrm>
            <a:off x="9261475" y="3167261"/>
            <a:ext cx="198504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2EC"/>
                </a:solidFill>
                <a:latin typeface="IBM Plex Sans" pitchFamily="34" charset="0"/>
                <a:ea typeface="IBM Plex Sans" pitchFamily="34" charset="-122"/>
                <a:cs typeface="IBM Plex Sans" pitchFamily="34" charset="-120"/>
              </a:rPr>
              <a:t>Approve</a:t>
            </a:r>
            <a:endParaRPr lang="en-US" sz="1600" dirty="0"/>
          </a:p>
        </p:txBody>
      </p:sp>
      <p:sp>
        <p:nvSpPr>
          <p:cNvPr id="23" name="Text 18"/>
          <p:cNvSpPr/>
          <p:nvPr/>
        </p:nvSpPr>
        <p:spPr>
          <a:xfrm>
            <a:off x="9261475" y="3487241"/>
            <a:ext cx="19850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CF"/>
                </a:solidFill>
                <a:latin typeface="IBM Plex Sans" pitchFamily="34" charset="0"/>
                <a:ea typeface="IBM Plex Sans" pitchFamily="34" charset="-122"/>
                <a:cs typeface="IBM Plex Sans" pitchFamily="34" charset="-120"/>
              </a:rPr>
              <a:t>Accepted on the first request</a:t>
            </a:r>
            <a:endParaRPr lang="en-US" sz="1200" dirty="0"/>
          </a:p>
        </p:txBody>
      </p:sp>
      <p:sp>
        <p:nvSpPr>
          <p:cNvPr id="24" name="Text 19"/>
          <p:cNvSpPr/>
          <p:nvPr/>
        </p:nvSpPr>
        <p:spPr>
          <a:xfrm>
            <a:off x="812800" y="4409182"/>
            <a:ext cx="286940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E8A33D"/>
                </a:solidFill>
                <a:latin typeface="IBM Plex Sans" pitchFamily="34" charset="0"/>
                <a:ea typeface="IBM Plex Sans" pitchFamily="34" charset="-122"/>
                <a:cs typeface="IBM Plex Sans" pitchFamily="34" charset="-120"/>
              </a:rPr>
              <a:t>~1 day</a:t>
            </a:r>
            <a:endParaRPr lang="en-US" sz="6000" dirty="0"/>
          </a:p>
        </p:txBody>
      </p:sp>
      <p:sp>
        <p:nvSpPr>
          <p:cNvPr id="25" name="Text 20"/>
          <p:cNvSpPr/>
          <p:nvPr/>
        </p:nvSpPr>
        <p:spPr>
          <a:xfrm>
            <a:off x="812800" y="5221982"/>
            <a:ext cx="246290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to build and refine the policy</a:t>
            </a:r>
            <a:endParaRPr lang="en-US" sz="1400" dirty="0"/>
          </a:p>
        </p:txBody>
      </p:sp>
      <p:sp>
        <p:nvSpPr>
          <p:cNvPr id="26" name="Text 21"/>
          <p:cNvSpPr/>
          <p:nvPr/>
        </p:nvSpPr>
        <p:spPr>
          <a:xfrm>
            <a:off x="3813572" y="4409182"/>
            <a:ext cx="186107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E8A33D"/>
                </a:solidFill>
                <a:latin typeface="IBM Plex Sans" pitchFamily="34" charset="0"/>
                <a:ea typeface="IBM Plex Sans" pitchFamily="34" charset="-122"/>
                <a:cs typeface="IBM Plex Sans" pitchFamily="34" charset="-120"/>
              </a:rPr>
              <a:t>0</a:t>
            </a:r>
            <a:endParaRPr lang="en-US" sz="6000" dirty="0"/>
          </a:p>
        </p:txBody>
      </p:sp>
      <p:sp>
        <p:nvSpPr>
          <p:cNvPr id="27" name="Text 22"/>
          <p:cNvSpPr/>
          <p:nvPr/>
        </p:nvSpPr>
        <p:spPr>
          <a:xfrm>
            <a:off x="3813572" y="5221982"/>
            <a:ext cx="216824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revisions from security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5D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IT ISN'T JUST APPROVALS</a:t>
            </a:r>
            <a:endParaRPr lang="en-US" sz="1200" dirty="0"/>
          </a:p>
        </p:txBody>
      </p:sp>
      <p:sp>
        <p:nvSpPr>
          <p:cNvPr id="3" name="Text 1"/>
          <p:cNvSpPr/>
          <p:nvPr>
            <p:ph type="title"/>
          </p:nvPr>
        </p:nvSpPr>
        <p:spPr>
          <a:xfrm>
            <a:off x="812800" y="1330920"/>
            <a:ext cx="10203180" cy="107692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Bottlerocket on EKS: weeks of testing in about two days</a:t>
            </a:r>
            <a:endParaRPr lang="en-US" sz="3600" dirty="0"/>
          </a:p>
        </p:txBody>
      </p:sp>
      <p:sp>
        <p:nvSpPr>
          <p:cNvPr id="4" name="Text 2"/>
          <p:cNvSpPr/>
          <p:nvPr/>
        </p:nvSpPr>
        <p:spPr>
          <a:xfrm>
            <a:off x="812800" y="2687241"/>
            <a:ext cx="606958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4A5563"/>
                </a:solidFill>
                <a:latin typeface="IBM Plex Sans" pitchFamily="34" charset="0"/>
                <a:ea typeface="IBM Plex Sans" pitchFamily="34" charset="-122"/>
                <a:cs typeface="IBM Plex Sans" pitchFamily="34" charset="-120"/>
              </a:rPr>
              <a:t>Weeks</a:t>
            </a:r>
            <a:endParaRPr lang="en-US" sz="6000" dirty="0"/>
          </a:p>
        </p:txBody>
      </p:sp>
      <p:sp>
        <p:nvSpPr>
          <p:cNvPr id="5" name="Text 3"/>
          <p:cNvSpPr/>
          <p:nvPr/>
        </p:nvSpPr>
        <p:spPr>
          <a:xfrm>
            <a:off x="812800" y="3500041"/>
            <a:ext cx="60695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3"/>
                </a:solidFill>
                <a:latin typeface="IBM Plex Sans" pitchFamily="34" charset="0"/>
                <a:ea typeface="IBM Plex Sans" pitchFamily="34" charset="-122"/>
                <a:cs typeface="IBM Plex Sans" pitchFamily="34" charset="-120"/>
              </a:rPr>
              <a:t>usual time to test and verify a new node OS</a:t>
            </a:r>
            <a:endParaRPr lang="en-US" sz="1400" dirty="0"/>
          </a:p>
        </p:txBody>
      </p:sp>
      <p:pic>
        <p:nvPicPr>
          <p:cNvPr id="6" name="Image 0" descr="arrow-down">    </p:cNvPr>
          <p:cNvPicPr>
            <a:picLocks noChangeAspect="1"/>
          </p:cNvPicPr>
          <p:nvPr/>
        </p:nvPicPr>
        <p:blipFill>
          <a:blip r:embed="rId1"/>
          <a:srcRect l="0" r="0" t="0" b="0"/>
          <a:stretch/>
        </p:blipFill>
        <p:spPr>
          <a:xfrm>
            <a:off x="812800" y="3901281"/>
            <a:ext cx="203200" cy="304800"/>
          </a:xfrm>
          <a:prstGeom prst="rect">
            <a:avLst/>
          </a:prstGeom>
        </p:spPr>
      </p:pic>
      <p:sp>
        <p:nvSpPr>
          <p:cNvPr id="7" name="Text 4"/>
          <p:cNvSpPr/>
          <p:nvPr/>
        </p:nvSpPr>
        <p:spPr>
          <a:xfrm>
            <a:off x="812800" y="4358481"/>
            <a:ext cx="606958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A5B0E"/>
                </a:solidFill>
                <a:latin typeface="IBM Plex Sans" pitchFamily="34" charset="0"/>
                <a:ea typeface="IBM Plex Sans" pitchFamily="34" charset="-122"/>
                <a:cs typeface="IBM Plex Sans" pitchFamily="34" charset="-120"/>
              </a:rPr>
              <a:t>~2 days</a:t>
            </a:r>
            <a:endParaRPr lang="en-US" sz="6000" dirty="0"/>
          </a:p>
        </p:txBody>
      </p:sp>
      <p:sp>
        <p:nvSpPr>
          <p:cNvPr id="8" name="Text 5"/>
          <p:cNvSpPr/>
          <p:nvPr/>
        </p:nvSpPr>
        <p:spPr>
          <a:xfrm>
            <a:off x="812800" y="5171281"/>
            <a:ext cx="60695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C"/>
                </a:solidFill>
                <a:latin typeface="IBM Plex Sans" pitchFamily="34" charset="0"/>
                <a:ea typeface="IBM Plex Sans" pitchFamily="34" charset="-122"/>
                <a:cs typeface="IBM Plex Sans" pitchFamily="34" charset="-120"/>
              </a:rPr>
              <a:t>with my agents</a:t>
            </a:r>
            <a:endParaRPr lang="en-US" sz="1400" dirty="0"/>
          </a:p>
        </p:txBody>
      </p:sp>
      <p:sp>
        <p:nvSpPr>
          <p:cNvPr id="9" name="Shape 6"/>
          <p:cNvSpPr/>
          <p:nvPr/>
        </p:nvSpPr>
        <p:spPr>
          <a:xfrm>
            <a:off x="7318375" y="3054846"/>
            <a:ext cx="4057650" cy="1997571"/>
          </a:xfrm>
          <a:prstGeom prst="roundRect">
            <a:avLst>
              <a:gd name="adj" fmla="val 4927"/>
            </a:avLst>
          </a:prstGeom>
          <a:solidFill>
            <a:srgbClr val="FBFAF6"/>
          </a:solidFill>
          <a:ln w="6350">
            <a:solidFill>
              <a:srgbClr val="CFC9BA"/>
            </a:solidFill>
            <a:prstDash val="solid"/>
          </a:ln>
        </p:spPr>
      </p:sp>
      <p:sp>
        <p:nvSpPr>
          <p:cNvPr id="10" name="Text 7"/>
          <p:cNvSpPr/>
          <p:nvPr/>
        </p:nvSpPr>
        <p:spPr>
          <a:xfrm>
            <a:off x="7575550" y="3312021"/>
            <a:ext cx="364959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2C"/>
                </a:solidFill>
                <a:latin typeface="IBM Plex Sans" pitchFamily="34" charset="0"/>
                <a:ea typeface="IBM Plex Sans" pitchFamily="34" charset="-122"/>
                <a:cs typeface="IBM Plex Sans" pitchFamily="34" charset="-120"/>
              </a:rPr>
              <a:t>What we verified</a:t>
            </a:r>
            <a:endParaRPr lang="en-US" sz="1600" dirty="0"/>
          </a:p>
        </p:txBody>
      </p:sp>
      <p:sp>
        <p:nvSpPr>
          <p:cNvPr id="11" name="Text 8"/>
          <p:cNvSpPr/>
          <p:nvPr/>
        </p:nvSpPr>
        <p:spPr>
          <a:xfrm>
            <a:off x="7653782" y="3657402"/>
            <a:ext cx="3563747" cy="1163241"/>
          </a:xfrm>
          <a:prstGeom prst="rect">
            <a:avLst/>
          </a:prstGeom>
          <a:noFill/>
          <a:ln/>
        </p:spPr>
        <p:txBody>
          <a:bodyPr wrap="square" lIns="0" tIns="0" rIns="0" bIns="0" rtlCol="0" anchor="t">
            <a:normAutofit/>
          </a:bodyPr>
          <a:lstStyle/>
          <a:p>
            <a:pPr algn="l" marL="175768" indent="-175768">
              <a:lnSpc>
                <a:spcPts val="2240"/>
              </a:lnSpc>
              <a:buSzPct val="100000"/>
              <a:buChar char="•"/>
            </a:pPr>
            <a:r>
              <a:rPr lang="en-US" sz="1400" dirty="0">
                <a:solidFill>
                  <a:srgbClr val="4A5563"/>
                </a:solidFill>
                <a:latin typeface="IBM Plex Sans" pitchFamily="34" charset="0"/>
                <a:ea typeface="IBM Plex Sans" pitchFamily="34" charset="-122"/>
                <a:cs typeface="IBM Plex Sans" pitchFamily="34" charset="-120"/>
              </a:rPr>
              <a:t>FIPS mode enabled</a:t>
            </a:r>
            <a:endParaRPr lang="en-US" sz="1400" dirty="0"/>
          </a:p>
          <a:p>
            <a:pPr algn="l" marL="175768" indent="-175768">
              <a:lnSpc>
                <a:spcPts val="2240"/>
              </a:lnSpc>
              <a:buSzPct val="100000"/>
              <a:buChar char="•"/>
            </a:pPr>
            <a:r>
              <a:rPr lang="en-US" sz="1400" dirty="0">
                <a:solidFill>
                  <a:srgbClr val="4A5563"/>
                </a:solidFill>
                <a:latin typeface="IBM Plex Sans" pitchFamily="34" charset="0"/>
                <a:ea typeface="IBM Plex Sans" pitchFamily="34" charset="-122"/>
                <a:cs typeface="IBM Plex Sans" pitchFamily="34" charset="-120"/>
              </a:rPr>
              <a:t>Our workloads run on it</a:t>
            </a:r>
            <a:endParaRPr lang="en-US" sz="1400" dirty="0"/>
          </a:p>
          <a:p>
            <a:pPr algn="l" marL="175768" indent="-175768">
              <a:lnSpc>
                <a:spcPts val="2240"/>
              </a:lnSpc>
              <a:buSzPct val="100000"/>
              <a:buChar char="•"/>
            </a:pPr>
            <a:r>
              <a:rPr lang="en-US" sz="1400" dirty="0">
                <a:solidFill>
                  <a:srgbClr val="4A5563"/>
                </a:solidFill>
                <a:latin typeface="IBM Plex Sans" pitchFamily="34" charset="0"/>
                <a:ea typeface="IBM Plex Sans" pitchFamily="34" charset="-122"/>
                <a:cs typeface="IBM Plex Sans" pitchFamily="34" charset="-120"/>
              </a:rPr>
              <a:t>DNS resolves correctly</a:t>
            </a:r>
            <a:endParaRPr lang="en-US" sz="1400" dirty="0"/>
          </a:p>
          <a:p>
            <a:pPr algn="l" marL="175768" indent="-175768">
              <a:lnSpc>
                <a:spcPts val="2240"/>
              </a:lnSpc>
              <a:buSzPct val="100000"/>
              <a:buChar char="•"/>
            </a:pPr>
            <a:r>
              <a:rPr lang="en-US" sz="1400" dirty="0">
                <a:solidFill>
                  <a:srgbClr val="4A5563"/>
                </a:solidFill>
                <a:latin typeface="IBM Plex Sans" pitchFamily="34" charset="0"/>
                <a:ea typeface="IBM Plex Sans" pitchFamily="34" charset="-122"/>
                <a:cs typeface="IBM Plex Sans" pitchFamily="34" charset="-120"/>
              </a:rPr>
              <a:t>Logs arrive and check out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5D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A5B0E"/>
                </a:solidFill>
                <a:latin typeface="JetBrains Mono" pitchFamily="49" charset="0"/>
                <a:ea typeface="JetBrains Mono" pitchFamily="49" charset="-122"/>
                <a:cs typeface="JetBrains Mono" pitchFamily="49" charset="-120"/>
              </a:rPr>
              <a:t>TRUST AND GUARDRAILS</a:t>
            </a:r>
            <a:endParaRPr lang="en-US" sz="1200" dirty="0"/>
          </a:p>
        </p:txBody>
      </p:sp>
      <p:sp>
        <p:nvSpPr>
          <p:cNvPr id="3" name="Text 1"/>
          <p:cNvSpPr/>
          <p:nvPr>
            <p:ph type="title"/>
          </p:nvPr>
        </p:nvSpPr>
        <p:spPr>
          <a:xfrm>
            <a:off x="812800" y="12801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3202C"/>
                </a:solidFill>
                <a:latin typeface="IBM Plex Sans" pitchFamily="34" charset="0"/>
                <a:ea typeface="IBM Plex Sans" pitchFamily="34" charset="-122"/>
                <a:cs typeface="IBM Plex Sans" pitchFamily="34" charset="-120"/>
              </a:rPr>
              <a:t>Agents prepare the work. People still approve it.</a:t>
            </a:r>
            <a:endParaRPr lang="en-US" sz="3600" dirty="0"/>
          </a:p>
        </p:txBody>
      </p:sp>
      <p:sp>
        <p:nvSpPr>
          <p:cNvPr id="4" name="Shape 2"/>
          <p:cNvSpPr/>
          <p:nvPr/>
        </p:nvSpPr>
        <p:spPr>
          <a:xfrm>
            <a:off x="815975" y="2063055"/>
            <a:ext cx="3414117" cy="1459111"/>
          </a:xfrm>
          <a:prstGeom prst="roundRect">
            <a:avLst>
              <a:gd name="adj" fmla="val 6746"/>
            </a:avLst>
          </a:prstGeom>
          <a:solidFill>
            <a:srgbClr val="FBFAF6"/>
          </a:solidFill>
          <a:ln w="6350">
            <a:solidFill>
              <a:srgbClr val="CFC9BA"/>
            </a:solidFill>
            <a:prstDash val="solid"/>
          </a:ln>
        </p:spPr>
      </p:sp>
      <p:pic>
        <p:nvPicPr>
          <p:cNvPr id="5" name="Image 0" descr="Key">    </p:cNvPr>
          <p:cNvPicPr>
            <a:picLocks noChangeAspect="1"/>
          </p:cNvPicPr>
          <p:nvPr/>
        </p:nvPicPr>
        <p:blipFill>
          <a:blip r:embed="rId1"/>
          <a:srcRect l="0" r="0" t="0" b="0"/>
          <a:stretch/>
        </p:blipFill>
        <p:spPr>
          <a:xfrm>
            <a:off x="1022350" y="2269430"/>
            <a:ext cx="254000" cy="254000"/>
          </a:xfrm>
          <a:prstGeom prst="rect">
            <a:avLst/>
          </a:prstGeom>
        </p:spPr>
      </p:pic>
      <p:sp>
        <p:nvSpPr>
          <p:cNvPr id="6" name="Text 3"/>
          <p:cNvSpPr/>
          <p:nvPr/>
        </p:nvSpPr>
        <p:spPr>
          <a:xfrm>
            <a:off x="1022350" y="2599630"/>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No real credentials</a:t>
            </a:r>
            <a:endParaRPr lang="en-US" sz="1400" dirty="0"/>
          </a:p>
        </p:txBody>
      </p:sp>
      <p:sp>
        <p:nvSpPr>
          <p:cNvPr id="7" name="Text 4"/>
          <p:cNvSpPr/>
          <p:nvPr/>
        </p:nvSpPr>
        <p:spPr>
          <a:xfrm>
            <a:off x="1022350" y="288915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Secrets stay on the host and in the MCP servers.</a:t>
            </a:r>
            <a:endParaRPr lang="en-US" sz="1200" dirty="0"/>
          </a:p>
        </p:txBody>
      </p:sp>
      <p:sp>
        <p:nvSpPr>
          <p:cNvPr id="8" name="Shape 5"/>
          <p:cNvSpPr/>
          <p:nvPr/>
        </p:nvSpPr>
        <p:spPr>
          <a:xfrm>
            <a:off x="4388842" y="2063055"/>
            <a:ext cx="3414216" cy="1459111"/>
          </a:xfrm>
          <a:prstGeom prst="roundRect">
            <a:avLst>
              <a:gd name="adj" fmla="val 6746"/>
            </a:avLst>
          </a:prstGeom>
          <a:solidFill>
            <a:srgbClr val="FBFAF6"/>
          </a:solidFill>
          <a:ln w="6350">
            <a:solidFill>
              <a:srgbClr val="CFC9BA"/>
            </a:solidFill>
            <a:prstDash val="solid"/>
          </a:ln>
        </p:spPr>
      </p:sp>
      <p:pic>
        <p:nvPicPr>
          <p:cNvPr id="9" name="Image 1" descr="Tool">    </p:cNvPr>
          <p:cNvPicPr>
            <a:picLocks noChangeAspect="1"/>
          </p:cNvPicPr>
          <p:nvPr/>
        </p:nvPicPr>
        <p:blipFill>
          <a:blip r:embed="rId2"/>
          <a:srcRect l="0" r="0" t="0" b="0"/>
          <a:stretch/>
        </p:blipFill>
        <p:spPr>
          <a:xfrm>
            <a:off x="4595217" y="2269430"/>
            <a:ext cx="254000" cy="254000"/>
          </a:xfrm>
          <a:prstGeom prst="rect">
            <a:avLst/>
          </a:prstGeom>
        </p:spPr>
      </p:pic>
      <p:sp>
        <p:nvSpPr>
          <p:cNvPr id="10" name="Text 6"/>
          <p:cNvSpPr/>
          <p:nvPr/>
        </p:nvSpPr>
        <p:spPr>
          <a:xfrm>
            <a:off x="4595217" y="259963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Least tools</a:t>
            </a:r>
            <a:endParaRPr lang="en-US" sz="1400" dirty="0"/>
          </a:p>
        </p:txBody>
      </p:sp>
      <p:sp>
        <p:nvSpPr>
          <p:cNvPr id="11" name="Text 7"/>
          <p:cNvSpPr/>
          <p:nvPr/>
        </p:nvSpPr>
        <p:spPr>
          <a:xfrm>
            <a:off x="4595217" y="28891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 kit names the only MCP servers its agent gets.</a:t>
            </a:r>
            <a:endParaRPr lang="en-US" sz="1200" dirty="0"/>
          </a:p>
        </p:txBody>
      </p:sp>
      <p:sp>
        <p:nvSpPr>
          <p:cNvPr id="12" name="Shape 8"/>
          <p:cNvSpPr/>
          <p:nvPr/>
        </p:nvSpPr>
        <p:spPr>
          <a:xfrm>
            <a:off x="7961809" y="2063055"/>
            <a:ext cx="3414216" cy="1459111"/>
          </a:xfrm>
          <a:prstGeom prst="roundRect">
            <a:avLst>
              <a:gd name="adj" fmla="val 6746"/>
            </a:avLst>
          </a:prstGeom>
          <a:solidFill>
            <a:srgbClr val="FBFAF6"/>
          </a:solidFill>
          <a:ln w="6350">
            <a:solidFill>
              <a:srgbClr val="CFC9BA"/>
            </a:solidFill>
            <a:prstDash val="solid"/>
          </a:ln>
        </p:spPr>
      </p:sp>
      <p:pic>
        <p:nvPicPr>
          <p:cNvPr id="13" name="Image 2" descr="Users">    </p:cNvPr>
          <p:cNvPicPr>
            <a:picLocks noChangeAspect="1"/>
          </p:cNvPicPr>
          <p:nvPr/>
        </p:nvPicPr>
        <p:blipFill>
          <a:blip r:embed="rId3"/>
          <a:srcRect l="0" r="0" t="0" b="0"/>
          <a:stretch/>
        </p:blipFill>
        <p:spPr>
          <a:xfrm>
            <a:off x="8168184" y="2269430"/>
            <a:ext cx="254000" cy="254000"/>
          </a:xfrm>
          <a:prstGeom prst="rect">
            <a:avLst/>
          </a:prstGeom>
        </p:spPr>
      </p:pic>
      <p:sp>
        <p:nvSpPr>
          <p:cNvPr id="14" name="Text 9"/>
          <p:cNvSpPr/>
          <p:nvPr/>
        </p:nvSpPr>
        <p:spPr>
          <a:xfrm>
            <a:off x="8168184" y="2599630"/>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A person merges</a:t>
            </a:r>
            <a:endParaRPr lang="en-US" sz="1400" dirty="0"/>
          </a:p>
        </p:txBody>
      </p:sp>
      <p:sp>
        <p:nvSpPr>
          <p:cNvPr id="15" name="Text 10"/>
          <p:cNvSpPr/>
          <p:nvPr/>
        </p:nvSpPr>
        <p:spPr>
          <a:xfrm>
            <a:off x="8168184" y="28891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Agents propose; nothing applies to a live environment.</a:t>
            </a:r>
            <a:endParaRPr lang="en-US" sz="1200" dirty="0"/>
          </a:p>
        </p:txBody>
      </p:sp>
      <p:sp>
        <p:nvSpPr>
          <p:cNvPr id="16" name="Shape 11"/>
          <p:cNvSpPr/>
          <p:nvPr/>
        </p:nvSpPr>
        <p:spPr>
          <a:xfrm>
            <a:off x="815975" y="3680916"/>
            <a:ext cx="3414117" cy="1459111"/>
          </a:xfrm>
          <a:prstGeom prst="roundRect">
            <a:avLst>
              <a:gd name="adj" fmla="val 6746"/>
            </a:avLst>
          </a:prstGeom>
          <a:solidFill>
            <a:srgbClr val="FBFAF6"/>
          </a:solidFill>
          <a:ln w="6350">
            <a:solidFill>
              <a:srgbClr val="CFC9BA"/>
            </a:solidFill>
            <a:prstDash val="solid"/>
          </a:ln>
        </p:spPr>
      </p:sp>
      <p:pic>
        <p:nvPicPr>
          <p:cNvPr id="17" name="Image 3" descr="Code">    </p:cNvPr>
          <p:cNvPicPr>
            <a:picLocks noChangeAspect="1"/>
          </p:cNvPicPr>
          <p:nvPr/>
        </p:nvPicPr>
        <p:blipFill>
          <a:blip r:embed="rId4"/>
          <a:srcRect l="0" r="0" t="0" b="0"/>
          <a:stretch/>
        </p:blipFill>
        <p:spPr>
          <a:xfrm>
            <a:off x="1022350" y="3887291"/>
            <a:ext cx="254000" cy="254000"/>
          </a:xfrm>
          <a:prstGeom prst="rect">
            <a:avLst/>
          </a:prstGeom>
        </p:spPr>
      </p:pic>
      <p:sp>
        <p:nvSpPr>
          <p:cNvPr id="18" name="Text 12"/>
          <p:cNvSpPr/>
          <p:nvPr/>
        </p:nvSpPr>
        <p:spPr>
          <a:xfrm>
            <a:off x="1022350" y="4217491"/>
            <a:ext cx="309140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Reviewed in PRs</a:t>
            </a:r>
            <a:endParaRPr lang="en-US" sz="1400" dirty="0"/>
          </a:p>
        </p:txBody>
      </p:sp>
      <p:sp>
        <p:nvSpPr>
          <p:cNvPr id="19" name="Text 13"/>
          <p:cNvSpPr/>
          <p:nvPr/>
        </p:nvSpPr>
        <p:spPr>
          <a:xfrm>
            <a:off x="1022350" y="4507012"/>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skill library changes only through review.</a:t>
            </a:r>
            <a:endParaRPr lang="en-US" sz="1200" dirty="0"/>
          </a:p>
        </p:txBody>
      </p:sp>
      <p:sp>
        <p:nvSpPr>
          <p:cNvPr id="20" name="Shape 14"/>
          <p:cNvSpPr/>
          <p:nvPr/>
        </p:nvSpPr>
        <p:spPr>
          <a:xfrm>
            <a:off x="4388842" y="3680916"/>
            <a:ext cx="3414216" cy="1459111"/>
          </a:xfrm>
          <a:prstGeom prst="roundRect">
            <a:avLst>
              <a:gd name="adj" fmla="val 6746"/>
            </a:avLst>
          </a:prstGeom>
          <a:solidFill>
            <a:srgbClr val="FBFAF6"/>
          </a:solidFill>
          <a:ln w="6350">
            <a:solidFill>
              <a:srgbClr val="CFC9BA"/>
            </a:solidFill>
            <a:prstDash val="solid"/>
          </a:ln>
        </p:spPr>
      </p:sp>
      <p:pic>
        <p:nvPicPr>
          <p:cNvPr id="21" name="Image 4" descr="Search">    </p:cNvPr>
          <p:cNvPicPr>
            <a:picLocks noChangeAspect="1"/>
          </p:cNvPicPr>
          <p:nvPr/>
        </p:nvPicPr>
        <p:blipFill>
          <a:blip r:embed="rId5"/>
          <a:srcRect l="0" r="0" t="0" b="0"/>
          <a:stretch/>
        </p:blipFill>
        <p:spPr>
          <a:xfrm>
            <a:off x="4595217" y="3887291"/>
            <a:ext cx="254000" cy="254000"/>
          </a:xfrm>
          <a:prstGeom prst="rect">
            <a:avLst/>
          </a:prstGeom>
        </p:spPr>
      </p:pic>
      <p:sp>
        <p:nvSpPr>
          <p:cNvPr id="22" name="Text 15"/>
          <p:cNvSpPr/>
          <p:nvPr/>
        </p:nvSpPr>
        <p:spPr>
          <a:xfrm>
            <a:off x="4595217" y="421749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Scanned for secrets</a:t>
            </a:r>
            <a:endParaRPr lang="en-US" sz="1400" dirty="0"/>
          </a:p>
        </p:txBody>
      </p:sp>
      <p:sp>
        <p:nvSpPr>
          <p:cNvPr id="23" name="Text 16"/>
          <p:cNvSpPr/>
          <p:nvPr/>
        </p:nvSpPr>
        <p:spPr>
          <a:xfrm>
            <a:off x="4595217" y="4507012"/>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 kit with a key or token in it is refused.</a:t>
            </a:r>
            <a:endParaRPr lang="en-US" sz="1200" dirty="0"/>
          </a:p>
        </p:txBody>
      </p:sp>
      <p:sp>
        <p:nvSpPr>
          <p:cNvPr id="24" name="Shape 17"/>
          <p:cNvSpPr/>
          <p:nvPr/>
        </p:nvSpPr>
        <p:spPr>
          <a:xfrm>
            <a:off x="7961809" y="3680916"/>
            <a:ext cx="3414216" cy="1459111"/>
          </a:xfrm>
          <a:prstGeom prst="roundRect">
            <a:avLst>
              <a:gd name="adj" fmla="val 6746"/>
            </a:avLst>
          </a:prstGeom>
          <a:solidFill>
            <a:srgbClr val="FBFAF6"/>
          </a:solidFill>
          <a:ln w="6350">
            <a:solidFill>
              <a:srgbClr val="CFC9BA"/>
            </a:solidFill>
            <a:prstDash val="solid"/>
          </a:ln>
        </p:spPr>
      </p:sp>
      <p:pic>
        <p:nvPicPr>
          <p:cNvPr id="25" name="Image 5" descr="Lock">    </p:cNvPr>
          <p:cNvPicPr>
            <a:picLocks noChangeAspect="1"/>
          </p:cNvPicPr>
          <p:nvPr/>
        </p:nvPicPr>
        <p:blipFill>
          <a:blip r:embed="rId6"/>
          <a:srcRect l="0" r="0" t="0" b="0"/>
          <a:stretch/>
        </p:blipFill>
        <p:spPr>
          <a:xfrm>
            <a:off x="8168184" y="3887291"/>
            <a:ext cx="254000" cy="254000"/>
          </a:xfrm>
          <a:prstGeom prst="rect">
            <a:avLst/>
          </a:prstGeom>
        </p:spPr>
      </p:pic>
      <p:sp>
        <p:nvSpPr>
          <p:cNvPr id="26" name="Text 18"/>
          <p:cNvSpPr/>
          <p:nvPr/>
        </p:nvSpPr>
        <p:spPr>
          <a:xfrm>
            <a:off x="8168184" y="4217491"/>
            <a:ext cx="30915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C"/>
                </a:solidFill>
                <a:latin typeface="IBM Plex Sans" pitchFamily="34" charset="0"/>
                <a:ea typeface="IBM Plex Sans" pitchFamily="34" charset="-122"/>
                <a:cs typeface="IBM Plex Sans" pitchFamily="34" charset="-120"/>
              </a:rPr>
              <a:t>Guardrails and audit</a:t>
            </a:r>
            <a:endParaRPr lang="en-US" sz="1400" dirty="0"/>
          </a:p>
        </p:txBody>
      </p:sp>
      <p:sp>
        <p:nvSpPr>
          <p:cNvPr id="27" name="Text 19"/>
          <p:cNvSpPr/>
          <p:nvPr/>
        </p:nvSpPr>
        <p:spPr>
          <a:xfrm>
            <a:off x="8168184" y="450701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Hooks stop risky commands; actions are logged.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4"/>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A33D"/>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WHY IT MATTERS</a:t>
            </a:r>
            <a:endParaRPr lang="en-US" sz="1200" dirty="0"/>
          </a:p>
        </p:txBody>
      </p:sp>
      <p:sp>
        <p:nvSpPr>
          <p:cNvPr id="4" name="Text 2"/>
          <p:cNvSpPr/>
          <p:nvPr>
            <p:ph type="title"/>
          </p:nvPr>
        </p:nvSpPr>
        <p:spPr>
          <a:xfrm>
            <a:off x="812800" y="13309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2EC"/>
                </a:solidFill>
                <a:latin typeface="IBM Plex Sans" pitchFamily="34" charset="0"/>
                <a:ea typeface="IBM Plex Sans" pitchFamily="34" charset="-122"/>
                <a:cs typeface="IBM Plex Sans" pitchFamily="34" charset="-120"/>
              </a:rPr>
              <a:t>What changes for us</a:t>
            </a:r>
            <a:endParaRPr lang="en-US" sz="3600" dirty="0"/>
          </a:p>
        </p:txBody>
      </p:sp>
      <p:sp>
        <p:nvSpPr>
          <p:cNvPr id="5" name="Shape 3"/>
          <p:cNvSpPr/>
          <p:nvPr/>
        </p:nvSpPr>
        <p:spPr>
          <a:xfrm>
            <a:off x="812800" y="2174180"/>
            <a:ext cx="5207000" cy="0"/>
          </a:xfrm>
          <a:prstGeom prst="line">
            <a:avLst/>
          </a:prstGeom>
          <a:noFill/>
          <a:ln w="25400">
            <a:solidFill>
              <a:srgbClr val="7FB2EA"/>
            </a:solidFill>
            <a:prstDash val="solid"/>
          </a:ln>
        </p:spPr>
      </p:sp>
      <p:sp>
        <p:nvSpPr>
          <p:cNvPr id="6" name="Text 4"/>
          <p:cNvSpPr/>
          <p:nvPr/>
        </p:nvSpPr>
        <p:spPr>
          <a:xfrm>
            <a:off x="812800" y="2339280"/>
            <a:ext cx="536321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First-pass approvals</a:t>
            </a:r>
            <a:endParaRPr lang="en-US" sz="2200" dirty="0"/>
          </a:p>
        </p:txBody>
      </p:sp>
      <p:sp>
        <p:nvSpPr>
          <p:cNvPr id="7" name="Text 5"/>
          <p:cNvSpPr/>
          <p:nvPr/>
        </p:nvSpPr>
        <p:spPr>
          <a:xfrm>
            <a:off x="812800" y="2750741"/>
            <a:ext cx="53632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Work reaches security and compliance already meeting our standards.</a:t>
            </a:r>
            <a:endParaRPr lang="en-US" sz="1400" dirty="0"/>
          </a:p>
        </p:txBody>
      </p:sp>
      <p:sp>
        <p:nvSpPr>
          <p:cNvPr id="8" name="Shape 6"/>
          <p:cNvSpPr/>
          <p:nvPr/>
        </p:nvSpPr>
        <p:spPr>
          <a:xfrm>
            <a:off x="6172200" y="2174180"/>
            <a:ext cx="5207000" cy="0"/>
          </a:xfrm>
          <a:prstGeom prst="line">
            <a:avLst/>
          </a:prstGeom>
          <a:noFill/>
          <a:ln w="25400">
            <a:solidFill>
              <a:srgbClr val="7FB2EA"/>
            </a:solidFill>
            <a:prstDash val="solid"/>
          </a:ln>
        </p:spPr>
      </p:sp>
      <p:sp>
        <p:nvSpPr>
          <p:cNvPr id="9" name="Text 7"/>
          <p:cNvSpPr/>
          <p:nvPr/>
        </p:nvSpPr>
        <p:spPr>
          <a:xfrm>
            <a:off x="6172200" y="2339280"/>
            <a:ext cx="536321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Days, not weeks</a:t>
            </a:r>
            <a:endParaRPr lang="en-US" sz="2200" dirty="0"/>
          </a:p>
        </p:txBody>
      </p:sp>
      <p:sp>
        <p:nvSpPr>
          <p:cNvPr id="10" name="Text 8"/>
          <p:cNvSpPr/>
          <p:nvPr/>
        </p:nvSpPr>
        <p:spPr>
          <a:xfrm>
            <a:off x="6172200" y="2750741"/>
            <a:ext cx="53632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Testing and research that used to take weeks now takes days.</a:t>
            </a:r>
            <a:endParaRPr lang="en-US" sz="1400" dirty="0"/>
          </a:p>
        </p:txBody>
      </p:sp>
      <p:sp>
        <p:nvSpPr>
          <p:cNvPr id="11" name="Shape 9"/>
          <p:cNvSpPr/>
          <p:nvPr/>
        </p:nvSpPr>
        <p:spPr>
          <a:xfrm>
            <a:off x="812800" y="4090591"/>
            <a:ext cx="5207000" cy="0"/>
          </a:xfrm>
          <a:prstGeom prst="line">
            <a:avLst/>
          </a:prstGeom>
          <a:noFill/>
          <a:ln w="25400">
            <a:solidFill>
              <a:srgbClr val="E8A33D"/>
            </a:solidFill>
            <a:prstDash val="solid"/>
          </a:ln>
        </p:spPr>
      </p:sp>
      <p:sp>
        <p:nvSpPr>
          <p:cNvPr id="12" name="Text 10"/>
          <p:cNvSpPr/>
          <p:nvPr/>
        </p:nvSpPr>
        <p:spPr>
          <a:xfrm>
            <a:off x="812800" y="4255691"/>
            <a:ext cx="536321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Auditable by default</a:t>
            </a:r>
            <a:endParaRPr lang="en-US" sz="2200" dirty="0"/>
          </a:p>
        </p:txBody>
      </p:sp>
      <p:sp>
        <p:nvSpPr>
          <p:cNvPr id="13" name="Text 11"/>
          <p:cNvSpPr/>
          <p:nvPr/>
        </p:nvSpPr>
        <p:spPr>
          <a:xfrm>
            <a:off x="812800" y="4667151"/>
            <a:ext cx="53632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Procedures live in git; agent work lands as reviewable commits.</a:t>
            </a:r>
            <a:endParaRPr lang="en-US" sz="1400" dirty="0"/>
          </a:p>
        </p:txBody>
      </p:sp>
      <p:sp>
        <p:nvSpPr>
          <p:cNvPr id="14" name="Shape 12"/>
          <p:cNvSpPr/>
          <p:nvPr/>
        </p:nvSpPr>
        <p:spPr>
          <a:xfrm>
            <a:off x="6172200" y="4090591"/>
            <a:ext cx="5207000" cy="0"/>
          </a:xfrm>
          <a:prstGeom prst="line">
            <a:avLst/>
          </a:prstGeom>
          <a:noFill/>
          <a:ln w="25400">
            <a:solidFill>
              <a:srgbClr val="E8A33D"/>
            </a:solidFill>
            <a:prstDash val="solid"/>
          </a:ln>
        </p:spPr>
      </p:sp>
      <p:sp>
        <p:nvSpPr>
          <p:cNvPr id="15" name="Text 13"/>
          <p:cNvSpPr/>
          <p:nvPr/>
        </p:nvSpPr>
        <p:spPr>
          <a:xfrm>
            <a:off x="6172200" y="4255691"/>
            <a:ext cx="536321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2EC"/>
                </a:solidFill>
                <a:latin typeface="IBM Plex Sans" pitchFamily="34" charset="0"/>
                <a:ea typeface="IBM Plex Sans" pitchFamily="34" charset="-122"/>
                <a:cs typeface="IBM Plex Sans" pitchFamily="34" charset="-120"/>
              </a:rPr>
              <a:t>Right-sized cost</a:t>
            </a:r>
            <a:endParaRPr lang="en-US" sz="2200" dirty="0"/>
          </a:p>
        </p:txBody>
      </p:sp>
      <p:sp>
        <p:nvSpPr>
          <p:cNvPr id="16" name="Text 14"/>
          <p:cNvSpPr/>
          <p:nvPr/>
        </p:nvSpPr>
        <p:spPr>
          <a:xfrm>
            <a:off x="6172200" y="4667151"/>
            <a:ext cx="536321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F"/>
                </a:solidFill>
                <a:latin typeface="IBM Plex Sans" pitchFamily="34" charset="0"/>
                <a:ea typeface="IBM Plex Sans" pitchFamily="34" charset="-122"/>
                <a:cs typeface="IBM Plex Sans" pitchFamily="34" charset="-120"/>
              </a:rPr>
              <a:t>Routine work runs on cheaper models; hard problems on the strongest.</a:t>
            </a:r>
            <a:endParaRPr lang="en-US" sz="1400" dirty="0"/>
          </a:p>
        </p:txBody>
      </p:sp>
      <p:sp>
        <p:nvSpPr>
          <p:cNvPr id="17" name="Text 15"/>
          <p:cNvSpPr/>
          <p:nvPr/>
        </p:nvSpPr>
        <p:spPr>
          <a:xfrm>
            <a:off x="812800" y="6238280"/>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JetBrains Mono" pitchFamily="49" charset="0"/>
                <a:ea typeface="JetBrains Mono" pitchFamily="49" charset="-122"/>
                <a:cs typeface="JetBrains Mono" pitchFamily="49" charset="-120"/>
              </a:rPr>
              <a:t>Up next → live demo · Episode 2 → building your own skills</a:t>
            </a:r>
            <a:endParaRPr lang="en-US" sz="1200" dirty="0"/>
          </a:p>
        </p:txBody>
      </p:sp>
    </p:spTree>
  </p:cSld>
  <p:clrMapOvr>
    <a:masterClrMapping/>
  </p:clrMapOvr>
</p:sld>
</file>

<file path=ppt/theme/theme1.xml><?xml version="1.0" encoding="utf-8"?>
<a:theme xmlns:a="http://schemas.openxmlformats.org/drawingml/2006/main" name="A Team of Agents: Episode 1">
  <a:themeElements>
    <a:clrScheme name="A Team of Agents: Episode 1">
      <a:dk1>
        <a:srgbClr val="13202C"/>
      </a:dk1>
      <a:lt1>
        <a:srgbClr val="F4F2EC"/>
      </a:lt1>
      <a:dk2>
        <a:srgbClr val="4B555C"/>
      </a:dk2>
      <a:lt2>
        <a:srgbClr val="DEDDD9"/>
      </a:lt2>
      <a:accent1>
        <a:srgbClr val="9A5B0E"/>
      </a:accent1>
      <a:accent2>
        <a:srgbClr val="E8A33D"/>
      </a:accent2>
      <a:accent3>
        <a:srgbClr val="2A64A8"/>
      </a:accent3>
      <a:accent4>
        <a:srgbClr val="7FB2EA"/>
      </a:accent4>
      <a:accent5>
        <a:srgbClr val="4A5563"/>
      </a:accent5>
      <a:accent6>
        <a:srgbClr val="B8C4CF"/>
      </a:accent6>
      <a:hlink>
        <a:srgbClr val="0563C1"/>
      </a:hlink>
      <a:folHlink>
        <a:srgbClr val="954F72"/>
      </a:folHlink>
    </a:clrScheme>
    <a:fontScheme name="A Team of Agents: Episode 1">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Team of Agents: Episode 1</dc:title>
  <dc:subject/>
  <dc:creator/>
  <cp:lastModifiedBy/>
  <cp:revision>1</cp:revision>
  <dcterms:created xsi:type="dcterms:W3CDTF">2026-10-08T21:08:29Z</dcterms:created>
  <dcterms:modified xsi:type="dcterms:W3CDTF">2026-10-08T21:08:29Z</dcterms:modified>
</cp:coreProperties>
</file>