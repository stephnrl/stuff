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OPEN WITH THE HOOK (memorize, point at the panel): "Two to three weeks, and three rounds with security. Or about a day, and zero revisions. Same kind of request. Here's what changed." THEN THE INTRO (about 15 seconds, for the recording): "I'm [name], a DevSecOps engineer on [team]. This is Episode 1 of a short series on how I use AI agents in my day-to-day work. This one is the why: the problem, and what changed. Episode 2 is the how: building your own skills." BRIDGE: "Let's start with the ticket."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SAY (memorize): "A while back I picked up what looked like a simple ticket: create a least-privilege IAM role for our developers." STORY: Walk the four boxes. "If you've done one of these, you know the path. You write the policy, submit it to security in ServiceNow, and it comes back: too broad, or missing a justification. You fix it, resubmit, and wait again. Usually three rounds." HOOK (slow down): "This time, it was approved on the first request. No revisions." OVERVIEW: "In the next fifteen minutes I'll show you how: the team of AI specialists I built, how they work, and then one of them in action." BRIDGE: "But the IAM policy was never really the problem."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SAY: "The work isn't slow. The handoffs are." POINT at the numbers (slow down): "That IAM request? Two to three weeks, end to end. Three rounds with security, and each round sat in a queue." EXPLAIN: "The people who know our security and compliance standards sit on other teams, each with its own queue. A question that takes them ten minutes to answer can sit for days. And by the time feedback arrives, I've moved on and have to switch back." CREDIBILITY: "And this isn't about being new. My day job is hardening our AWS baseline and running our EKS clusters. I still learned some of our standards only when the review came back." WISH I'D KNOWN: "The standards existed. I just didn't have them in front of me while I was doing the work." BRIDGE: "So I tried to fix that with AI. It didn't work the first time."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SAY: "I tried three things." THE MISTAKE (own it): "First, a generic chatbot. It gave me a confident IAM policy, and it was exactly the kind of broad policy security sends back. My mistake was trusting an answer that didn't know our standards." "Second, I pasted our standards into the chat. Better, but different every time, and gone by the next session." "Third, I gave the agent a role: one that knows our standards and has the skills to apply them. That's what worked." BRIDGE: "That third step has two pieces. First, skills."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SAY: "A skill teaches an agent how we do a task." EXPLAIN: "It's just a folder with a Markdown file: a name, a description of when to use it, and the steps. The agent reads only the descriptions at first and opens a skill when a task matches, so it can carry a lot of them. And it's an open standard, so the same skill works in Copilot, VS Code, Cursor and others." TEASER: "I won't go deeper today. Building your own skills is Episode 2." BRIDGE: "Skills solved the how. They didn't solve the who."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SAY: "Here's the problem a persona solves: a generic AI answers like nobody in particular." EXPLAIN (left card): "When I need a security answer, I don't want a general opinion. It'll answer anything, it doesn't know where to stop, and it gives a developer and an auditor the same answer." POINT at the right card: "I want someone who thinks like our security team: applies our standards every time, knows its limits, and tells me what still needs a person. That's a persona. It's a role description, like one you'd write for a new hire." SAY (memorize): "Skills say how. A persona says who." BRIDGE: "Put a persona and its skills together, and you get a kit."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SAY: "A kit is a specialist, defined in one file." WALK the right-hand column, not the JSON: who the agent is, the skills it can use, the team rules it always reads, the only tools it's allowed, and which model it runs on. ANALOGY: "It's the job description plus the toolbox for one hire. When I start an agent in mux.snc, I pick a kit, and that's who shows up." POINT: "Change the kit file, and every agent started after that gets the change." BRIDGE: "So here's the team I've hired."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SAY: "Meet my team." EXPLAIN: "Two of them do the work: devsecops and the .NET developer. The other three give me a first pass I'd otherwise wait days for. The security engineer before the security review. The CMMC analyst before compliance. The PR reviewer before a teammate looks at it." IMPORTANT (say it plainly): "They don't replace those teams. They make sure that when my work reaches them, it's already right." POINT at the dark card: "And adding a specialist isn't building a new tool. It's a persona file and a JSON file." BRIDGE: "So let's go back to that IAM ticket."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SAY: "Same ticket, but this time I had my security engineer." STORY (walk the four steps): "I started an agent with the security-engineer kit and told it what our developers needed to do. It drafted the policy to our least-privilege standard, explained every permission, and wrote the justification security would ask for. Then I reviewed it, adjusted what I wanted, and submitted it in ServiceNow." RESULT (point at the numbers, slow down): "Remember: two to three weeks and three rounds. This time, about a day. One request. Zero revisions from the security team." POINT at step 4: "Notice who approved it: the security team. The agent didn't skip the review. It got the work right before it reached them." BRIDGE: "And it isn't just approvals."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SAY: "It isn't just approvals. It's the work itself." STORY: "We moved our EKS nodes to Bottlerocket, with FIPS. Testing a new node OS normally takes weeks: does FIPS work, do our workloads run on it, does DNS resolve, do the logs arrive and check out." RESULT (point at the numbers): "With my agents helping plan the tests, read the output and chase down the failures, it took about two days. Same pattern as the IAM request: weeks became days." [Optional: one specific thing the agent caught or solved. A real detail makes this land.] BRIDGE: "Which raises the fair question: can we trust it?"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SAY: "Agents prepare the work. People still approve it." EXPLAIN: "Agents can be wrong, and skills can run commands, so the design assumes mistakes will happen." POINT at two cards, not all six: "It never holds real credentials, and a person always merges. Nothing it does reaches a live environment without review." Let the room read the rest. [Before presenting, confirm all six cards match the work version.] BRIDGE: "So what does this change for us?"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SAY: "Here's what changes for us." ONE LINE EACH: First-pass approvals: "Work reaches security and compliance already meeting our standards, like that IAM request." Days, not weeks: "Like Bottlerocket: weeks of testing in two days." Auditable: "Procedures live in git, and agent work arrives as reviewable commits. That matters for CMMC." Cost: "Routine work runs on cheaper models; only the hard problems use the strongest one." HAND-OFF (memorize): "Let me show you. I'm going to hand an overly broad IAM policy to my security engineer." Then switch to the mux.snc terminal window.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body">
    <p:bg>
      <p:bgPr>
        <a:solidFill>
          <a:srgbClr val="F4F2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/>
          <p:nvPr>
            <p:ph type="title"/>
          </p:nvPr>
        </p:nvSpPr>
        <p:spPr>
          <a:xfrm>
            <a:off x="812800" y="1330920"/>
            <a:ext cx="10566400" cy="52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algn="l" indent="0" marL="0">
              <a:lnSpc>
                <a:spcPct val="115000"/>
              </a:lnSpc>
              <a:buNone/>
              <a:defRPr lang="en-US" sz="3600" dirty="0">
                <a:solidFill>
                  <a:srgbClr val="13202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defRPr>
            </a:lvl1pPr>
          </a:lstStyle>
          <a:p>
            <a:pPr algn="l" indent="0" marL="0">
              <a:lnSpc>
                <a:spcPct val="115000"/>
              </a:lnSpc>
              <a:buNone/>
            </a:pPr>
            <a:endParaRPr lang="en-US" sz="3600" dirty="0"/>
          </a:p>
        </p:txBody>
      </p:sp>
      <p:sp>
        <p:nvSpPr>
          <p:cNvPr id="3" name="Text Placeholder 2"/>
          <p:cNvSpPr/>
          <p:nvPr>
            <p:ph idx="101" type="body"/>
          </p:nvPr>
        </p:nvSpPr>
        <p:spPr>
          <a:xfrm>
            <a:off x="812800" y="2161480"/>
            <a:ext cx="10566400" cy="3883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algn="l" indent="0" marL="0">
              <a:lnSpc>
                <a:spcPct val="140000"/>
              </a:lnSpc>
              <a:buNone/>
              <a:defRPr lang="en-US" sz="1600" dirty="0">
                <a:solidFill>
                  <a:srgbClr val="13202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defRPr>
            </a:lvl1pPr>
          </a:lstStyle>
          <a:p>
            <a:pPr algn="l" indent="0" marL="0">
              <a:lnSpc>
                <a:spcPct val="140000"/>
              </a:lnSpc>
              <a:buNone/>
            </a:pPr>
            <a:endParaRPr lang="en-US" sz="16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2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/>
          <p:nvPr>
            <p:ph type="title"/>
          </p:nvPr>
        </p:nvSpPr>
        <p:spPr>
          <a:xfrm>
            <a:off x="812800" y="1330920"/>
            <a:ext cx="10566400" cy="52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algn="l" indent="0" marL="0">
              <a:lnSpc>
                <a:spcPct val="115000"/>
              </a:lnSpc>
              <a:buNone/>
              <a:defRPr lang="en-US" sz="3600" dirty="0">
                <a:solidFill>
                  <a:srgbClr val="13202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defRPr>
            </a:lvl1pPr>
          </a:lstStyle>
          <a:p>
            <a:pPr algn="l" indent="0" marL="0">
              <a:lnSpc>
                <a:spcPct val="115000"/>
              </a:lnSpc>
              <a:buNone/>
            </a:pPr>
            <a:endParaRPr lang="en-US" sz="3600" dirty="0"/>
          </a:p>
        </p:txBody>
      </p:sp>
      <p:sp>
        <p:nvSpPr>
          <p:cNvPr id="3" name="Text Placeholder 2"/>
          <p:cNvSpPr/>
          <p:nvPr>
            <p:ph idx="101" type="body"/>
          </p:nvPr>
        </p:nvSpPr>
        <p:spPr>
          <a:xfrm>
            <a:off x="812800" y="2161480"/>
            <a:ext cx="10566400" cy="3883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algn="l" indent="0" marL="0">
              <a:lnSpc>
                <a:spcPct val="140000"/>
              </a:lnSpc>
              <a:buNone/>
              <a:defRPr lang="en-US" sz="1600" dirty="0">
                <a:solidFill>
                  <a:srgbClr val="13202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defRPr>
            </a:lvl1pPr>
          </a:lstStyle>
          <a:p>
            <a:pPr algn="l" indent="0" marL="0">
              <a:lnSpc>
                <a:spcPct val="140000"/>
              </a:lnSpc>
              <a:buNone/>
            </a:pPr>
            <a:endParaRPr lang="en-US" sz="1600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2.xml"/><Relationship Id="rId5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slideLayout" Target="../slideLayouts/slideLayout2.xml"/><Relationship Id="rId5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image" Target="../media/image-11-4.png"/><Relationship Id="rId5" Type="http://schemas.openxmlformats.org/officeDocument/2006/relationships/image" Target="../media/image-11-5.png"/><Relationship Id="rId6" Type="http://schemas.openxmlformats.org/officeDocument/2006/relationships/image" Target="../media/image-11-6.png"/><Relationship Id="rId7" Type="http://schemas.openxmlformats.org/officeDocument/2006/relationships/slideLayout" Target="../slideLayouts/slideLayout2.xml"/><Relationship Id="rId8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A2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52400" cy="6858000"/>
          </a:xfrm>
          <a:prstGeom prst="rect">
            <a:avLst/>
          </a:prstGeom>
          <a:solidFill>
            <a:srgbClr val="E8A33D"/>
          </a:solidFill>
          <a:ln/>
        </p:spPr>
      </p:sp>
      <p:sp>
        <p:nvSpPr>
          <p:cNvPr id="3" name="Shape 1"/>
          <p:cNvSpPr/>
          <p:nvPr/>
        </p:nvSpPr>
        <p:spPr>
          <a:xfrm>
            <a:off x="7496175" y="1146175"/>
            <a:ext cx="3879850" cy="4057650"/>
          </a:xfrm>
          <a:prstGeom prst="roundRect">
            <a:avLst>
              <a:gd name="adj" fmla="val 2537"/>
            </a:avLst>
          </a:prstGeom>
          <a:solidFill>
            <a:srgbClr val="182836"/>
          </a:solidFill>
          <a:ln w="6350">
            <a:solidFill>
              <a:srgbClr val="2A3C4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804150" y="1696938"/>
            <a:ext cx="3361817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spc="100" kern="0" dirty="0">
                <a:solidFill>
                  <a:srgbClr val="7FB2EA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ONE IAM ROLE REQUEST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7804150" y="1986459"/>
            <a:ext cx="3361817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B8C4CF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Before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7804150" y="2275979"/>
            <a:ext cx="3361817" cy="5282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960"/>
              </a:lnSpc>
              <a:buNone/>
            </a:pPr>
            <a:r>
              <a:rPr lang="en-US" sz="3600" b="1" strike="sngStrike" dirty="0">
                <a:solidFill>
                  <a:srgbClr val="8696A5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2–3 weeks</a:t>
            </a:r>
            <a:endParaRPr lang="en-US" sz="3600" dirty="0"/>
          </a:p>
        </p:txBody>
      </p:sp>
      <p:sp>
        <p:nvSpPr>
          <p:cNvPr id="7" name="Text 5"/>
          <p:cNvSpPr/>
          <p:nvPr/>
        </p:nvSpPr>
        <p:spPr>
          <a:xfrm>
            <a:off x="7804150" y="2855020"/>
            <a:ext cx="3361817" cy="2742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B8C4C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3 rounds with security</a:t>
            </a:r>
            <a:endParaRPr lang="en-US" sz="1400" dirty="0"/>
          </a:p>
        </p:txBody>
      </p:sp>
      <p:pic>
        <p:nvPicPr>
          <p:cNvPr id="8" name="Image 0" descr="arrow-down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7804150" y="3180060"/>
            <a:ext cx="177800" cy="27940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7804150" y="3535660"/>
            <a:ext cx="3361817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E8A33D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With my agents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7804150" y="3825180"/>
            <a:ext cx="3361817" cy="5282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960"/>
              </a:lnSpc>
              <a:buNone/>
            </a:pPr>
            <a:r>
              <a:rPr lang="en-US" sz="3600" b="1" dirty="0">
                <a:solidFill>
                  <a:srgbClr val="E8A33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~1 day</a:t>
            </a:r>
            <a:endParaRPr lang="en-US" sz="3600" dirty="0"/>
          </a:p>
        </p:txBody>
      </p:sp>
      <p:sp>
        <p:nvSpPr>
          <p:cNvPr id="11" name="Text 8"/>
          <p:cNvSpPr/>
          <p:nvPr/>
        </p:nvSpPr>
        <p:spPr>
          <a:xfrm>
            <a:off x="7804150" y="4404221"/>
            <a:ext cx="3361817" cy="2742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F4F2E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of work, 0 revisions</a:t>
            </a:r>
            <a:endParaRPr lang="en-US" sz="1400" dirty="0"/>
          </a:p>
        </p:txBody>
      </p:sp>
      <p:sp>
        <p:nvSpPr>
          <p:cNvPr id="12" name="Text 9"/>
          <p:cNvSpPr/>
          <p:nvPr/>
        </p:nvSpPr>
        <p:spPr>
          <a:xfrm>
            <a:off x="812800" y="1803499"/>
            <a:ext cx="1088339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spc="200" kern="0" dirty="0">
                <a:solidFill>
                  <a:srgbClr val="E8A33D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EPISODE 1 · MUX.SNC</a:t>
            </a:r>
            <a:endParaRPr lang="en-US" sz="1200" dirty="0"/>
          </a:p>
        </p:txBody>
      </p:sp>
      <p:sp>
        <p:nvSpPr>
          <p:cNvPr id="13" name="Text 10"/>
          <p:cNvSpPr/>
          <p:nvPr>
            <p:ph type="title"/>
          </p:nvPr>
        </p:nvSpPr>
        <p:spPr>
          <a:xfrm>
            <a:off x="812800" y="2270820"/>
            <a:ext cx="6278880" cy="1625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6300"/>
              </a:lnSpc>
              <a:buNone/>
            </a:pPr>
            <a:r>
              <a:rPr lang="en-US" sz="6000" b="1" i="0" dirty="0">
                <a:solidFill>
                  <a:srgbClr val="F4F2E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One request. Zero revisions.</a:t>
            </a:r>
            <a:endParaRPr lang="en-US" sz="6000" dirty="0"/>
          </a:p>
        </p:txBody>
      </p:sp>
      <p:sp>
        <p:nvSpPr>
          <p:cNvPr id="14" name="Text 11"/>
          <p:cNvSpPr/>
          <p:nvPr/>
        </p:nvSpPr>
        <p:spPr>
          <a:xfrm>
            <a:off x="812800" y="4125020"/>
            <a:ext cx="6017260" cy="7516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860"/>
              </a:lnSpc>
              <a:buNone/>
            </a:pPr>
            <a:r>
              <a:rPr lang="en-US" sz="2200" dirty="0">
                <a:solidFill>
                  <a:srgbClr val="B8C4C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What changed when I gave AI agents a role on my team</a:t>
            </a:r>
            <a:endParaRPr lang="en-US" sz="2200" dirty="0"/>
          </a:p>
        </p:txBody>
      </p:sp>
      <p:sp>
        <p:nvSpPr>
          <p:cNvPr id="15" name="Text 12"/>
          <p:cNvSpPr/>
          <p:nvPr/>
        </p:nvSpPr>
        <p:spPr>
          <a:xfrm>
            <a:off x="812800" y="6238280"/>
            <a:ext cx="65405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B8C4C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[Your name] · DevSecOps · October 2026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2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spc="200" kern="0" dirty="0">
                <a:solidFill>
                  <a:srgbClr val="9A5B0E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A REAL TICKET</a:t>
            </a:r>
            <a:endParaRPr lang="en-US" sz="1200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812800" y="1330920"/>
            <a:ext cx="9810750" cy="1076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4140"/>
              </a:lnSpc>
              <a:buNone/>
            </a:pPr>
            <a:r>
              <a:rPr lang="en-US" sz="3600" b="1" i="0" dirty="0">
                <a:solidFill>
                  <a:srgbClr val="13202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"Create a least-privilege IAM role for our developers."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815975" y="2690416"/>
            <a:ext cx="2289175" cy="1448891"/>
          </a:xfrm>
          <a:prstGeom prst="roundRect">
            <a:avLst>
              <a:gd name="adj" fmla="val 6793"/>
            </a:avLst>
          </a:prstGeom>
          <a:solidFill>
            <a:srgbClr val="FBFAF6"/>
          </a:solidFill>
          <a:ln w="6350">
            <a:solidFill>
              <a:srgbClr val="DAD5C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22350" y="2896791"/>
            <a:ext cx="1932718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2A64A8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1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1022350" y="3186311"/>
            <a:ext cx="1932718" cy="2691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13202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Draft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022350" y="3506291"/>
            <a:ext cx="1932718" cy="4520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4A556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Write the role and the policy</a:t>
            </a:r>
            <a:endParaRPr lang="en-US" sz="1200" dirty="0"/>
          </a:p>
        </p:txBody>
      </p:sp>
      <p:pic>
        <p:nvPicPr>
          <p:cNvPr id="8" name="Image 0" descr="arrow-right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3209925" y="3351312"/>
            <a:ext cx="254000" cy="127000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3568700" y="2690416"/>
            <a:ext cx="2289175" cy="1448891"/>
          </a:xfrm>
          <a:prstGeom prst="roundRect">
            <a:avLst>
              <a:gd name="adj" fmla="val 6793"/>
            </a:avLst>
          </a:prstGeom>
          <a:solidFill>
            <a:srgbClr val="FBFAF6"/>
          </a:solidFill>
          <a:ln w="6350">
            <a:solidFill>
              <a:srgbClr val="DAD5C8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3775075" y="2896791"/>
            <a:ext cx="1932718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2A64A8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2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3775075" y="3186311"/>
            <a:ext cx="1932718" cy="2691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13202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Submit</a:t>
            </a:r>
            <a:endParaRPr lang="en-US" sz="1600" dirty="0"/>
          </a:p>
        </p:txBody>
      </p:sp>
      <p:sp>
        <p:nvSpPr>
          <p:cNvPr id="12" name="Text 9"/>
          <p:cNvSpPr/>
          <p:nvPr/>
        </p:nvSpPr>
        <p:spPr>
          <a:xfrm>
            <a:off x="3775075" y="3506291"/>
            <a:ext cx="1932718" cy="4520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4A556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Security request in ServiceNow</a:t>
            </a:r>
            <a:endParaRPr lang="en-US" sz="1200" dirty="0"/>
          </a:p>
        </p:txBody>
      </p:sp>
      <p:pic>
        <p:nvPicPr>
          <p:cNvPr id="13" name="Image 1" descr="arrow-right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5962650" y="3351312"/>
            <a:ext cx="254000" cy="127000"/>
          </a:xfrm>
          <a:prstGeom prst="rect">
            <a:avLst/>
          </a:prstGeom>
        </p:spPr>
      </p:pic>
      <p:sp>
        <p:nvSpPr>
          <p:cNvPr id="14" name="Shape 10"/>
          <p:cNvSpPr/>
          <p:nvPr/>
        </p:nvSpPr>
        <p:spPr>
          <a:xfrm>
            <a:off x="6321425" y="2690416"/>
            <a:ext cx="2289175" cy="1448891"/>
          </a:xfrm>
          <a:prstGeom prst="roundRect">
            <a:avLst>
              <a:gd name="adj" fmla="val 6793"/>
            </a:avLst>
          </a:prstGeom>
          <a:solidFill>
            <a:srgbClr val="FBFAF6"/>
          </a:solidFill>
          <a:ln w="6350">
            <a:solidFill>
              <a:srgbClr val="DAD5C8"/>
            </a:solidFill>
            <a:prstDash val="solid"/>
          </a:ln>
        </p:spPr>
      </p:sp>
      <p:sp>
        <p:nvSpPr>
          <p:cNvPr id="15" name="Text 11"/>
          <p:cNvSpPr/>
          <p:nvPr/>
        </p:nvSpPr>
        <p:spPr>
          <a:xfrm>
            <a:off x="6527800" y="2896791"/>
            <a:ext cx="1932718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2A64A8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3</a:t>
            </a:r>
            <a:endParaRPr lang="en-US" sz="1200" dirty="0"/>
          </a:p>
        </p:txBody>
      </p:sp>
      <p:sp>
        <p:nvSpPr>
          <p:cNvPr id="16" name="Text 12"/>
          <p:cNvSpPr/>
          <p:nvPr/>
        </p:nvSpPr>
        <p:spPr>
          <a:xfrm>
            <a:off x="6527800" y="3186311"/>
            <a:ext cx="1932718" cy="2691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13202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Findings</a:t>
            </a:r>
            <a:endParaRPr lang="en-US" sz="1600" dirty="0"/>
          </a:p>
        </p:txBody>
      </p:sp>
      <p:sp>
        <p:nvSpPr>
          <p:cNvPr id="17" name="Text 13"/>
          <p:cNvSpPr/>
          <p:nvPr/>
        </p:nvSpPr>
        <p:spPr>
          <a:xfrm>
            <a:off x="6527800" y="3506291"/>
            <a:ext cx="1932718" cy="4520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4A556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Too broad, missing a justification</a:t>
            </a:r>
            <a:endParaRPr lang="en-US" sz="1200" dirty="0"/>
          </a:p>
        </p:txBody>
      </p:sp>
      <p:pic>
        <p:nvPicPr>
          <p:cNvPr id="18" name="Image 2" descr="arrow-right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8715375" y="3351312"/>
            <a:ext cx="254000" cy="127000"/>
          </a:xfrm>
          <a:prstGeom prst="rect">
            <a:avLst/>
          </a:prstGeom>
        </p:spPr>
      </p:pic>
      <p:sp>
        <p:nvSpPr>
          <p:cNvPr id="19" name="Shape 14"/>
          <p:cNvSpPr/>
          <p:nvPr/>
        </p:nvSpPr>
        <p:spPr>
          <a:xfrm>
            <a:off x="9077325" y="2793901"/>
            <a:ext cx="2295525" cy="1241921"/>
          </a:xfrm>
          <a:prstGeom prst="roundRect">
            <a:avLst>
              <a:gd name="adj" fmla="val 7670"/>
            </a:avLst>
          </a:prstGeom>
          <a:solidFill>
            <a:srgbClr val="FBFAF6"/>
          </a:solidFill>
          <a:ln w="12700">
            <a:solidFill>
              <a:srgbClr val="9A5B0E"/>
            </a:solidFill>
            <a:prstDash val="solid"/>
          </a:ln>
        </p:spPr>
      </p:sp>
      <p:sp>
        <p:nvSpPr>
          <p:cNvPr id="20" name="Text 15"/>
          <p:cNvSpPr/>
          <p:nvPr/>
        </p:nvSpPr>
        <p:spPr>
          <a:xfrm>
            <a:off x="9286875" y="3003451"/>
            <a:ext cx="1932718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9A5B0E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4</a:t>
            </a:r>
            <a:endParaRPr lang="en-US" sz="1200" dirty="0"/>
          </a:p>
        </p:txBody>
      </p:sp>
      <p:sp>
        <p:nvSpPr>
          <p:cNvPr id="21" name="Text 16"/>
          <p:cNvSpPr/>
          <p:nvPr/>
        </p:nvSpPr>
        <p:spPr>
          <a:xfrm>
            <a:off x="9286875" y="3292971"/>
            <a:ext cx="1932718" cy="2691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13202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Revise</a:t>
            </a:r>
            <a:endParaRPr lang="en-US" sz="1600" dirty="0"/>
          </a:p>
        </p:txBody>
      </p:sp>
      <p:sp>
        <p:nvSpPr>
          <p:cNvPr id="22" name="Text 17"/>
          <p:cNvSpPr/>
          <p:nvPr/>
        </p:nvSpPr>
        <p:spPr>
          <a:xfrm>
            <a:off x="9286875" y="3612952"/>
            <a:ext cx="1932718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4A556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Fix, resubmit, wait again</a:t>
            </a:r>
            <a:endParaRPr lang="en-US" sz="1200" dirty="0"/>
          </a:p>
        </p:txBody>
      </p:sp>
      <p:sp>
        <p:nvSpPr>
          <p:cNvPr id="23" name="Text 18"/>
          <p:cNvSpPr/>
          <p:nvPr/>
        </p:nvSpPr>
        <p:spPr>
          <a:xfrm>
            <a:off x="812800" y="4447282"/>
            <a:ext cx="9810750" cy="3199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320"/>
              </a:lnSpc>
              <a:buNone/>
            </a:pPr>
            <a:r>
              <a:rPr lang="en-US" sz="1600" dirty="0">
                <a:solidFill>
                  <a:srgbClr val="4A556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Usually three rounds with security, and every round waits in the queue.</a:t>
            </a:r>
            <a:endParaRPr lang="en-US" sz="1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2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spc="200" kern="0" dirty="0">
                <a:solidFill>
                  <a:srgbClr val="9A5B0E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THE REAL PROBLEM</a:t>
            </a:r>
            <a:endParaRPr lang="en-US" sz="1200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812800" y="1305520"/>
            <a:ext cx="10883392" cy="5511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4140"/>
              </a:lnSpc>
              <a:buNone/>
            </a:pPr>
            <a:r>
              <a:rPr lang="en-US" sz="3600" b="1" i="0" dirty="0">
                <a:solidFill>
                  <a:srgbClr val="13202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The work isn't slow. The handoffs are.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812800" y="2110680"/>
            <a:ext cx="4457700" cy="787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6000"/>
              </a:lnSpc>
              <a:buNone/>
            </a:pPr>
            <a:r>
              <a:rPr lang="en-US" sz="6000" b="1" dirty="0">
                <a:solidFill>
                  <a:srgbClr val="9A5B0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2–3 weeks</a:t>
            </a:r>
            <a:endParaRPr lang="en-US" sz="6000" dirty="0"/>
          </a:p>
        </p:txBody>
      </p:sp>
      <p:sp>
        <p:nvSpPr>
          <p:cNvPr id="5" name="Text 3"/>
          <p:cNvSpPr/>
          <p:nvPr/>
        </p:nvSpPr>
        <p:spPr>
          <a:xfrm>
            <a:off x="812800" y="2923480"/>
            <a:ext cx="3963543" cy="2742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4A556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for one IAM request, end to end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5270500" y="2110680"/>
            <a:ext cx="3580515" cy="787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6000"/>
              </a:lnSpc>
              <a:buNone/>
            </a:pPr>
            <a:r>
              <a:rPr lang="en-US" sz="6000" b="1" dirty="0">
                <a:solidFill>
                  <a:srgbClr val="9A5B0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3 rounds</a:t>
            </a:r>
            <a:endParaRPr lang="en-US" sz="6000" dirty="0"/>
          </a:p>
        </p:txBody>
      </p:sp>
      <p:sp>
        <p:nvSpPr>
          <p:cNvPr id="7" name="Text 5"/>
          <p:cNvSpPr/>
          <p:nvPr/>
        </p:nvSpPr>
        <p:spPr>
          <a:xfrm>
            <a:off x="5270500" y="2923480"/>
            <a:ext cx="4171474" cy="2742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4A556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with security, each one waiting in the queue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815975" y="3454896"/>
            <a:ext cx="3376017" cy="1243112"/>
          </a:xfrm>
          <a:prstGeom prst="roundRect">
            <a:avLst>
              <a:gd name="adj" fmla="val 7918"/>
            </a:avLst>
          </a:prstGeom>
          <a:solidFill>
            <a:srgbClr val="FBFAF6"/>
          </a:solidFill>
          <a:ln w="6350">
            <a:solidFill>
              <a:srgbClr val="DAD5C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022350" y="3661271"/>
            <a:ext cx="3052165" cy="2691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13202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Experts sit on other teams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022350" y="3981252"/>
            <a:ext cx="3052165" cy="5230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4A556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Security, compliance, networking: each with its own queue.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4401542" y="3454896"/>
            <a:ext cx="3376116" cy="1243112"/>
          </a:xfrm>
          <a:prstGeom prst="roundRect">
            <a:avLst>
              <a:gd name="adj" fmla="val 7918"/>
            </a:avLst>
          </a:prstGeom>
          <a:solidFill>
            <a:srgbClr val="FBFAF6"/>
          </a:solidFill>
          <a:ln w="6350">
            <a:solidFill>
              <a:srgbClr val="DAD5C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607917" y="3661271"/>
            <a:ext cx="3052267" cy="2691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13202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Every consult waits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4607917" y="3981252"/>
            <a:ext cx="3052267" cy="5230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4A556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 ten-minute answer can sit in a queue for days.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7990384" y="3458071"/>
            <a:ext cx="3382466" cy="1236762"/>
          </a:xfrm>
          <a:prstGeom prst="roundRect">
            <a:avLst>
              <a:gd name="adj" fmla="val 7702"/>
            </a:avLst>
          </a:prstGeom>
          <a:solidFill>
            <a:srgbClr val="FBFAF6"/>
          </a:solidFill>
          <a:ln w="12700">
            <a:solidFill>
              <a:srgbClr val="9A5B0E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199934" y="3667621"/>
            <a:ext cx="3052267" cy="2691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13202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Feedback comes late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8199934" y="3987602"/>
            <a:ext cx="3052267" cy="5230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4A556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Findings arrive after you've moved on, so you switch back.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812800" y="4980583"/>
            <a:ext cx="10203180" cy="5409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030"/>
              </a:lnSpc>
              <a:buNone/>
            </a:pPr>
            <a:r>
              <a:rPr lang="en-US" sz="1400" dirty="0">
                <a:solidFill>
                  <a:srgbClr val="13202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My day job is hardening our AWS baseline and running EKS, and I still learned some of our standards only when the review came back.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2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spc="200" kern="0" dirty="0">
                <a:solidFill>
                  <a:srgbClr val="9A5B0E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HOW I GOT HERE</a:t>
            </a:r>
            <a:endParaRPr lang="en-US" sz="1200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812800" y="1330920"/>
            <a:ext cx="10883392" cy="5511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4140"/>
              </a:lnSpc>
              <a:buNone/>
            </a:pPr>
            <a:r>
              <a:rPr lang="en-US" sz="3600" b="1" i="0" dirty="0">
                <a:solidFill>
                  <a:srgbClr val="13202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Three things I tried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815975" y="2282726"/>
            <a:ext cx="3147417" cy="1987252"/>
          </a:xfrm>
          <a:prstGeom prst="roundRect">
            <a:avLst>
              <a:gd name="adj" fmla="val 4953"/>
            </a:avLst>
          </a:prstGeom>
          <a:solidFill>
            <a:srgbClr val="FBFAF6"/>
          </a:solidFill>
          <a:ln w="6350">
            <a:solidFill>
              <a:srgbClr val="DAD5C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73150" y="2539901"/>
            <a:ext cx="2712059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2A64A8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01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1073150" y="2854821"/>
            <a:ext cx="2712059" cy="2691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13202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 generic chatbot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073150" y="3200202"/>
            <a:ext cx="2712059" cy="5230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4A556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Confident answers that didn't know our standards.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073150" y="3799483"/>
            <a:ext cx="2712059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9A5B0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Result: generic</a:t>
            </a:r>
            <a:endParaRPr lang="en-US" sz="1200" dirty="0"/>
          </a:p>
        </p:txBody>
      </p:sp>
      <p:pic>
        <p:nvPicPr>
          <p:cNvPr id="9" name="Image 0" descr="arrow-right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4093567" y="3200102"/>
            <a:ext cx="304800" cy="152400"/>
          </a:xfrm>
          <a:prstGeom prst="rect">
            <a:avLst/>
          </a:prstGeom>
        </p:spPr>
      </p:pic>
      <p:sp>
        <p:nvSpPr>
          <p:cNvPr id="10" name="Shape 7"/>
          <p:cNvSpPr/>
          <p:nvPr/>
        </p:nvSpPr>
        <p:spPr>
          <a:xfrm>
            <a:off x="4528542" y="2282726"/>
            <a:ext cx="3147516" cy="1987252"/>
          </a:xfrm>
          <a:prstGeom prst="roundRect">
            <a:avLst>
              <a:gd name="adj" fmla="val 4953"/>
            </a:avLst>
          </a:prstGeom>
          <a:solidFill>
            <a:srgbClr val="FBFAF6"/>
          </a:solidFill>
          <a:ln w="6350">
            <a:solidFill>
              <a:srgbClr val="DAD5C8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4785717" y="2539901"/>
            <a:ext cx="2712161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2A64A8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02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4785717" y="2854821"/>
            <a:ext cx="2712161" cy="2691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13202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Pasting our standards in</a:t>
            </a:r>
            <a:endParaRPr lang="en-US" sz="1600" dirty="0"/>
          </a:p>
        </p:txBody>
      </p:sp>
      <p:sp>
        <p:nvSpPr>
          <p:cNvPr id="13" name="Text 10"/>
          <p:cNvSpPr/>
          <p:nvPr/>
        </p:nvSpPr>
        <p:spPr>
          <a:xfrm>
            <a:off x="4785717" y="3200202"/>
            <a:ext cx="2712161" cy="5230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4A556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Better, but different every time and lost between chats.</a:t>
            </a:r>
            <a:endParaRPr lang="en-US" sz="1400" dirty="0"/>
          </a:p>
        </p:txBody>
      </p:sp>
      <p:sp>
        <p:nvSpPr>
          <p:cNvPr id="14" name="Text 11"/>
          <p:cNvSpPr/>
          <p:nvPr/>
        </p:nvSpPr>
        <p:spPr>
          <a:xfrm>
            <a:off x="4785717" y="3799483"/>
            <a:ext cx="2712161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9A5B0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Result: inconsistent</a:t>
            </a:r>
            <a:endParaRPr lang="en-US" sz="1200" dirty="0"/>
          </a:p>
        </p:txBody>
      </p:sp>
      <p:pic>
        <p:nvPicPr>
          <p:cNvPr id="15" name="Image 1" descr="arrow-right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7806234" y="3200102"/>
            <a:ext cx="304800" cy="152400"/>
          </a:xfrm>
          <a:prstGeom prst="rect">
            <a:avLst/>
          </a:prstGeom>
        </p:spPr>
      </p:pic>
      <p:sp>
        <p:nvSpPr>
          <p:cNvPr id="16" name="Shape 12"/>
          <p:cNvSpPr/>
          <p:nvPr/>
        </p:nvSpPr>
        <p:spPr>
          <a:xfrm>
            <a:off x="8238034" y="2161480"/>
            <a:ext cx="3141166" cy="2229743"/>
          </a:xfrm>
          <a:prstGeom prst="roundRect">
            <a:avLst>
              <a:gd name="adj" fmla="val 4557"/>
            </a:avLst>
          </a:prstGeom>
          <a:solidFill>
            <a:srgbClr val="0F1A24"/>
          </a:solidFill>
          <a:ln/>
        </p:spPr>
      </p:sp>
      <p:sp>
        <p:nvSpPr>
          <p:cNvPr id="17" name="Text 13"/>
          <p:cNvSpPr/>
          <p:nvPr/>
        </p:nvSpPr>
        <p:spPr>
          <a:xfrm>
            <a:off x="8492034" y="2415480"/>
            <a:ext cx="2712161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E8A33D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03</a:t>
            </a:r>
            <a:endParaRPr lang="en-US" sz="1200" dirty="0"/>
          </a:p>
        </p:txBody>
      </p:sp>
      <p:sp>
        <p:nvSpPr>
          <p:cNvPr id="18" name="Text 14"/>
          <p:cNvSpPr/>
          <p:nvPr/>
        </p:nvSpPr>
        <p:spPr>
          <a:xfrm>
            <a:off x="8492034" y="2730401"/>
            <a:ext cx="2712161" cy="2691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F4F2E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Giving the agent a role</a:t>
            </a:r>
            <a:endParaRPr lang="en-US" sz="1600" dirty="0"/>
          </a:p>
        </p:txBody>
      </p:sp>
      <p:sp>
        <p:nvSpPr>
          <p:cNvPr id="19" name="Text 15"/>
          <p:cNvSpPr/>
          <p:nvPr/>
        </p:nvSpPr>
        <p:spPr>
          <a:xfrm>
            <a:off x="8492034" y="3075781"/>
            <a:ext cx="2712161" cy="77192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B8C4C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 persona that knows our standards, with skills to apply them.</a:t>
            </a:r>
            <a:endParaRPr lang="en-US" sz="1400" dirty="0"/>
          </a:p>
        </p:txBody>
      </p:sp>
      <p:sp>
        <p:nvSpPr>
          <p:cNvPr id="20" name="Text 16"/>
          <p:cNvSpPr/>
          <p:nvPr/>
        </p:nvSpPr>
        <p:spPr>
          <a:xfrm>
            <a:off x="8492034" y="3923903"/>
            <a:ext cx="2712161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E8A33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Result: this worked</a:t>
            </a:r>
            <a:endParaRPr lang="en-US" sz="1200" dirty="0"/>
          </a:p>
        </p:txBody>
      </p:sp>
      <p:sp>
        <p:nvSpPr>
          <p:cNvPr id="21" name="Text 17"/>
          <p:cNvSpPr/>
          <p:nvPr/>
        </p:nvSpPr>
        <p:spPr>
          <a:xfrm>
            <a:off x="812800" y="4696023"/>
            <a:ext cx="9810750" cy="3199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320"/>
              </a:lnSpc>
              <a:buNone/>
            </a:pPr>
            <a:r>
              <a:rPr lang="en-US" sz="1600" dirty="0">
                <a:solidFill>
                  <a:srgbClr val="4A556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That third step has two pieces: </a:t>
            </a:r>
            <a:r>
              <a:rPr lang="en-US" sz="1600" b="1" dirty="0">
                <a:solidFill>
                  <a:srgbClr val="13202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skills</a:t>
            </a:r>
            <a:r>
              <a:rPr lang="en-US" sz="1600" dirty="0">
                <a:solidFill>
                  <a:srgbClr val="4A556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 and </a:t>
            </a:r>
            <a:r>
              <a:rPr lang="en-US" sz="1600" b="1" dirty="0">
                <a:solidFill>
                  <a:srgbClr val="13202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personas</a:t>
            </a:r>
            <a:r>
              <a:rPr lang="en-US" sz="1600" dirty="0">
                <a:solidFill>
                  <a:srgbClr val="4A556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.</a:t>
            </a:r>
            <a:endParaRPr lang="en-US" sz="16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E9E5D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spc="200" kern="0" dirty="0">
                <a:solidFill>
                  <a:srgbClr val="9A5B0E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SKILLS IN ONE MINUTE</a:t>
            </a:r>
            <a:endParaRPr lang="en-US" sz="1200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812800" y="1330920"/>
            <a:ext cx="10883392" cy="5511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4140"/>
              </a:lnSpc>
              <a:buNone/>
            </a:pPr>
            <a:r>
              <a:rPr lang="en-US" sz="3600" b="1" i="0" dirty="0">
                <a:solidFill>
                  <a:srgbClr val="13202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 skill teaches an agent how we do a task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812800" y="2161480"/>
            <a:ext cx="4826000" cy="2796183"/>
          </a:xfrm>
          <a:prstGeom prst="roundRect">
            <a:avLst>
              <a:gd name="adj" fmla="val 3634"/>
            </a:avLst>
          </a:prstGeom>
          <a:solidFill>
            <a:srgbClr val="0F1A24"/>
          </a:solidFill>
          <a:ln/>
        </p:spPr>
      </p:sp>
      <p:sp>
        <p:nvSpPr>
          <p:cNvPr id="5" name="Text 3"/>
          <p:cNvSpPr/>
          <p:nvPr/>
        </p:nvSpPr>
        <p:spPr>
          <a:xfrm>
            <a:off x="1066800" y="2415480"/>
            <a:ext cx="444754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7FB2EA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k8s-triage/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1066800" y="2679601"/>
            <a:ext cx="4447540" cy="23872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F4F2EC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└─ SKILL.md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1066800" y="2943721"/>
            <a:ext cx="4318000" cy="12700"/>
          </a:xfrm>
          <a:prstGeom prst="rect">
            <a:avLst/>
          </a:prstGeom>
          <a:solidFill>
            <a:srgbClr val="2A3C4D"/>
          </a:solidFill>
          <a:ln/>
        </p:spPr>
      </p:sp>
      <p:sp>
        <p:nvSpPr>
          <p:cNvPr id="8" name="Text 6"/>
          <p:cNvSpPr/>
          <p:nvPr/>
        </p:nvSpPr>
        <p:spPr>
          <a:xfrm>
            <a:off x="1066800" y="3007221"/>
            <a:ext cx="444754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B8C4CF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---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1066800" y="3271341"/>
            <a:ext cx="4447540" cy="23872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7FB2EA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name:</a:t>
            </a:r>
            <a:r>
              <a:rPr lang="en-US" sz="1200" dirty="0">
                <a:solidFill>
                  <a:srgbClr val="F4F2EC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 k8s-triage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1066800" y="3535462"/>
            <a:ext cx="4447540" cy="6653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7FB2EA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description:</a:t>
            </a:r>
            <a:r>
              <a:rPr lang="en-US" sz="1200" dirty="0">
                <a:solidFill>
                  <a:srgbClr val="F4F2EC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 Read-only triage of a broken Kubernetes workload. Use when asked why a pod is failing.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1066800" y="4226223"/>
            <a:ext cx="444754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B8C4CF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---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1066800" y="4490343"/>
            <a:ext cx="444754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B8C4CF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# Steps, rules, examples…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5994400" y="2416770"/>
            <a:ext cx="5546344" cy="2691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13202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Just a folder of Markdown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5994400" y="2711351"/>
            <a:ext cx="5546344" cy="2742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4A556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Lives in git and gets reviewed like code.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5994400" y="3163391"/>
            <a:ext cx="5546344" cy="2691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13202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Loaded only when needed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5994400" y="3457972"/>
            <a:ext cx="5546344" cy="5230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4A556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The agent reads the description, then opens it when a task matches.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5994400" y="4158853"/>
            <a:ext cx="5546344" cy="2691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13202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An open standard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5994400" y="4453434"/>
            <a:ext cx="5546344" cy="2742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4A556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agentskills.io: Copilot, VS Code, Cursor, Codex and more read it.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812800" y="6238280"/>
            <a:ext cx="104648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9A5B0E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Episode 2 → building your own skills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F1A2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spc="200" kern="0" dirty="0">
                <a:solidFill>
                  <a:srgbClr val="E8A33D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PERSONA: THE PROBLEM IT SOLVES</a:t>
            </a:r>
            <a:endParaRPr lang="en-US" sz="1200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812800" y="1330920"/>
            <a:ext cx="9810750" cy="1076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4140"/>
              </a:lnSpc>
              <a:buNone/>
            </a:pPr>
            <a:r>
              <a:rPr lang="en-US" sz="3600" b="1" i="0" dirty="0">
                <a:solidFill>
                  <a:srgbClr val="F4F2E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 generic AI answers like nobody in particular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815975" y="2690416"/>
            <a:ext cx="5168900" cy="1672530"/>
          </a:xfrm>
          <a:prstGeom prst="roundRect">
            <a:avLst>
              <a:gd name="adj" fmla="val 5885"/>
            </a:avLst>
          </a:prstGeom>
          <a:solidFill>
            <a:srgbClr val="182836"/>
          </a:solidFill>
          <a:ln w="6350">
            <a:solidFill>
              <a:srgbClr val="2A3C4D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73150" y="2947591"/>
            <a:ext cx="4794187" cy="2691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B8C4C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Generic assistant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151382" y="3292971"/>
            <a:ext cx="4708334" cy="8255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175768" indent="-175768">
              <a:lnSpc>
                <a:spcPts val="2100"/>
              </a:lnSpc>
              <a:buSzPct val="100000"/>
              <a:buChar char="•"/>
            </a:pPr>
            <a:r>
              <a:rPr lang="en-US" sz="1400" dirty="0">
                <a:solidFill>
                  <a:srgbClr val="B8C4C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Answers anything, to nobody's standard</a:t>
            </a:r>
            <a:endParaRPr lang="en-US" sz="1400" dirty="0"/>
          </a:p>
          <a:p>
            <a:pPr algn="l" marL="175768" indent="-175768">
              <a:lnSpc>
                <a:spcPts val="2100"/>
              </a:lnSpc>
              <a:buSzPct val="100000"/>
              <a:buChar char="•"/>
            </a:pPr>
            <a:r>
              <a:rPr lang="en-US" sz="1400" dirty="0">
                <a:solidFill>
                  <a:srgbClr val="B8C4C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Doesn't know where to stop</a:t>
            </a:r>
            <a:endParaRPr lang="en-US" sz="1400" dirty="0"/>
          </a:p>
          <a:p>
            <a:pPr algn="l" marL="175768" indent="-175768">
              <a:lnSpc>
                <a:spcPts val="2100"/>
              </a:lnSpc>
              <a:buSzPct val="100000"/>
              <a:buChar char="•"/>
            </a:pPr>
            <a:r>
              <a:rPr lang="en-US" sz="1400" dirty="0">
                <a:solidFill>
                  <a:srgbClr val="B8C4C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Same answer for a developer or an auditor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6197600" y="2693591"/>
            <a:ext cx="5175250" cy="1666180"/>
          </a:xfrm>
          <a:prstGeom prst="roundRect">
            <a:avLst>
              <a:gd name="adj" fmla="val 5717"/>
            </a:avLst>
          </a:prstGeom>
          <a:solidFill>
            <a:srgbClr val="182836"/>
          </a:solidFill>
          <a:ln w="12700">
            <a:solidFill>
              <a:srgbClr val="E8A33D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57950" y="2953941"/>
            <a:ext cx="4794187" cy="2691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F4F2E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Security engineer persona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6536182" y="3299321"/>
            <a:ext cx="4708334" cy="8255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175768" indent="-175768">
              <a:lnSpc>
                <a:spcPts val="2100"/>
              </a:lnSpc>
              <a:buSzPct val="100000"/>
              <a:buChar char="•"/>
            </a:pPr>
            <a:r>
              <a:rPr lang="en-US" sz="1400" dirty="0">
                <a:solidFill>
                  <a:srgbClr val="F4F2E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Applies our standards every time</a:t>
            </a:r>
            <a:endParaRPr lang="en-US" sz="1400" dirty="0"/>
          </a:p>
          <a:p>
            <a:pPr algn="l" marL="175768" indent="-175768">
              <a:lnSpc>
                <a:spcPts val="2100"/>
              </a:lnSpc>
              <a:buSzPct val="100000"/>
              <a:buChar char="•"/>
            </a:pPr>
            <a:r>
              <a:rPr lang="en-US" sz="1400" dirty="0">
                <a:solidFill>
                  <a:srgbClr val="F4F2E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Knows its hard limits</a:t>
            </a:r>
            <a:endParaRPr lang="en-US" sz="1400" dirty="0"/>
          </a:p>
          <a:p>
            <a:pPr algn="l" marL="175768" indent="-175768">
              <a:lnSpc>
                <a:spcPts val="2100"/>
              </a:lnSpc>
              <a:buSzPct val="100000"/>
              <a:buChar char="•"/>
            </a:pPr>
            <a:r>
              <a:rPr lang="en-US" sz="1400" dirty="0">
                <a:solidFill>
                  <a:srgbClr val="F4F2E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Flags what still needs a person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812800" y="4670921"/>
            <a:ext cx="10883392" cy="3606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640"/>
              </a:lnSpc>
              <a:buNone/>
            </a:pPr>
            <a:r>
              <a:rPr lang="en-US" sz="2200" b="1" dirty="0">
                <a:solidFill>
                  <a:srgbClr val="F4F2E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Skills say </a:t>
            </a:r>
            <a:r>
              <a:rPr lang="en-US" sz="2200" b="1" dirty="0">
                <a:solidFill>
                  <a:srgbClr val="7FB2E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how</a:t>
            </a:r>
            <a:r>
              <a:rPr lang="en-US" sz="2200" b="1" dirty="0">
                <a:solidFill>
                  <a:srgbClr val="F4F2E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. A persona says </a:t>
            </a:r>
            <a:r>
              <a:rPr lang="en-US" sz="2200" b="1" dirty="0">
                <a:solidFill>
                  <a:srgbClr val="E8A33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who</a:t>
            </a:r>
            <a:r>
              <a:rPr lang="en-US" sz="2200" b="1" dirty="0">
                <a:solidFill>
                  <a:srgbClr val="F4F2E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.</a:t>
            </a:r>
            <a:endParaRPr lang="en-US" sz="2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F2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spc="200" kern="0" dirty="0">
                <a:solidFill>
                  <a:srgbClr val="9A5B0E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KITS: HIRING A SPECIALIST</a:t>
            </a:r>
            <a:endParaRPr lang="en-US" sz="1200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812800" y="1330920"/>
            <a:ext cx="10883392" cy="5511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4140"/>
              </a:lnSpc>
              <a:buNone/>
            </a:pPr>
            <a:r>
              <a:rPr lang="en-US" sz="3600" b="1" i="0" dirty="0">
                <a:solidFill>
                  <a:srgbClr val="13202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 kit is a specialist, defined in one file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812800" y="2161480"/>
            <a:ext cx="5461000" cy="3883720"/>
          </a:xfrm>
          <a:prstGeom prst="roundRect">
            <a:avLst>
              <a:gd name="adj" fmla="val 2616"/>
            </a:avLst>
          </a:prstGeom>
          <a:solidFill>
            <a:srgbClr val="0F1A24"/>
          </a:solidFill>
          <a:ln/>
        </p:spPr>
      </p:sp>
      <p:sp>
        <p:nvSpPr>
          <p:cNvPr id="5" name="Text 3"/>
          <p:cNvSpPr/>
          <p:nvPr/>
        </p:nvSpPr>
        <p:spPr>
          <a:xfrm>
            <a:off x="1066800" y="2865239"/>
            <a:ext cx="510159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B8C4CF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{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1066800" y="3116659"/>
            <a:ext cx="5101590" cy="23872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F4F2EC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  </a:t>
            </a:r>
            <a:r>
              <a:rPr lang="en-US" sz="1200" dirty="0">
                <a:solidFill>
                  <a:srgbClr val="7FB2EA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"title"</a:t>
            </a:r>
            <a:r>
              <a:rPr lang="en-US" sz="1200" dirty="0">
                <a:solidFill>
                  <a:srgbClr val="F4F2EC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: "DevOps engineer, senior",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1066800" y="3368080"/>
            <a:ext cx="5101590" cy="23872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F4F2EC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  </a:t>
            </a:r>
            <a:r>
              <a:rPr lang="en-US" sz="1200" dirty="0">
                <a:solidFill>
                  <a:srgbClr val="E8A33D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"persona"</a:t>
            </a:r>
            <a:r>
              <a:rPr lang="en-US" sz="1200" dirty="0">
                <a:solidFill>
                  <a:srgbClr val="F4F2EC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: "devops-gov",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1066800" y="3619500"/>
            <a:ext cx="5101590" cy="23872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F4F2EC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  </a:t>
            </a:r>
            <a:r>
              <a:rPr lang="en-US" sz="1200" dirty="0">
                <a:solidFill>
                  <a:srgbClr val="7FB2EA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"skills"</a:t>
            </a:r>
            <a:r>
              <a:rPr lang="en-US" sz="1200" dirty="0">
                <a:solidFill>
                  <a:srgbClr val="F4F2EC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: ["terraform-gov",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1066800" y="3870920"/>
            <a:ext cx="5101590" cy="23872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F4F2EC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    "kubernetes-gov", "k8s-triage",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1066800" y="4122341"/>
            <a:ext cx="5101590" cy="23872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F4F2EC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    "github-actions-gov"],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1066800" y="4373761"/>
            <a:ext cx="5101590" cy="23872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F4F2EC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  </a:t>
            </a:r>
            <a:r>
              <a:rPr lang="en-US" sz="1200" dirty="0">
                <a:solidFill>
                  <a:srgbClr val="7FB2EA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"references"</a:t>
            </a:r>
            <a:r>
              <a:rPr lang="en-US" sz="1200" dirty="0">
                <a:solidFill>
                  <a:srgbClr val="F4F2EC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: ["devsecops-team"],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1066800" y="4625181"/>
            <a:ext cx="5101590" cy="23872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F4F2EC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  </a:t>
            </a:r>
            <a:r>
              <a:rPr lang="en-US" sz="1200" dirty="0">
                <a:solidFill>
                  <a:srgbClr val="7FB2EA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"mcp_servers"</a:t>
            </a:r>
            <a:r>
              <a:rPr lang="en-US" sz="1200" dirty="0">
                <a:solidFill>
                  <a:srgbClr val="F4F2EC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: ["github"],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1066800" y="4876602"/>
            <a:ext cx="5101590" cy="23872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F4F2EC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  </a:t>
            </a:r>
            <a:r>
              <a:rPr lang="en-US" sz="1200" dirty="0">
                <a:solidFill>
                  <a:srgbClr val="7FB2EA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"model"</a:t>
            </a:r>
            <a:r>
              <a:rPr lang="en-US" sz="1200" dirty="0">
                <a:solidFill>
                  <a:srgbClr val="F4F2EC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: "opus"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1066800" y="5128022"/>
            <a:ext cx="510159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B8C4CF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}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6629400" y="2975769"/>
            <a:ext cx="4892294" cy="2742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13202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persona</a:t>
            </a:r>
            <a:r>
              <a:rPr lang="en-US" sz="1400" dirty="0">
                <a:solidFill>
                  <a:srgbClr val="4A556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 · who the agent is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6629400" y="3377009"/>
            <a:ext cx="4892294" cy="2742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13202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skills</a:t>
            </a:r>
            <a:r>
              <a:rPr lang="en-US" sz="1400" dirty="0">
                <a:solidFill>
                  <a:srgbClr val="4A556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 · the procedures it can pick up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6629400" y="3778250"/>
            <a:ext cx="4892294" cy="2742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13202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references</a:t>
            </a:r>
            <a:r>
              <a:rPr lang="en-US" sz="1400" dirty="0">
                <a:solidFill>
                  <a:srgbClr val="4A556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 · team rules read every session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6629400" y="4179491"/>
            <a:ext cx="4892294" cy="2742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13202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mcp_servers</a:t>
            </a:r>
            <a:r>
              <a:rPr lang="en-US" sz="1400" dirty="0">
                <a:solidFill>
                  <a:srgbClr val="4A556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 · the only tools it gets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6629400" y="4580731"/>
            <a:ext cx="4892294" cy="2742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13202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model</a:t>
            </a:r>
            <a:r>
              <a:rPr lang="en-US" sz="1400" dirty="0">
                <a:solidFill>
                  <a:srgbClr val="4A556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 · sized to the job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6629400" y="4981972"/>
            <a:ext cx="4892294" cy="2742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13202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profile</a:t>
            </a:r>
            <a:r>
              <a:rPr lang="en-US" sz="1400" dirty="0">
                <a:solidFill>
                  <a:srgbClr val="4A556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 · run on the host or in a container</a:t>
            </a:r>
            <a:endParaRPr lang="en-US" sz="14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2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spc="200" kern="0" dirty="0">
                <a:solidFill>
                  <a:srgbClr val="9A5B0E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MUX.SNC</a:t>
            </a:r>
            <a:endParaRPr lang="en-US" sz="1200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812800" y="1280120"/>
            <a:ext cx="10883392" cy="5511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4140"/>
              </a:lnSpc>
              <a:buNone/>
            </a:pPr>
            <a:r>
              <a:rPr lang="en-US" sz="3600" b="1" i="0" dirty="0">
                <a:solidFill>
                  <a:srgbClr val="13202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Meet my team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819150" y="2066230"/>
            <a:ext cx="3407767" cy="1495822"/>
          </a:xfrm>
          <a:prstGeom prst="roundRect">
            <a:avLst>
              <a:gd name="adj" fmla="val 6368"/>
            </a:avLst>
          </a:prstGeom>
          <a:solidFill>
            <a:srgbClr val="FBFAF6"/>
          </a:solidFill>
          <a:ln w="12700">
            <a:solidFill>
              <a:srgbClr val="9A5B0E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28700" y="2275780"/>
            <a:ext cx="3078327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2A64A8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security-engineer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1028700" y="2565301"/>
            <a:ext cx="3078327" cy="5230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4A556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Least privilege, hardening and threat review.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28700" y="3139182"/>
            <a:ext cx="3078327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9A5B0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First pass before: the security review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388842" y="2063055"/>
            <a:ext cx="3414216" cy="1502172"/>
          </a:xfrm>
          <a:prstGeom prst="roundRect">
            <a:avLst>
              <a:gd name="adj" fmla="val 6552"/>
            </a:avLst>
          </a:prstGeom>
          <a:solidFill>
            <a:srgbClr val="FBFAF6"/>
          </a:solidFill>
          <a:ln w="6350">
            <a:solidFill>
              <a:srgbClr val="DAD5C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95217" y="2269430"/>
            <a:ext cx="309151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2A64A8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cmmc-analyst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4595217" y="2558951"/>
            <a:ext cx="3091510" cy="5230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4A556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Maps changes and evidence to CMMC Level 2.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4595217" y="3132832"/>
            <a:ext cx="309151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9A5B0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First pass before: compliance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7961809" y="2063055"/>
            <a:ext cx="3414216" cy="1502172"/>
          </a:xfrm>
          <a:prstGeom prst="roundRect">
            <a:avLst>
              <a:gd name="adj" fmla="val 6552"/>
            </a:avLst>
          </a:prstGeom>
          <a:solidFill>
            <a:srgbClr val="FBFAF6"/>
          </a:solidFill>
          <a:ln w="6350">
            <a:solidFill>
              <a:srgbClr val="DAD5C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168184" y="2269430"/>
            <a:ext cx="309151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2A64A8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pr-reviewer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8168184" y="2558951"/>
            <a:ext cx="3091510" cy="5230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4A556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Checks pull requests against our checklist.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8168184" y="3132832"/>
            <a:ext cx="309151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9A5B0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First pass before: a teammate's review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815975" y="3723977"/>
            <a:ext cx="3414117" cy="1489472"/>
          </a:xfrm>
          <a:prstGeom prst="roundRect">
            <a:avLst>
              <a:gd name="adj" fmla="val 6608"/>
            </a:avLst>
          </a:prstGeom>
          <a:solidFill>
            <a:srgbClr val="FBFAF6"/>
          </a:solidFill>
          <a:ln w="6350">
            <a:solidFill>
              <a:srgbClr val="DAD5C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022350" y="3930352"/>
            <a:ext cx="3091408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2A64A8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devsecops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1022350" y="4219873"/>
            <a:ext cx="3091408" cy="5230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4A556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Pipelines, infrastructure as code, our AWS baseline.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1022350" y="4793754"/>
            <a:ext cx="3091408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9A5B0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Does the build and test work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4388842" y="3723977"/>
            <a:ext cx="3414216" cy="1489472"/>
          </a:xfrm>
          <a:prstGeom prst="roundRect">
            <a:avLst>
              <a:gd name="adj" fmla="val 6608"/>
            </a:avLst>
          </a:prstGeom>
          <a:solidFill>
            <a:srgbClr val="FBFAF6"/>
          </a:solidFill>
          <a:ln w="6350">
            <a:solidFill>
              <a:srgbClr val="DAD5C8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595217" y="3930352"/>
            <a:ext cx="309151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2A64A8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dotnet-developer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4595217" y="4219873"/>
            <a:ext cx="3091510" cy="5230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4A556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Builds and fixes C#/.NET features, with tests.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4595217" y="4793754"/>
            <a:ext cx="309151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9A5B0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Does the build and test work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7958634" y="3720802"/>
            <a:ext cx="3420566" cy="1495822"/>
          </a:xfrm>
          <a:prstGeom prst="roundRect">
            <a:avLst>
              <a:gd name="adj" fmla="val 6792"/>
            </a:avLst>
          </a:prstGeom>
          <a:solidFill>
            <a:srgbClr val="0F1A24"/>
          </a:solidFill>
          <a:ln/>
        </p:spPr>
      </p:sp>
      <p:sp>
        <p:nvSpPr>
          <p:cNvPr id="25" name="Text 23"/>
          <p:cNvSpPr/>
          <p:nvPr/>
        </p:nvSpPr>
        <p:spPr>
          <a:xfrm>
            <a:off x="8161834" y="4075113"/>
            <a:ext cx="3104591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E8A33D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+ next specialist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8161834" y="4364633"/>
            <a:ext cx="3104591" cy="5230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B8C4C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 persona file and a JSON file, reviewed in a PR.</a:t>
            </a:r>
            <a:endParaRPr lang="en-US" sz="14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F1A2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52400" cy="6858000"/>
          </a:xfrm>
          <a:prstGeom prst="rect">
            <a:avLst/>
          </a:prstGeom>
          <a:solidFill>
            <a:srgbClr val="E8A33D"/>
          </a:solidFill>
          <a:ln/>
        </p:spPr>
      </p:sp>
      <p:sp>
        <p:nvSpPr>
          <p:cNvPr id="3" name="Text 1"/>
          <p:cNvSpPr/>
          <p:nvPr/>
        </p:nvSpPr>
        <p:spPr>
          <a:xfrm>
            <a:off x="812800" y="812800"/>
            <a:ext cx="1088339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spc="200" kern="0" dirty="0">
                <a:solidFill>
                  <a:srgbClr val="E8A33D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BACK TO THE TICKET</a:t>
            </a:r>
            <a:endParaRPr lang="en-US" sz="1200" dirty="0"/>
          </a:p>
        </p:txBody>
      </p:sp>
      <p:sp>
        <p:nvSpPr>
          <p:cNvPr id="4" name="Text 2"/>
          <p:cNvSpPr/>
          <p:nvPr>
            <p:ph type="title"/>
          </p:nvPr>
        </p:nvSpPr>
        <p:spPr>
          <a:xfrm>
            <a:off x="812800" y="1330920"/>
            <a:ext cx="10203180" cy="1076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4140"/>
              </a:lnSpc>
              <a:buNone/>
            </a:pPr>
            <a:r>
              <a:rPr lang="en-US" sz="3600" b="1" i="0" dirty="0">
                <a:solidFill>
                  <a:srgbClr val="F4F2E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The same IAM request, with my security engineer</a:t>
            </a:r>
            <a:endParaRPr lang="en-US" sz="3600" dirty="0"/>
          </a:p>
        </p:txBody>
      </p:sp>
      <p:sp>
        <p:nvSpPr>
          <p:cNvPr id="5" name="Shape 3"/>
          <p:cNvSpPr/>
          <p:nvPr/>
        </p:nvSpPr>
        <p:spPr>
          <a:xfrm>
            <a:off x="815975" y="2696766"/>
            <a:ext cx="2289175" cy="1398091"/>
          </a:xfrm>
          <a:prstGeom prst="roundRect">
            <a:avLst>
              <a:gd name="adj" fmla="val 7040"/>
            </a:avLst>
          </a:prstGeom>
          <a:solidFill>
            <a:srgbClr val="182836"/>
          </a:solidFill>
          <a:ln w="6350">
            <a:solidFill>
              <a:srgbClr val="2A3C4D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96950" y="2877741"/>
            <a:ext cx="198504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7FB2EA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1 · agent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996950" y="3167261"/>
            <a:ext cx="1985042" cy="2691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F4F2E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Draft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996950" y="3487241"/>
            <a:ext cx="1985042" cy="4520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B8C4C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Policy written to our least-privilege standard</a:t>
            </a:r>
            <a:endParaRPr lang="en-US" sz="1200" dirty="0"/>
          </a:p>
        </p:txBody>
      </p:sp>
      <p:pic>
        <p:nvPicPr>
          <p:cNvPr id="9" name="Image 0" descr="arrow-right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3209925" y="3332262"/>
            <a:ext cx="254000" cy="127000"/>
          </a:xfrm>
          <a:prstGeom prst="rect">
            <a:avLst/>
          </a:prstGeom>
        </p:spPr>
      </p:pic>
      <p:sp>
        <p:nvSpPr>
          <p:cNvPr id="10" name="Shape 7"/>
          <p:cNvSpPr/>
          <p:nvPr/>
        </p:nvSpPr>
        <p:spPr>
          <a:xfrm>
            <a:off x="3568700" y="2696766"/>
            <a:ext cx="2289175" cy="1398091"/>
          </a:xfrm>
          <a:prstGeom prst="roundRect">
            <a:avLst>
              <a:gd name="adj" fmla="val 7040"/>
            </a:avLst>
          </a:prstGeom>
          <a:solidFill>
            <a:srgbClr val="182836"/>
          </a:solidFill>
          <a:ln w="6350">
            <a:solidFill>
              <a:srgbClr val="2A3C4D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3749675" y="2877741"/>
            <a:ext cx="198504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7FB2EA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2 · agent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3749675" y="3167261"/>
            <a:ext cx="1985042" cy="2691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F4F2E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Explain</a:t>
            </a:r>
            <a:endParaRPr lang="en-US" sz="1600" dirty="0"/>
          </a:p>
        </p:txBody>
      </p:sp>
      <p:sp>
        <p:nvSpPr>
          <p:cNvPr id="13" name="Text 10"/>
          <p:cNvSpPr/>
          <p:nvPr/>
        </p:nvSpPr>
        <p:spPr>
          <a:xfrm>
            <a:off x="3749675" y="3487241"/>
            <a:ext cx="1985042" cy="4520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B8C4C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Every permission justified, in writing</a:t>
            </a:r>
            <a:endParaRPr lang="en-US" sz="1200" dirty="0"/>
          </a:p>
        </p:txBody>
      </p:sp>
      <p:pic>
        <p:nvPicPr>
          <p:cNvPr id="14" name="Image 1" descr="arrow-right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5962650" y="3332262"/>
            <a:ext cx="254000" cy="127000"/>
          </a:xfrm>
          <a:prstGeom prst="rect">
            <a:avLst/>
          </a:prstGeom>
        </p:spPr>
      </p:pic>
      <p:sp>
        <p:nvSpPr>
          <p:cNvPr id="15" name="Shape 11"/>
          <p:cNvSpPr/>
          <p:nvPr/>
        </p:nvSpPr>
        <p:spPr>
          <a:xfrm>
            <a:off x="6321425" y="2696766"/>
            <a:ext cx="2289175" cy="1398091"/>
          </a:xfrm>
          <a:prstGeom prst="roundRect">
            <a:avLst>
              <a:gd name="adj" fmla="val 7040"/>
            </a:avLst>
          </a:prstGeom>
          <a:solidFill>
            <a:srgbClr val="182836"/>
          </a:solidFill>
          <a:ln w="6350">
            <a:solidFill>
              <a:srgbClr val="2A3C4D"/>
            </a:solidFill>
            <a:prstDash val="solid"/>
          </a:ln>
        </p:spPr>
      </p:sp>
      <p:sp>
        <p:nvSpPr>
          <p:cNvPr id="16" name="Text 12"/>
          <p:cNvSpPr/>
          <p:nvPr/>
        </p:nvSpPr>
        <p:spPr>
          <a:xfrm>
            <a:off x="6502400" y="2877741"/>
            <a:ext cx="198504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7FB2EA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3 · me</a:t>
            </a:r>
            <a:endParaRPr lang="en-US" sz="1200" dirty="0"/>
          </a:p>
        </p:txBody>
      </p:sp>
      <p:sp>
        <p:nvSpPr>
          <p:cNvPr id="17" name="Text 13"/>
          <p:cNvSpPr/>
          <p:nvPr/>
        </p:nvSpPr>
        <p:spPr>
          <a:xfrm>
            <a:off x="6502400" y="3167261"/>
            <a:ext cx="1985042" cy="2691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F4F2E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Review</a:t>
            </a:r>
            <a:endParaRPr lang="en-US" sz="1600" dirty="0"/>
          </a:p>
        </p:txBody>
      </p:sp>
      <p:sp>
        <p:nvSpPr>
          <p:cNvPr id="18" name="Text 14"/>
          <p:cNvSpPr/>
          <p:nvPr/>
        </p:nvSpPr>
        <p:spPr>
          <a:xfrm>
            <a:off x="6502400" y="3487241"/>
            <a:ext cx="1985042" cy="4520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B8C4C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I check it, then submit in ServiceNow</a:t>
            </a:r>
            <a:endParaRPr lang="en-US" sz="1200" dirty="0"/>
          </a:p>
        </p:txBody>
      </p:sp>
      <p:pic>
        <p:nvPicPr>
          <p:cNvPr id="19" name="Image 2" descr="arrow-right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8715375" y="3332262"/>
            <a:ext cx="254000" cy="127000"/>
          </a:xfrm>
          <a:prstGeom prst="rect">
            <a:avLst/>
          </a:prstGeom>
        </p:spPr>
      </p:pic>
      <p:sp>
        <p:nvSpPr>
          <p:cNvPr id="20" name="Shape 15"/>
          <p:cNvSpPr/>
          <p:nvPr/>
        </p:nvSpPr>
        <p:spPr>
          <a:xfrm>
            <a:off x="9077325" y="2693591"/>
            <a:ext cx="2295525" cy="1404441"/>
          </a:xfrm>
          <a:prstGeom prst="roundRect">
            <a:avLst>
              <a:gd name="adj" fmla="val 6782"/>
            </a:avLst>
          </a:prstGeom>
          <a:solidFill>
            <a:srgbClr val="182836"/>
          </a:solidFill>
          <a:ln w="12700">
            <a:solidFill>
              <a:srgbClr val="E8A33D"/>
            </a:solidFill>
            <a:prstDash val="solid"/>
          </a:ln>
        </p:spPr>
      </p:sp>
      <p:sp>
        <p:nvSpPr>
          <p:cNvPr id="21" name="Text 16"/>
          <p:cNvSpPr/>
          <p:nvPr/>
        </p:nvSpPr>
        <p:spPr>
          <a:xfrm>
            <a:off x="9261475" y="2877741"/>
            <a:ext cx="198504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E8A33D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4 · security team</a:t>
            </a:r>
            <a:endParaRPr lang="en-US" sz="1200" dirty="0"/>
          </a:p>
        </p:txBody>
      </p:sp>
      <p:sp>
        <p:nvSpPr>
          <p:cNvPr id="22" name="Text 17"/>
          <p:cNvSpPr/>
          <p:nvPr/>
        </p:nvSpPr>
        <p:spPr>
          <a:xfrm>
            <a:off x="9261475" y="3167261"/>
            <a:ext cx="1985042" cy="2691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F4F2E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Approve</a:t>
            </a:r>
            <a:endParaRPr lang="en-US" sz="1600" dirty="0"/>
          </a:p>
        </p:txBody>
      </p:sp>
      <p:sp>
        <p:nvSpPr>
          <p:cNvPr id="23" name="Text 18"/>
          <p:cNvSpPr/>
          <p:nvPr/>
        </p:nvSpPr>
        <p:spPr>
          <a:xfrm>
            <a:off x="9261475" y="3487241"/>
            <a:ext cx="1985042" cy="4520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B8C4C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Accepted on the first request</a:t>
            </a:r>
            <a:endParaRPr lang="en-US" sz="1200" dirty="0"/>
          </a:p>
        </p:txBody>
      </p:sp>
      <p:sp>
        <p:nvSpPr>
          <p:cNvPr id="24" name="Text 19"/>
          <p:cNvSpPr/>
          <p:nvPr/>
        </p:nvSpPr>
        <p:spPr>
          <a:xfrm>
            <a:off x="812800" y="4409182"/>
            <a:ext cx="2462907" cy="3326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420"/>
              </a:lnSpc>
              <a:buNone/>
            </a:pPr>
            <a:r>
              <a:rPr lang="en-US" sz="2200" b="1" strike="sngStrike" dirty="0">
                <a:solidFill>
                  <a:srgbClr val="8696A5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2–3 weeks</a:t>
            </a:r>
            <a:endParaRPr lang="en-US" sz="2200" dirty="0"/>
          </a:p>
        </p:txBody>
      </p:sp>
      <p:sp>
        <p:nvSpPr>
          <p:cNvPr id="25" name="Text 20"/>
          <p:cNvSpPr/>
          <p:nvPr/>
        </p:nvSpPr>
        <p:spPr>
          <a:xfrm>
            <a:off x="812800" y="4767263"/>
            <a:ext cx="2869406" cy="787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6000"/>
              </a:lnSpc>
              <a:buNone/>
            </a:pPr>
            <a:r>
              <a:rPr lang="en-US" sz="6000" b="1" dirty="0">
                <a:solidFill>
                  <a:srgbClr val="E8A33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~1 day</a:t>
            </a:r>
            <a:endParaRPr lang="en-US" sz="6000" dirty="0"/>
          </a:p>
        </p:txBody>
      </p:sp>
      <p:sp>
        <p:nvSpPr>
          <p:cNvPr id="26" name="Text 21"/>
          <p:cNvSpPr/>
          <p:nvPr/>
        </p:nvSpPr>
        <p:spPr>
          <a:xfrm>
            <a:off x="812800" y="5580063"/>
            <a:ext cx="2462907" cy="2742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B8C4C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to build and refine the policy</a:t>
            </a:r>
            <a:endParaRPr lang="en-US" sz="1400" dirty="0"/>
          </a:p>
        </p:txBody>
      </p:sp>
      <p:sp>
        <p:nvSpPr>
          <p:cNvPr id="27" name="Text 22"/>
          <p:cNvSpPr/>
          <p:nvPr/>
        </p:nvSpPr>
        <p:spPr>
          <a:xfrm>
            <a:off x="3965972" y="4409182"/>
            <a:ext cx="1861079" cy="3326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420"/>
              </a:lnSpc>
              <a:buNone/>
            </a:pPr>
            <a:r>
              <a:rPr lang="en-US" sz="2200" b="1" strike="sngStrike" dirty="0">
                <a:solidFill>
                  <a:srgbClr val="8696A5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3 rounds</a:t>
            </a:r>
            <a:endParaRPr lang="en-US" sz="2200" dirty="0"/>
          </a:p>
        </p:txBody>
      </p:sp>
      <p:sp>
        <p:nvSpPr>
          <p:cNvPr id="28" name="Text 23"/>
          <p:cNvSpPr/>
          <p:nvPr/>
        </p:nvSpPr>
        <p:spPr>
          <a:xfrm>
            <a:off x="3965972" y="4767263"/>
            <a:ext cx="1861079" cy="787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6000"/>
              </a:lnSpc>
              <a:buNone/>
            </a:pPr>
            <a:r>
              <a:rPr lang="en-US" sz="6000" b="1" dirty="0">
                <a:solidFill>
                  <a:srgbClr val="E8A33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0</a:t>
            </a:r>
            <a:endParaRPr lang="en-US" sz="6000" dirty="0"/>
          </a:p>
        </p:txBody>
      </p:sp>
      <p:sp>
        <p:nvSpPr>
          <p:cNvPr id="29" name="Text 24"/>
          <p:cNvSpPr/>
          <p:nvPr/>
        </p:nvSpPr>
        <p:spPr>
          <a:xfrm>
            <a:off x="3965972" y="5580063"/>
            <a:ext cx="2168247" cy="2742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B8C4C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revisions from security</a:t>
            </a:r>
            <a:endParaRPr lang="en-US" sz="14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E9E5D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spc="200" kern="0" dirty="0">
                <a:solidFill>
                  <a:srgbClr val="9A5B0E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IT ISN'T JUST APPROVALS</a:t>
            </a:r>
            <a:endParaRPr lang="en-US" sz="1200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812800" y="1330920"/>
            <a:ext cx="10203180" cy="1076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4140"/>
              </a:lnSpc>
              <a:buNone/>
            </a:pPr>
            <a:r>
              <a:rPr lang="en-US" sz="3600" b="1" i="0" dirty="0">
                <a:solidFill>
                  <a:srgbClr val="13202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Bottlerocket on EKS: weeks of testing in about two days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812800" y="2687241"/>
            <a:ext cx="6069584" cy="787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6000"/>
              </a:lnSpc>
              <a:buNone/>
            </a:pPr>
            <a:r>
              <a:rPr lang="en-US" sz="6000" b="1" strike="sngStrike" dirty="0">
                <a:solidFill>
                  <a:srgbClr val="4A556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Weeks</a:t>
            </a:r>
            <a:endParaRPr lang="en-US" sz="6000" dirty="0"/>
          </a:p>
        </p:txBody>
      </p:sp>
      <p:sp>
        <p:nvSpPr>
          <p:cNvPr id="5" name="Text 3"/>
          <p:cNvSpPr/>
          <p:nvPr/>
        </p:nvSpPr>
        <p:spPr>
          <a:xfrm>
            <a:off x="812800" y="3500041"/>
            <a:ext cx="6069584" cy="2742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4A556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usual time to test and verify a new node OS</a:t>
            </a:r>
            <a:endParaRPr lang="en-US" sz="1400" dirty="0"/>
          </a:p>
        </p:txBody>
      </p:sp>
      <p:pic>
        <p:nvPicPr>
          <p:cNvPr id="6" name="Image 0" descr="arrow-down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812800" y="3901281"/>
            <a:ext cx="203200" cy="30480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812800" y="4358481"/>
            <a:ext cx="6069584" cy="787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6000"/>
              </a:lnSpc>
              <a:buNone/>
            </a:pPr>
            <a:r>
              <a:rPr lang="en-US" sz="6000" b="1" dirty="0">
                <a:solidFill>
                  <a:srgbClr val="9A5B0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~2 days</a:t>
            </a:r>
            <a:endParaRPr lang="en-US" sz="6000" dirty="0"/>
          </a:p>
        </p:txBody>
      </p:sp>
      <p:sp>
        <p:nvSpPr>
          <p:cNvPr id="8" name="Text 5"/>
          <p:cNvSpPr/>
          <p:nvPr/>
        </p:nvSpPr>
        <p:spPr>
          <a:xfrm>
            <a:off x="812800" y="5171281"/>
            <a:ext cx="6069584" cy="2742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13202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with my agents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7318375" y="3054846"/>
            <a:ext cx="4057650" cy="1997571"/>
          </a:xfrm>
          <a:prstGeom prst="roundRect">
            <a:avLst>
              <a:gd name="adj" fmla="val 4927"/>
            </a:avLst>
          </a:prstGeom>
          <a:solidFill>
            <a:srgbClr val="FBFAF6"/>
          </a:solidFill>
          <a:ln w="6350">
            <a:solidFill>
              <a:srgbClr val="CFC9BA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7575550" y="3312021"/>
            <a:ext cx="3649599" cy="2691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13202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What we verified</a:t>
            </a:r>
            <a:endParaRPr lang="en-US" sz="1600" dirty="0"/>
          </a:p>
        </p:txBody>
      </p:sp>
      <p:sp>
        <p:nvSpPr>
          <p:cNvPr id="11" name="Text 8"/>
          <p:cNvSpPr/>
          <p:nvPr/>
        </p:nvSpPr>
        <p:spPr>
          <a:xfrm>
            <a:off x="7653782" y="3657402"/>
            <a:ext cx="3563747" cy="11632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175768" indent="-175768">
              <a:lnSpc>
                <a:spcPts val="2240"/>
              </a:lnSpc>
              <a:buSzPct val="100000"/>
              <a:buChar char="•"/>
            </a:pPr>
            <a:r>
              <a:rPr lang="en-US" sz="1400" dirty="0">
                <a:solidFill>
                  <a:srgbClr val="4A556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FIPS mode enabled</a:t>
            </a:r>
            <a:endParaRPr lang="en-US" sz="1400" dirty="0"/>
          </a:p>
          <a:p>
            <a:pPr algn="l" marL="175768" indent="-175768">
              <a:lnSpc>
                <a:spcPts val="2240"/>
              </a:lnSpc>
              <a:buSzPct val="100000"/>
              <a:buChar char="•"/>
            </a:pPr>
            <a:r>
              <a:rPr lang="en-US" sz="1400" dirty="0">
                <a:solidFill>
                  <a:srgbClr val="4A556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Our workloads run on it</a:t>
            </a:r>
            <a:endParaRPr lang="en-US" sz="1400" dirty="0"/>
          </a:p>
          <a:p>
            <a:pPr algn="l" marL="175768" indent="-175768">
              <a:lnSpc>
                <a:spcPts val="2240"/>
              </a:lnSpc>
              <a:buSzPct val="100000"/>
              <a:buChar char="•"/>
            </a:pPr>
            <a:r>
              <a:rPr lang="en-US" sz="1400" dirty="0">
                <a:solidFill>
                  <a:srgbClr val="4A556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DNS resolves correctly</a:t>
            </a:r>
            <a:endParaRPr lang="en-US" sz="1400" dirty="0"/>
          </a:p>
          <a:p>
            <a:pPr algn="l" marL="175768" indent="-175768">
              <a:lnSpc>
                <a:spcPts val="2240"/>
              </a:lnSpc>
              <a:buSzPct val="100000"/>
              <a:buChar char="•"/>
            </a:pPr>
            <a:r>
              <a:rPr lang="en-US" sz="1400" dirty="0">
                <a:solidFill>
                  <a:srgbClr val="4A556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Logs arrive and check out</a:t>
            </a:r>
            <a:endParaRPr lang="en-US" sz="14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E9E5D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spc="200" kern="0" dirty="0">
                <a:solidFill>
                  <a:srgbClr val="9A5B0E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TRUST AND GUARDRAILS</a:t>
            </a:r>
            <a:endParaRPr lang="en-US" sz="1200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812800" y="1280120"/>
            <a:ext cx="10883392" cy="5511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4140"/>
              </a:lnSpc>
              <a:buNone/>
            </a:pPr>
            <a:r>
              <a:rPr lang="en-US" sz="3600" b="1" i="0" dirty="0">
                <a:solidFill>
                  <a:srgbClr val="13202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Agents prepare the work. People still approve it.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815975" y="2063055"/>
            <a:ext cx="3414117" cy="1459111"/>
          </a:xfrm>
          <a:prstGeom prst="roundRect">
            <a:avLst>
              <a:gd name="adj" fmla="val 6746"/>
            </a:avLst>
          </a:prstGeom>
          <a:solidFill>
            <a:srgbClr val="FBFAF6"/>
          </a:solidFill>
          <a:ln w="6350">
            <a:solidFill>
              <a:srgbClr val="CFC9BA"/>
            </a:solidFill>
            <a:prstDash val="solid"/>
          </a:ln>
        </p:spPr>
      </p:sp>
      <p:pic>
        <p:nvPicPr>
          <p:cNvPr id="5" name="Image 0" descr="Key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022350" y="2269430"/>
            <a:ext cx="254000" cy="25400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022350" y="2599630"/>
            <a:ext cx="3091408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400" b="1" dirty="0">
                <a:solidFill>
                  <a:srgbClr val="13202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No real credentials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1022350" y="2889151"/>
            <a:ext cx="3091408" cy="4520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4A556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Secrets stay on the host and in the MCP servers.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4388842" y="2063055"/>
            <a:ext cx="3414216" cy="1459111"/>
          </a:xfrm>
          <a:prstGeom prst="roundRect">
            <a:avLst>
              <a:gd name="adj" fmla="val 6746"/>
            </a:avLst>
          </a:prstGeom>
          <a:solidFill>
            <a:srgbClr val="FBFAF6"/>
          </a:solidFill>
          <a:ln w="6350">
            <a:solidFill>
              <a:srgbClr val="CFC9BA"/>
            </a:solidFill>
            <a:prstDash val="solid"/>
          </a:ln>
        </p:spPr>
      </p:sp>
      <p:pic>
        <p:nvPicPr>
          <p:cNvPr id="9" name="Image 1" descr="Tool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4595217" y="2269430"/>
            <a:ext cx="254000" cy="25400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4595217" y="2599630"/>
            <a:ext cx="309151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400" b="1" dirty="0">
                <a:solidFill>
                  <a:srgbClr val="13202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Least tools</a:t>
            </a:r>
            <a:endParaRPr lang="en-US" sz="1400" dirty="0"/>
          </a:p>
        </p:txBody>
      </p:sp>
      <p:sp>
        <p:nvSpPr>
          <p:cNvPr id="11" name="Text 7"/>
          <p:cNvSpPr/>
          <p:nvPr/>
        </p:nvSpPr>
        <p:spPr>
          <a:xfrm>
            <a:off x="4595217" y="2889151"/>
            <a:ext cx="3091510" cy="4520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4A556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 kit names the only MCP servers its agent gets.</a:t>
            </a:r>
            <a:endParaRPr lang="en-US" sz="1200" dirty="0"/>
          </a:p>
        </p:txBody>
      </p:sp>
      <p:sp>
        <p:nvSpPr>
          <p:cNvPr id="12" name="Shape 8"/>
          <p:cNvSpPr/>
          <p:nvPr/>
        </p:nvSpPr>
        <p:spPr>
          <a:xfrm>
            <a:off x="7961809" y="2063055"/>
            <a:ext cx="3414216" cy="1459111"/>
          </a:xfrm>
          <a:prstGeom prst="roundRect">
            <a:avLst>
              <a:gd name="adj" fmla="val 6746"/>
            </a:avLst>
          </a:prstGeom>
          <a:solidFill>
            <a:srgbClr val="FBFAF6"/>
          </a:solidFill>
          <a:ln w="6350">
            <a:solidFill>
              <a:srgbClr val="CFC9BA"/>
            </a:solidFill>
            <a:prstDash val="solid"/>
          </a:ln>
        </p:spPr>
      </p:sp>
      <p:pic>
        <p:nvPicPr>
          <p:cNvPr id="13" name="Image 2" descr="Users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8168184" y="2269430"/>
            <a:ext cx="254000" cy="254000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8168184" y="2599630"/>
            <a:ext cx="309151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400" b="1" dirty="0">
                <a:solidFill>
                  <a:srgbClr val="13202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 person merges</a:t>
            </a:r>
            <a:endParaRPr lang="en-US" sz="1400" dirty="0"/>
          </a:p>
        </p:txBody>
      </p:sp>
      <p:sp>
        <p:nvSpPr>
          <p:cNvPr id="15" name="Text 10"/>
          <p:cNvSpPr/>
          <p:nvPr/>
        </p:nvSpPr>
        <p:spPr>
          <a:xfrm>
            <a:off x="8168184" y="2889151"/>
            <a:ext cx="3091510" cy="4520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4A556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Agents propose; nothing applies to a live environment.</a:t>
            </a:r>
            <a:endParaRPr lang="en-US" sz="1200" dirty="0"/>
          </a:p>
        </p:txBody>
      </p:sp>
      <p:sp>
        <p:nvSpPr>
          <p:cNvPr id="16" name="Shape 11"/>
          <p:cNvSpPr/>
          <p:nvPr/>
        </p:nvSpPr>
        <p:spPr>
          <a:xfrm>
            <a:off x="815975" y="3680916"/>
            <a:ext cx="3414117" cy="1459111"/>
          </a:xfrm>
          <a:prstGeom prst="roundRect">
            <a:avLst>
              <a:gd name="adj" fmla="val 6746"/>
            </a:avLst>
          </a:prstGeom>
          <a:solidFill>
            <a:srgbClr val="FBFAF6"/>
          </a:solidFill>
          <a:ln w="6350">
            <a:solidFill>
              <a:srgbClr val="CFC9BA"/>
            </a:solidFill>
            <a:prstDash val="solid"/>
          </a:ln>
        </p:spPr>
      </p:sp>
      <p:pic>
        <p:nvPicPr>
          <p:cNvPr id="17" name="Image 3" descr="Code">    </p:cNvPr>
          <p:cNvPicPr>
            <a:picLocks noChangeAspect="1"/>
          </p:cNvPicPr>
          <p:nvPr/>
        </p:nvPicPr>
        <p:blipFill>
          <a:blip r:embed="rId4"/>
          <a:srcRect l="0" r="0" t="0" b="0"/>
          <a:stretch/>
        </p:blipFill>
        <p:spPr>
          <a:xfrm>
            <a:off x="1022350" y="3887291"/>
            <a:ext cx="254000" cy="254000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1022350" y="4217491"/>
            <a:ext cx="3091408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400" b="1" dirty="0">
                <a:solidFill>
                  <a:srgbClr val="13202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Reviewed in PRs</a:t>
            </a:r>
            <a:endParaRPr lang="en-US" sz="1400" dirty="0"/>
          </a:p>
        </p:txBody>
      </p:sp>
      <p:sp>
        <p:nvSpPr>
          <p:cNvPr id="19" name="Text 13"/>
          <p:cNvSpPr/>
          <p:nvPr/>
        </p:nvSpPr>
        <p:spPr>
          <a:xfrm>
            <a:off x="1022350" y="4507012"/>
            <a:ext cx="3091408" cy="4520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4A556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The skill library changes only through review.</a:t>
            </a:r>
            <a:endParaRPr lang="en-US" sz="1200" dirty="0"/>
          </a:p>
        </p:txBody>
      </p:sp>
      <p:sp>
        <p:nvSpPr>
          <p:cNvPr id="20" name="Shape 14"/>
          <p:cNvSpPr/>
          <p:nvPr/>
        </p:nvSpPr>
        <p:spPr>
          <a:xfrm>
            <a:off x="4388842" y="3680916"/>
            <a:ext cx="3414216" cy="1459111"/>
          </a:xfrm>
          <a:prstGeom prst="roundRect">
            <a:avLst>
              <a:gd name="adj" fmla="val 6746"/>
            </a:avLst>
          </a:prstGeom>
          <a:solidFill>
            <a:srgbClr val="FBFAF6"/>
          </a:solidFill>
          <a:ln w="6350">
            <a:solidFill>
              <a:srgbClr val="CFC9BA"/>
            </a:solidFill>
            <a:prstDash val="solid"/>
          </a:ln>
        </p:spPr>
      </p:sp>
      <p:pic>
        <p:nvPicPr>
          <p:cNvPr id="21" name="Image 4" descr="Search">    </p:cNvPr>
          <p:cNvPicPr>
            <a:picLocks noChangeAspect="1"/>
          </p:cNvPicPr>
          <p:nvPr/>
        </p:nvPicPr>
        <p:blipFill>
          <a:blip r:embed="rId5"/>
          <a:srcRect l="0" r="0" t="0" b="0"/>
          <a:stretch/>
        </p:blipFill>
        <p:spPr>
          <a:xfrm>
            <a:off x="4595217" y="3887291"/>
            <a:ext cx="254000" cy="254000"/>
          </a:xfrm>
          <a:prstGeom prst="rect">
            <a:avLst/>
          </a:prstGeom>
        </p:spPr>
      </p:pic>
      <p:sp>
        <p:nvSpPr>
          <p:cNvPr id="22" name="Text 15"/>
          <p:cNvSpPr/>
          <p:nvPr/>
        </p:nvSpPr>
        <p:spPr>
          <a:xfrm>
            <a:off x="4595217" y="4217491"/>
            <a:ext cx="309151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400" b="1" dirty="0">
                <a:solidFill>
                  <a:srgbClr val="13202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Scanned for secrets</a:t>
            </a:r>
            <a:endParaRPr lang="en-US" sz="1400" dirty="0"/>
          </a:p>
        </p:txBody>
      </p:sp>
      <p:sp>
        <p:nvSpPr>
          <p:cNvPr id="23" name="Text 16"/>
          <p:cNvSpPr/>
          <p:nvPr/>
        </p:nvSpPr>
        <p:spPr>
          <a:xfrm>
            <a:off x="4595217" y="4507012"/>
            <a:ext cx="309151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4A556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 kit with a key or token in it is refused.</a:t>
            </a:r>
            <a:endParaRPr lang="en-US" sz="1200" dirty="0"/>
          </a:p>
        </p:txBody>
      </p:sp>
      <p:sp>
        <p:nvSpPr>
          <p:cNvPr id="24" name="Shape 17"/>
          <p:cNvSpPr/>
          <p:nvPr/>
        </p:nvSpPr>
        <p:spPr>
          <a:xfrm>
            <a:off x="7961809" y="3680916"/>
            <a:ext cx="3414216" cy="1459111"/>
          </a:xfrm>
          <a:prstGeom prst="roundRect">
            <a:avLst>
              <a:gd name="adj" fmla="val 6746"/>
            </a:avLst>
          </a:prstGeom>
          <a:solidFill>
            <a:srgbClr val="FBFAF6"/>
          </a:solidFill>
          <a:ln w="6350">
            <a:solidFill>
              <a:srgbClr val="CFC9BA"/>
            </a:solidFill>
            <a:prstDash val="solid"/>
          </a:ln>
        </p:spPr>
      </p:sp>
      <p:pic>
        <p:nvPicPr>
          <p:cNvPr id="25" name="Image 5" descr="Lock">    </p:cNvPr>
          <p:cNvPicPr>
            <a:picLocks noChangeAspect="1"/>
          </p:cNvPicPr>
          <p:nvPr/>
        </p:nvPicPr>
        <p:blipFill>
          <a:blip r:embed="rId6"/>
          <a:srcRect l="0" r="0" t="0" b="0"/>
          <a:stretch/>
        </p:blipFill>
        <p:spPr>
          <a:xfrm>
            <a:off x="8168184" y="3887291"/>
            <a:ext cx="254000" cy="254000"/>
          </a:xfrm>
          <a:prstGeom prst="rect">
            <a:avLst/>
          </a:prstGeom>
        </p:spPr>
      </p:pic>
      <p:sp>
        <p:nvSpPr>
          <p:cNvPr id="26" name="Text 18"/>
          <p:cNvSpPr/>
          <p:nvPr/>
        </p:nvSpPr>
        <p:spPr>
          <a:xfrm>
            <a:off x="8168184" y="4217491"/>
            <a:ext cx="309151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400" b="1" dirty="0">
                <a:solidFill>
                  <a:srgbClr val="13202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Guardrails and audit</a:t>
            </a:r>
            <a:endParaRPr lang="en-US" sz="1400" dirty="0"/>
          </a:p>
        </p:txBody>
      </p:sp>
      <p:sp>
        <p:nvSpPr>
          <p:cNvPr id="27" name="Text 19"/>
          <p:cNvSpPr/>
          <p:nvPr/>
        </p:nvSpPr>
        <p:spPr>
          <a:xfrm>
            <a:off x="8168184" y="4507012"/>
            <a:ext cx="3091510" cy="4520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4A556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Hooks stop risky commands; actions are logged.</a:t>
            </a:r>
            <a:endParaRPr lang="en-US" sz="1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F1A2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52400" cy="6858000"/>
          </a:xfrm>
          <a:prstGeom prst="rect">
            <a:avLst/>
          </a:prstGeom>
          <a:solidFill>
            <a:srgbClr val="E8A33D"/>
          </a:solidFill>
          <a:ln/>
        </p:spPr>
      </p:sp>
      <p:sp>
        <p:nvSpPr>
          <p:cNvPr id="3" name="Text 1"/>
          <p:cNvSpPr/>
          <p:nvPr/>
        </p:nvSpPr>
        <p:spPr>
          <a:xfrm>
            <a:off x="812800" y="812800"/>
            <a:ext cx="1088339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spc="200" kern="0" dirty="0">
                <a:solidFill>
                  <a:srgbClr val="E8A33D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WHY IT MATTERS</a:t>
            </a:r>
            <a:endParaRPr lang="en-US" sz="1200" dirty="0"/>
          </a:p>
        </p:txBody>
      </p:sp>
      <p:sp>
        <p:nvSpPr>
          <p:cNvPr id="4" name="Text 2"/>
          <p:cNvSpPr/>
          <p:nvPr>
            <p:ph type="title"/>
          </p:nvPr>
        </p:nvSpPr>
        <p:spPr>
          <a:xfrm>
            <a:off x="812800" y="1330920"/>
            <a:ext cx="10883392" cy="5511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4140"/>
              </a:lnSpc>
              <a:buNone/>
            </a:pPr>
            <a:r>
              <a:rPr lang="en-US" sz="3600" b="1" i="0" dirty="0">
                <a:solidFill>
                  <a:srgbClr val="F4F2E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What changes for us</a:t>
            </a:r>
            <a:endParaRPr lang="en-US" sz="3600" dirty="0"/>
          </a:p>
        </p:txBody>
      </p:sp>
      <p:sp>
        <p:nvSpPr>
          <p:cNvPr id="5" name="Shape 3"/>
          <p:cNvSpPr/>
          <p:nvPr/>
        </p:nvSpPr>
        <p:spPr>
          <a:xfrm>
            <a:off x="812800" y="2174180"/>
            <a:ext cx="5207000" cy="0"/>
          </a:xfrm>
          <a:prstGeom prst="line">
            <a:avLst/>
          </a:prstGeom>
          <a:noFill/>
          <a:ln w="25400">
            <a:solidFill>
              <a:srgbClr val="7FB2E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12800" y="2339280"/>
            <a:ext cx="5363210" cy="3606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640"/>
              </a:lnSpc>
              <a:buNone/>
            </a:pPr>
            <a:r>
              <a:rPr lang="en-US" sz="2200" b="1" dirty="0">
                <a:solidFill>
                  <a:srgbClr val="F4F2E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First-pass approvals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812800" y="2750741"/>
            <a:ext cx="5363210" cy="5230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B8C4C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Work reaches security and compliance already meeting our standards.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6172200" y="2174180"/>
            <a:ext cx="5207000" cy="0"/>
          </a:xfrm>
          <a:prstGeom prst="line">
            <a:avLst/>
          </a:prstGeom>
          <a:noFill/>
          <a:ln w="25400">
            <a:solidFill>
              <a:srgbClr val="7FB2E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172200" y="2339280"/>
            <a:ext cx="5363210" cy="3606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640"/>
              </a:lnSpc>
              <a:buNone/>
            </a:pPr>
            <a:r>
              <a:rPr lang="en-US" sz="2200" b="1" dirty="0">
                <a:solidFill>
                  <a:srgbClr val="F4F2E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Days, not weeks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6172200" y="2750741"/>
            <a:ext cx="5363210" cy="2742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B8C4C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Testing and research that used to take weeks now takes days.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812800" y="4090591"/>
            <a:ext cx="5207000" cy="0"/>
          </a:xfrm>
          <a:prstGeom prst="line">
            <a:avLst/>
          </a:prstGeom>
          <a:noFill/>
          <a:ln w="25400">
            <a:solidFill>
              <a:srgbClr val="E8A33D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12800" y="4255691"/>
            <a:ext cx="5363210" cy="3606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640"/>
              </a:lnSpc>
              <a:buNone/>
            </a:pPr>
            <a:r>
              <a:rPr lang="en-US" sz="2200" b="1" dirty="0">
                <a:solidFill>
                  <a:srgbClr val="F4F2E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Auditable by default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812800" y="4667151"/>
            <a:ext cx="5363210" cy="2742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B8C4C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Procedures live in git; agent work lands as reviewable commits.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6172200" y="4090591"/>
            <a:ext cx="5207000" cy="0"/>
          </a:xfrm>
          <a:prstGeom prst="line">
            <a:avLst/>
          </a:prstGeom>
          <a:noFill/>
          <a:ln w="25400">
            <a:solidFill>
              <a:srgbClr val="E8A33D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172200" y="4255691"/>
            <a:ext cx="5363210" cy="3606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640"/>
              </a:lnSpc>
              <a:buNone/>
            </a:pPr>
            <a:r>
              <a:rPr lang="en-US" sz="2200" b="1" dirty="0">
                <a:solidFill>
                  <a:srgbClr val="F4F2E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Right-sized cost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6172200" y="4667151"/>
            <a:ext cx="5363210" cy="5230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B8C4C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Routine work runs on cheaper models; hard problems on the strongest.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812800" y="6238280"/>
            <a:ext cx="104648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E8A33D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Up next → demo in mux.snc · Episode 2 → building your own skills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A Team of Agents: Episode 1">
  <a:themeElements>
    <a:clrScheme name="A Team of Agents: Episode 1">
      <a:dk1>
        <a:srgbClr val="13202C"/>
      </a:dk1>
      <a:lt1>
        <a:srgbClr val="F4F2EC"/>
      </a:lt1>
      <a:dk2>
        <a:srgbClr val="4B555C"/>
      </a:dk2>
      <a:lt2>
        <a:srgbClr val="DEDDD9"/>
      </a:lt2>
      <a:accent1>
        <a:srgbClr val="9A5B0E"/>
      </a:accent1>
      <a:accent2>
        <a:srgbClr val="E8A33D"/>
      </a:accent2>
      <a:accent3>
        <a:srgbClr val="2A64A8"/>
      </a:accent3>
      <a:accent4>
        <a:srgbClr val="7FB2EA"/>
      </a:accent4>
      <a:accent5>
        <a:srgbClr val="4A5563"/>
      </a:accent5>
      <a:accent6>
        <a:srgbClr val="B8C4CF"/>
      </a:accent6>
      <a:hlink>
        <a:srgbClr val="0563C1"/>
      </a:hlink>
      <a:folHlink>
        <a:srgbClr val="954F72"/>
      </a:folHlink>
    </a:clrScheme>
    <a:fontScheme name="A Team of Agents: Episode 1">
      <a:majorFont>
        <a:latin typeface="IBM Plex Sans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IBM Plex San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 Team of Agents: Episode 1</dc:title>
  <dc:subject/>
  <dc:creator/>
  <cp:lastModifiedBy/>
  <cp:revision>1</cp:revision>
  <dcterms:created xsi:type="dcterms:W3CDTF">2026-10-15T20:27:08Z</dcterms:created>
  <dcterms:modified xsi:type="dcterms:W3CDTF">2026-10-15T20:27:08Z</dcterms:modified>
</cp:coreProperties>
</file>