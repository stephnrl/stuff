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has three parts: first, what "agent skills" are, for anyone who hasn't heard the term; second, the piece I've added on top, personas, and how I bundle both into "kits"; third, a live demo of sncfleet.ai, the terminal app I use to run agents with those kits on real DevSecOps work. The panel on the right is the whole talk in four lines: who the agent is, how it works, what it knows, and what it's allowed to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from the IBM video. A large language model is trained on the internet, so it knows facts: what Terraform is, what CMMC is. What it doesn't have is procedural knowledge: the specific way our team does the work. Today we usually fix that by pasting long instructions into a chat every time, which is inconsistent and gets lost. Skills are the fix: write the procedure down once, in a file, and let the agent load it when it's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IBM video lays out four kinds of knowledge an agent can use. One: what's baked into the model. Two: tools, through MCP, the Model Context Protocol, which is how an agent calls GitHub or Jira. Three: facts, through retrieval, RAG. Four: procedures, which is what skills add. The video also compares this to human memory: semantic, episodic and procedural. The dark card on the right is what I add: a persona. Skills tell the agent how to do a task; the persona tells it who it is while doing it. That's the part that makes it behave like a member of our team rather than a generic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surprises people: a skill is not a model, a plugin binary or a service. It's a folder with a Markdown file called SKILL.md. The top of the file has two required fields: a name, and a description that says what the skill does and when to use it. The description is what the agent uses to decide whether to pick the skill up, so it matters most. Below that is the procedure in plain text. Optionally the folder holds scripts the agent can run, reference docs, and templates or data. This example is a real skill from my library: read-only Kubernetes triage. Because it's just files, it lives in git, gets reviewed in pull requests, and has history like any other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put everything in one giant prompt? Because context is limited and expensive, and a model given too much gets less focused. Skills load in three stages. At startup the agent sees only each skill's name and description, roughly a hundred tokens each. When a task matches a description, it reads that one skill's full instructions; the spec recommends keeping those under five thousand tokens. Only then, if a step needs it, does it open a script or a reference file. So we can give an agent a large library and it only pays for what it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worth stressing for leadership: skills are an open standard, documented at agentskills.io. Anthropic created the format and released it openly, and it's now read by a long list of tools, including GitHub Copilot, VS Code, Cursor, Gemini CLI and OpenAI's Codex. That means the procedures we write aren't tied to one vendor or one model. If we change tools, the skills come with us. The site has the spec, a quickstart, and a validator, skills-ref, that checks a skill's format. I'll pull the site up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addition. A skill is a procedure, but procedures need judgment: who is following it, to what standard, and where they must stop. That's the persona. It's also a Markdown file, written like a role description for a new hire: your role, how you work here, and what you never do. The examples on this slide come from my DevOps persona. The bottom line is the interesting part: two kits can share exactly the same skills and differ only in persona and model. My junior DevOps kit runs on a cheaper model, handles well-scoped work, and marks its pull request "needs senior review" when it hits IAM, networking, encryption or Terraform state. The senior kit takes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kit is how sncfleet.ai puts the pieces together. It's one JSON file that says: this persona, these skills, these team references that are read every session, these MCP servers and no others, and this model. Think of it as a job description plus the toolbox for one hire. When I start an agent, I pick a kit, and everything it lists gets installed into that agent's workspace. Change the kit file, and every agent started afterward gets the change. This example is from my original open-source version; the work kits follow the same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kits we run in sncfleet.ai today. Each is a persona plus its skills. [Fill in the key skills for each before presenting.] Point out that adding a role doesn't mean building a new tool: it's a persona file, a few skills, and a kit JSON, all reviewed in a pull request like any other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happens when I start an agent. I pick a kit. sncfleet.ai gives that agent its own branch and checkout, or its own container, so several agents can work at once without colliding. It copies the persona, skills and team rules into that workspace and limits it to the MCP servers the kit names. The agent then runs as that persona, pulling in skills only as the task calls for them. The output is commits on its own branch, and a person reviews and merges. Two design points: everything runs in parallel tabs, and the agent never holds real credentials. It has a stand-in token, and a proxy on my machine holds the real session and the tool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IBM video makes the point that skills which run code or touch external systems carry real risks, like prompt injection and tool poisoning. So the design assumes the agent can be wrong or manipulated. It never holds real credentials. Each kit limits which tools it gets. It proposes changes on a branch and never applies anything to a live environment; a person merges and the pipeline deploys. The skill library itself is code, so changes to it go through pull-request review, and sncfleet.ai scans kits for keys and tokens and refuses to install one with a hit. Every agent gets a guardrail hook that stops risky commands, and actions go to an audit trail. [Confirm these match the work version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leadership, four things. Consistency: the way our best engineer does a task becomes the default, instead of depending on who's on shift. Auditability: the procedures are versioned files, and everything an agent does arrives as commits a person reviews, which matters for CMMC. Portability: it's an open standard, so we're not betting on a single vendor. Cost: each kit chooses its model, so routine work runs on cheaper models and only the hard work uses the most capable one. Then switch straight to the terminal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3202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61480"/>
            <a:ext cx="10566400" cy="3883720"/>
          </a:xfrm>
          <a:prstGeom prst="rect">
            <a:avLst/>
          </a:prstGeom>
          <a:noFill/>
          <a:ln/>
        </p:spPr>
        <p:txBody>
          <a:bodyPr wrap="square" lIns="0" tIns="0" rIns="0" bIns="0" rtlCol="0" anchor="t"/>
          <a:lstStyle>
            <a:lvl1pPr algn="l" indent="0" marL="0">
              <a:lnSpc>
                <a:spcPct val="140000"/>
              </a:lnSpc>
              <a:buNone/>
              <a:defRPr lang="en-US" sz="1600" dirty="0">
                <a:solidFill>
                  <a:srgbClr val="13202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3202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61480"/>
            <a:ext cx="10566400" cy="3883720"/>
          </a:xfrm>
          <a:prstGeom prst="rect">
            <a:avLst/>
          </a:prstGeom>
          <a:noFill/>
          <a:ln/>
        </p:spPr>
        <p:txBody>
          <a:bodyPr wrap="square" lIns="0" tIns="0" rIns="0" bIns="0" rtlCol="0" anchor="t"/>
          <a:lstStyle>
            <a:lvl1pPr algn="l" indent="0" marL="0">
              <a:lnSpc>
                <a:spcPct val="140000"/>
              </a:lnSpc>
              <a:buNone/>
              <a:defRPr lang="en-US" sz="1600" dirty="0">
                <a:solidFill>
                  <a:srgbClr val="13202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4"/>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Shape 1"/>
          <p:cNvSpPr/>
          <p:nvPr/>
        </p:nvSpPr>
        <p:spPr>
          <a:xfrm>
            <a:off x="7496175" y="1273175"/>
            <a:ext cx="3879850" cy="2533650"/>
          </a:xfrm>
          <a:prstGeom prst="roundRect">
            <a:avLst>
              <a:gd name="adj" fmla="val 3885"/>
            </a:avLst>
          </a:prstGeom>
          <a:solidFill>
            <a:srgbClr val="182836"/>
          </a:solidFill>
          <a:ln w="6350">
            <a:solidFill>
              <a:srgbClr val="2A3C4D"/>
            </a:solidFill>
            <a:prstDash val="solid"/>
          </a:ln>
        </p:spPr>
      </p:sp>
      <p:sp>
        <p:nvSpPr>
          <p:cNvPr id="4" name="Text 2"/>
          <p:cNvSpPr/>
          <p:nvPr/>
        </p:nvSpPr>
        <p:spPr>
          <a:xfrm>
            <a:off x="7747000" y="14986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kit: devsecops</a:t>
            </a:r>
            <a:endParaRPr lang="en-US" sz="1200" dirty="0"/>
          </a:p>
        </p:txBody>
      </p:sp>
      <p:sp>
        <p:nvSpPr>
          <p:cNvPr id="5" name="Text 3"/>
          <p:cNvSpPr/>
          <p:nvPr/>
        </p:nvSpPr>
        <p:spPr>
          <a:xfrm>
            <a:off x="7747000" y="19050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persona     who it is</a:t>
            </a:r>
            <a:endParaRPr lang="en-US" sz="1200" dirty="0"/>
          </a:p>
        </p:txBody>
      </p:sp>
      <p:sp>
        <p:nvSpPr>
          <p:cNvPr id="6" name="Text 4"/>
          <p:cNvSpPr/>
          <p:nvPr/>
        </p:nvSpPr>
        <p:spPr>
          <a:xfrm>
            <a:off x="7747000" y="22606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skills      how it works</a:t>
            </a:r>
            <a:endParaRPr lang="en-US" sz="1200" dirty="0"/>
          </a:p>
        </p:txBody>
      </p:sp>
      <p:sp>
        <p:nvSpPr>
          <p:cNvPr id="7" name="Text 5"/>
          <p:cNvSpPr/>
          <p:nvPr/>
        </p:nvSpPr>
        <p:spPr>
          <a:xfrm>
            <a:off x="7747000" y="26162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references  what it knows</a:t>
            </a:r>
            <a:endParaRPr lang="en-US" sz="1200" dirty="0"/>
          </a:p>
        </p:txBody>
      </p:sp>
      <p:sp>
        <p:nvSpPr>
          <p:cNvPr id="8" name="Text 6"/>
          <p:cNvSpPr/>
          <p:nvPr/>
        </p:nvSpPr>
        <p:spPr>
          <a:xfrm>
            <a:off x="7747000" y="29718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mcp_servers  what it can touch</a:t>
            </a:r>
            <a:endParaRPr lang="en-US" sz="1200" dirty="0"/>
          </a:p>
        </p:txBody>
      </p:sp>
      <p:sp>
        <p:nvSpPr>
          <p:cNvPr id="9" name="Text 7"/>
          <p:cNvSpPr/>
          <p:nvPr/>
        </p:nvSpPr>
        <p:spPr>
          <a:xfrm>
            <a:off x="812800" y="180349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AGENTIC ENGINEERING · SNCFLEET.AI</a:t>
            </a:r>
            <a:endParaRPr lang="en-US" sz="1200" dirty="0"/>
          </a:p>
        </p:txBody>
      </p:sp>
      <p:sp>
        <p:nvSpPr>
          <p:cNvPr id="10" name="Text 8"/>
          <p:cNvSpPr/>
          <p:nvPr>
            <p:ph type="title"/>
          </p:nvPr>
        </p:nvSpPr>
        <p:spPr>
          <a:xfrm>
            <a:off x="812800" y="2270820"/>
            <a:ext cx="640969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2EC"/>
                </a:solidFill>
                <a:latin typeface="IBM Plex Sans" pitchFamily="34" charset="0"/>
                <a:ea typeface="IBM Plex Sans" pitchFamily="34" charset="-122"/>
                <a:cs typeface="IBM Plex Sans" pitchFamily="34" charset="-120"/>
              </a:rPr>
              <a:t>Skills, Personas &amp; Kits</a:t>
            </a:r>
            <a:endParaRPr lang="en-US" sz="6000" dirty="0"/>
          </a:p>
        </p:txBody>
      </p:sp>
      <p:sp>
        <p:nvSpPr>
          <p:cNvPr id="11" name="Text 9"/>
          <p:cNvSpPr/>
          <p:nvPr/>
        </p:nvSpPr>
        <p:spPr>
          <a:xfrm>
            <a:off x="812800" y="4125020"/>
            <a:ext cx="627888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8C4CF"/>
                </a:solidFill>
                <a:latin typeface="IBM Plex Sans" pitchFamily="34" charset="0"/>
                <a:ea typeface="IBM Plex Sans" pitchFamily="34" charset="-122"/>
                <a:cs typeface="IBM Plex Sans" pitchFamily="34" charset="-120"/>
              </a:rPr>
              <a:t>How we teach AI agents to work the way our team works</a:t>
            </a:r>
            <a:endParaRPr lang="en-US" sz="22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IBM Plex Sans" pitchFamily="34" charset="0"/>
                <a:ea typeface="IBM Plex Sans" pitchFamily="34" charset="-122"/>
                <a:cs typeface="IBM Plex Sans" pitchFamily="34" charset="-120"/>
              </a:rPr>
              <a:t>[Your name] · DevSecOps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381720"/>
            <a:ext cx="9810750"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A model knows a lot of facts. It doesn't know how </a:t>
            </a:r>
            <a:r>
              <a:rPr lang="en-US" sz="3600" b="1" i="0" dirty="0">
                <a:solidFill>
                  <a:srgbClr val="2A64A8"/>
                </a:solidFill>
                <a:latin typeface="IBM Plex Sans" pitchFamily="34" charset="0"/>
                <a:ea typeface="IBM Plex Sans" pitchFamily="34" charset="-122"/>
                <a:cs typeface="IBM Plex Sans" pitchFamily="34" charset="-120"/>
              </a:rPr>
              <a:t>our</a:t>
            </a:r>
            <a:r>
              <a:rPr lang="en-US" sz="3600" b="1" i="0" dirty="0">
                <a:solidFill>
                  <a:srgbClr val="13202C"/>
                </a:solidFill>
                <a:latin typeface="IBM Plex Sans" pitchFamily="34" charset="0"/>
                <a:ea typeface="IBM Plex Sans" pitchFamily="34" charset="-122"/>
                <a:cs typeface="IBM Plex Sans" pitchFamily="34" charset="-120"/>
              </a:rPr>
              <a:t> work gets done.</a:t>
            </a:r>
            <a:endParaRPr lang="en-US" sz="3600" dirty="0"/>
          </a:p>
        </p:txBody>
      </p:sp>
      <p:sp>
        <p:nvSpPr>
          <p:cNvPr id="4" name="Shape 2"/>
          <p:cNvSpPr/>
          <p:nvPr/>
        </p:nvSpPr>
        <p:spPr>
          <a:xfrm>
            <a:off x="815975" y="2792016"/>
            <a:ext cx="5168900" cy="1786830"/>
          </a:xfrm>
          <a:prstGeom prst="roundRect">
            <a:avLst>
              <a:gd name="adj" fmla="val 5508"/>
            </a:avLst>
          </a:prstGeom>
          <a:solidFill>
            <a:srgbClr val="FBFAF6"/>
          </a:solidFill>
          <a:ln w="6350">
            <a:solidFill>
              <a:srgbClr val="DAD5C8"/>
            </a:solidFill>
            <a:prstDash val="solid"/>
          </a:ln>
        </p:spPr>
      </p:sp>
      <p:sp>
        <p:nvSpPr>
          <p:cNvPr id="5" name="Text 3"/>
          <p:cNvSpPr/>
          <p:nvPr/>
        </p:nvSpPr>
        <p:spPr>
          <a:xfrm>
            <a:off x="1073150" y="3049191"/>
            <a:ext cx="479418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What it already knows</a:t>
            </a:r>
            <a:endParaRPr lang="en-US" sz="1600" dirty="0"/>
          </a:p>
        </p:txBody>
      </p:sp>
      <p:sp>
        <p:nvSpPr>
          <p:cNvPr id="6" name="Text 4"/>
          <p:cNvSpPr/>
          <p:nvPr/>
        </p:nvSpPr>
        <p:spPr>
          <a:xfrm>
            <a:off x="1130808" y="3394571"/>
            <a:ext cx="4728908" cy="9398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What Terraform, AKS and GitHub Actions are</a:t>
            </a:r>
            <a:endParaRPr lang="en-US" sz="1600" dirty="0"/>
          </a:p>
          <a:p>
            <a:pPr algn="l" marL="196342" indent="-196342">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What CMMC Level 2 asks for, in general</a:t>
            </a:r>
            <a:endParaRPr lang="en-US" sz="1600" dirty="0"/>
          </a:p>
          <a:p>
            <a:pPr algn="l" marL="196342" indent="-196342">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C# and .NET syntax and idioms</a:t>
            </a:r>
            <a:endParaRPr lang="en-US" sz="1600" dirty="0"/>
          </a:p>
        </p:txBody>
      </p:sp>
      <p:sp>
        <p:nvSpPr>
          <p:cNvPr id="7" name="Shape 5"/>
          <p:cNvSpPr/>
          <p:nvPr/>
        </p:nvSpPr>
        <p:spPr>
          <a:xfrm>
            <a:off x="6197600" y="2795191"/>
            <a:ext cx="5175250" cy="1780480"/>
          </a:xfrm>
          <a:prstGeom prst="roundRect">
            <a:avLst>
              <a:gd name="adj" fmla="val 5350"/>
            </a:avLst>
          </a:prstGeom>
          <a:solidFill>
            <a:srgbClr val="FBFAF6"/>
          </a:solidFill>
          <a:ln w="12700">
            <a:solidFill>
              <a:srgbClr val="9A5B0E"/>
            </a:solidFill>
            <a:prstDash val="solid"/>
          </a:ln>
        </p:spPr>
      </p:sp>
      <p:sp>
        <p:nvSpPr>
          <p:cNvPr id="8" name="Text 6"/>
          <p:cNvSpPr/>
          <p:nvPr/>
        </p:nvSpPr>
        <p:spPr>
          <a:xfrm>
            <a:off x="6457950" y="3055541"/>
            <a:ext cx="479418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What it can't know</a:t>
            </a:r>
            <a:endParaRPr lang="en-US" sz="1600" dirty="0"/>
          </a:p>
        </p:txBody>
      </p:sp>
      <p:sp>
        <p:nvSpPr>
          <p:cNvPr id="9" name="Text 7"/>
          <p:cNvSpPr/>
          <p:nvPr/>
        </p:nvSpPr>
        <p:spPr>
          <a:xfrm>
            <a:off x="6515608" y="3400921"/>
            <a:ext cx="4728908" cy="9398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Our pipeline rules and approval gates</a:t>
            </a:r>
            <a:endParaRPr lang="en-US" sz="1600" dirty="0"/>
          </a:p>
          <a:p>
            <a:pPr algn="l" marL="196342" indent="-196342">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How we write up CMMC evidence</a:t>
            </a:r>
            <a:endParaRPr lang="en-US" sz="1600" dirty="0"/>
          </a:p>
          <a:p>
            <a:pPr algn="l" marL="196342" indent="-196342">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Our PR checklist and what we never do</a:t>
            </a:r>
            <a:endParaRPr lang="en-US" sz="1600" dirty="0"/>
          </a:p>
        </p:txBody>
      </p:sp>
      <p:sp>
        <p:nvSpPr>
          <p:cNvPr id="10" name="Text 8"/>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Framing from IBM Technology, "What AI Agent Skills Are and How They Work" (Martin Keen)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FOUR KINDS OF KNOWLEDGE, PLUS ONE</a:t>
            </a:r>
            <a:endParaRPr lang="en-US" sz="1200" dirty="0"/>
          </a:p>
        </p:txBody>
      </p:sp>
      <p:sp>
        <p:nvSpPr>
          <p:cNvPr id="3" name="Text 1"/>
          <p:cNvSpPr/>
          <p:nvPr>
            <p:ph type="title"/>
          </p:nvPr>
        </p:nvSpPr>
        <p:spPr>
          <a:xfrm>
            <a:off x="812800" y="1381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What an agent draws on</a:t>
            </a:r>
            <a:endParaRPr lang="en-US" sz="3600" dirty="0"/>
          </a:p>
        </p:txBody>
      </p:sp>
      <p:sp>
        <p:nvSpPr>
          <p:cNvPr id="4" name="Shape 2"/>
          <p:cNvSpPr/>
          <p:nvPr/>
        </p:nvSpPr>
        <p:spPr>
          <a:xfrm>
            <a:off x="815975" y="2266255"/>
            <a:ext cx="1987550" cy="3775770"/>
          </a:xfrm>
          <a:prstGeom prst="roundRect">
            <a:avLst>
              <a:gd name="adj" fmla="val 4952"/>
            </a:avLst>
          </a:prstGeom>
          <a:solidFill>
            <a:srgbClr val="FBFAF6"/>
          </a:solidFill>
          <a:ln w="6350">
            <a:solidFill>
              <a:srgbClr val="DAD5C8"/>
            </a:solidFill>
            <a:prstDash val="solid"/>
          </a:ln>
        </p:spPr>
      </p:sp>
      <p:sp>
        <p:nvSpPr>
          <p:cNvPr id="5" name="Text 3"/>
          <p:cNvSpPr/>
          <p:nvPr/>
        </p:nvSpPr>
        <p:spPr>
          <a:xfrm>
            <a:off x="1022350" y="2472630"/>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01 · model</a:t>
            </a:r>
            <a:endParaRPr lang="en-US" sz="1200" dirty="0"/>
          </a:p>
        </p:txBody>
      </p:sp>
      <p:sp>
        <p:nvSpPr>
          <p:cNvPr id="6" name="Text 4"/>
          <p:cNvSpPr/>
          <p:nvPr/>
        </p:nvSpPr>
        <p:spPr>
          <a:xfrm>
            <a:off x="1022350" y="281295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Model context</a:t>
            </a:r>
            <a:endParaRPr lang="en-US" sz="1600" dirty="0"/>
          </a:p>
        </p:txBody>
      </p:sp>
      <p:sp>
        <p:nvSpPr>
          <p:cNvPr id="7" name="Text 5"/>
          <p:cNvSpPr/>
          <p:nvPr/>
        </p:nvSpPr>
        <p:spPr>
          <a:xfrm>
            <a:off x="1022350" y="3183731"/>
            <a:ext cx="162560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3"/>
                </a:solidFill>
                <a:latin typeface="IBM Plex Sans" pitchFamily="34" charset="0"/>
                <a:ea typeface="IBM Plex Sans" pitchFamily="34" charset="-122"/>
                <a:cs typeface="IBM Plex Sans" pitchFamily="34" charset="-120"/>
              </a:rPr>
              <a:t>What the LLM learned in training: general facts and language.</a:t>
            </a:r>
            <a:endParaRPr lang="en-US" sz="1200" dirty="0"/>
          </a:p>
        </p:txBody>
      </p:sp>
      <p:sp>
        <p:nvSpPr>
          <p:cNvPr id="8" name="Shape 6"/>
          <p:cNvSpPr/>
          <p:nvPr/>
        </p:nvSpPr>
        <p:spPr>
          <a:xfrm>
            <a:off x="2962275" y="2266255"/>
            <a:ext cx="1987550" cy="3775770"/>
          </a:xfrm>
          <a:prstGeom prst="roundRect">
            <a:avLst>
              <a:gd name="adj" fmla="val 4952"/>
            </a:avLst>
          </a:prstGeom>
          <a:solidFill>
            <a:srgbClr val="FBFAF6"/>
          </a:solidFill>
          <a:ln w="6350">
            <a:solidFill>
              <a:srgbClr val="DAD5C8"/>
            </a:solidFill>
            <a:prstDash val="solid"/>
          </a:ln>
        </p:spPr>
      </p:sp>
      <p:sp>
        <p:nvSpPr>
          <p:cNvPr id="9" name="Text 7"/>
          <p:cNvSpPr/>
          <p:nvPr/>
        </p:nvSpPr>
        <p:spPr>
          <a:xfrm>
            <a:off x="3168650" y="2472630"/>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02 · MCP</a:t>
            </a:r>
            <a:endParaRPr lang="en-US" sz="1200" dirty="0"/>
          </a:p>
        </p:txBody>
      </p:sp>
      <p:sp>
        <p:nvSpPr>
          <p:cNvPr id="10" name="Text 8"/>
          <p:cNvSpPr/>
          <p:nvPr/>
        </p:nvSpPr>
        <p:spPr>
          <a:xfrm>
            <a:off x="3168650" y="281295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Tools</a:t>
            </a:r>
            <a:endParaRPr lang="en-US" sz="1600" dirty="0"/>
          </a:p>
        </p:txBody>
      </p:sp>
      <p:sp>
        <p:nvSpPr>
          <p:cNvPr id="11" name="Text 9"/>
          <p:cNvSpPr/>
          <p:nvPr/>
        </p:nvSpPr>
        <p:spPr>
          <a:xfrm>
            <a:off x="3168650" y="3183731"/>
            <a:ext cx="162560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3"/>
                </a:solidFill>
                <a:latin typeface="IBM Plex Sans" pitchFamily="34" charset="0"/>
                <a:ea typeface="IBM Plex Sans" pitchFamily="34" charset="-122"/>
                <a:cs typeface="IBM Plex Sans" pitchFamily="34" charset="-120"/>
              </a:rPr>
              <a:t>Model Context Protocol servers let it call APIs: GitHub, Jira, scanners.</a:t>
            </a:r>
            <a:endParaRPr lang="en-US" sz="1200" dirty="0"/>
          </a:p>
        </p:txBody>
      </p:sp>
      <p:sp>
        <p:nvSpPr>
          <p:cNvPr id="12" name="Shape 10"/>
          <p:cNvSpPr/>
          <p:nvPr/>
        </p:nvSpPr>
        <p:spPr>
          <a:xfrm>
            <a:off x="5108575" y="2266255"/>
            <a:ext cx="1987550" cy="3775770"/>
          </a:xfrm>
          <a:prstGeom prst="roundRect">
            <a:avLst>
              <a:gd name="adj" fmla="val 4952"/>
            </a:avLst>
          </a:prstGeom>
          <a:solidFill>
            <a:srgbClr val="FBFAF6"/>
          </a:solidFill>
          <a:ln w="6350">
            <a:solidFill>
              <a:srgbClr val="DAD5C8"/>
            </a:solidFill>
            <a:prstDash val="solid"/>
          </a:ln>
        </p:spPr>
      </p:sp>
      <p:sp>
        <p:nvSpPr>
          <p:cNvPr id="13" name="Text 11"/>
          <p:cNvSpPr/>
          <p:nvPr/>
        </p:nvSpPr>
        <p:spPr>
          <a:xfrm>
            <a:off x="5314950" y="2472630"/>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03 · RAG</a:t>
            </a:r>
            <a:endParaRPr lang="en-US" sz="1200" dirty="0"/>
          </a:p>
        </p:txBody>
      </p:sp>
      <p:sp>
        <p:nvSpPr>
          <p:cNvPr id="14" name="Text 12"/>
          <p:cNvSpPr/>
          <p:nvPr/>
        </p:nvSpPr>
        <p:spPr>
          <a:xfrm>
            <a:off x="5314950" y="281295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Facts</a:t>
            </a:r>
            <a:endParaRPr lang="en-US" sz="1600" dirty="0"/>
          </a:p>
        </p:txBody>
      </p:sp>
      <p:sp>
        <p:nvSpPr>
          <p:cNvPr id="15" name="Text 13"/>
          <p:cNvSpPr/>
          <p:nvPr/>
        </p:nvSpPr>
        <p:spPr>
          <a:xfrm>
            <a:off x="5314950" y="3183731"/>
            <a:ext cx="162560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3"/>
                </a:solidFill>
                <a:latin typeface="IBM Plex Sans" pitchFamily="34" charset="0"/>
                <a:ea typeface="IBM Plex Sans" pitchFamily="34" charset="-122"/>
                <a:cs typeface="IBM Plex Sans" pitchFamily="34" charset="-120"/>
              </a:rPr>
              <a:t>Retrieval pulls in current documents and data it wasn't trained on.</a:t>
            </a:r>
            <a:endParaRPr lang="en-US" sz="1200" dirty="0"/>
          </a:p>
        </p:txBody>
      </p:sp>
      <p:sp>
        <p:nvSpPr>
          <p:cNvPr id="16" name="Shape 14"/>
          <p:cNvSpPr/>
          <p:nvPr/>
        </p:nvSpPr>
        <p:spPr>
          <a:xfrm>
            <a:off x="7254875" y="2266255"/>
            <a:ext cx="1987550" cy="3775770"/>
          </a:xfrm>
          <a:prstGeom prst="roundRect">
            <a:avLst>
              <a:gd name="adj" fmla="val 4952"/>
            </a:avLst>
          </a:prstGeom>
          <a:solidFill>
            <a:srgbClr val="FBFAF6"/>
          </a:solidFill>
          <a:ln w="6350">
            <a:solidFill>
              <a:srgbClr val="DAD5C8"/>
            </a:solidFill>
            <a:prstDash val="solid"/>
          </a:ln>
        </p:spPr>
      </p:sp>
      <p:sp>
        <p:nvSpPr>
          <p:cNvPr id="17" name="Text 15"/>
          <p:cNvSpPr/>
          <p:nvPr/>
        </p:nvSpPr>
        <p:spPr>
          <a:xfrm>
            <a:off x="7461250" y="2472630"/>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04 · skills</a:t>
            </a:r>
            <a:endParaRPr lang="en-US" sz="1200" dirty="0"/>
          </a:p>
        </p:txBody>
      </p:sp>
      <p:sp>
        <p:nvSpPr>
          <p:cNvPr id="18" name="Text 16"/>
          <p:cNvSpPr/>
          <p:nvPr/>
        </p:nvSpPr>
        <p:spPr>
          <a:xfrm>
            <a:off x="7461250" y="281295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Procedures</a:t>
            </a:r>
            <a:endParaRPr lang="en-US" sz="1600" dirty="0"/>
          </a:p>
        </p:txBody>
      </p:sp>
      <p:sp>
        <p:nvSpPr>
          <p:cNvPr id="19" name="Text 17"/>
          <p:cNvSpPr/>
          <p:nvPr/>
        </p:nvSpPr>
        <p:spPr>
          <a:xfrm>
            <a:off x="7461250" y="3183731"/>
            <a:ext cx="162560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3"/>
                </a:solidFill>
                <a:latin typeface="IBM Plex Sans" pitchFamily="34" charset="0"/>
                <a:ea typeface="IBM Plex Sans" pitchFamily="34" charset="-122"/>
                <a:cs typeface="IBM Plex Sans" pitchFamily="34" charset="-120"/>
              </a:rPr>
              <a:t>Skills tell it how a task is done: the steps, order and judgment.</a:t>
            </a:r>
            <a:endParaRPr lang="en-US" sz="1200" dirty="0"/>
          </a:p>
        </p:txBody>
      </p:sp>
      <p:sp>
        <p:nvSpPr>
          <p:cNvPr id="20" name="Shape 18"/>
          <p:cNvSpPr/>
          <p:nvPr/>
        </p:nvSpPr>
        <p:spPr>
          <a:xfrm>
            <a:off x="9398000" y="2263080"/>
            <a:ext cx="1981200" cy="3782120"/>
          </a:xfrm>
          <a:prstGeom prst="roundRect">
            <a:avLst>
              <a:gd name="adj" fmla="val 5128"/>
            </a:avLst>
          </a:prstGeom>
          <a:solidFill>
            <a:srgbClr val="0F1A24"/>
          </a:solidFill>
          <a:ln/>
        </p:spPr>
      </p:sp>
      <p:sp>
        <p:nvSpPr>
          <p:cNvPr id="21" name="Text 19"/>
          <p:cNvSpPr/>
          <p:nvPr/>
        </p:nvSpPr>
        <p:spPr>
          <a:xfrm>
            <a:off x="9601200" y="2466280"/>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JetBrains Mono" pitchFamily="49" charset="0"/>
                <a:ea typeface="JetBrains Mono" pitchFamily="49" charset="-122"/>
                <a:cs typeface="JetBrains Mono" pitchFamily="49" charset="-120"/>
              </a:rPr>
              <a:t>+ persona</a:t>
            </a:r>
            <a:endParaRPr lang="en-US" sz="1200" dirty="0"/>
          </a:p>
        </p:txBody>
      </p:sp>
      <p:sp>
        <p:nvSpPr>
          <p:cNvPr id="22" name="Text 20"/>
          <p:cNvSpPr/>
          <p:nvPr/>
        </p:nvSpPr>
        <p:spPr>
          <a:xfrm>
            <a:off x="9601200" y="2806601"/>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Identity</a:t>
            </a:r>
            <a:endParaRPr lang="en-US" sz="1600" dirty="0"/>
          </a:p>
        </p:txBody>
      </p:sp>
      <p:sp>
        <p:nvSpPr>
          <p:cNvPr id="23" name="Text 21"/>
          <p:cNvSpPr/>
          <p:nvPr/>
        </p:nvSpPr>
        <p:spPr>
          <a:xfrm>
            <a:off x="9601200" y="3177381"/>
            <a:ext cx="162560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4CF"/>
                </a:solidFill>
                <a:latin typeface="IBM Plex Sans" pitchFamily="34" charset="0"/>
                <a:ea typeface="IBM Plex Sans" pitchFamily="34" charset="-122"/>
                <a:cs typeface="IBM Plex Sans" pitchFamily="34" charset="-120"/>
              </a:rPr>
              <a:t>Who it is: its role, its standards and its hard limits.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ANATOMY OF A SKILL</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A skill is just a folder</a:t>
            </a:r>
            <a:endParaRPr lang="en-US" sz="3600" dirty="0"/>
          </a:p>
        </p:txBody>
      </p:sp>
      <p:sp>
        <p:nvSpPr>
          <p:cNvPr id="4" name="Shape 2"/>
          <p:cNvSpPr/>
          <p:nvPr/>
        </p:nvSpPr>
        <p:spPr>
          <a:xfrm>
            <a:off x="812800" y="2161480"/>
            <a:ext cx="5207000" cy="3883720"/>
          </a:xfrm>
          <a:prstGeom prst="roundRect">
            <a:avLst>
              <a:gd name="adj" fmla="val 2616"/>
            </a:avLst>
          </a:prstGeom>
          <a:solidFill>
            <a:srgbClr val="0F1A24"/>
          </a:solidFill>
          <a:ln/>
        </p:spPr>
      </p:sp>
      <p:sp>
        <p:nvSpPr>
          <p:cNvPr id="5" name="Text 3"/>
          <p:cNvSpPr/>
          <p:nvPr/>
        </p:nvSpPr>
        <p:spPr>
          <a:xfrm>
            <a:off x="1066800" y="2415480"/>
            <a:ext cx="4839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k8s-triage/</a:t>
            </a:r>
            <a:endParaRPr lang="en-US" sz="1200" dirty="0"/>
          </a:p>
        </p:txBody>
      </p:sp>
      <p:sp>
        <p:nvSpPr>
          <p:cNvPr id="6" name="Text 4"/>
          <p:cNvSpPr/>
          <p:nvPr/>
        </p:nvSpPr>
        <p:spPr>
          <a:xfrm>
            <a:off x="1066800" y="2679601"/>
            <a:ext cx="48399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SKILL.md     </a:t>
            </a:r>
            <a:r>
              <a:rPr lang="en-US" sz="1200" dirty="0">
                <a:solidFill>
                  <a:srgbClr val="E8A33D"/>
                </a:solidFill>
                <a:latin typeface="JetBrains Mono" pitchFamily="49" charset="0"/>
                <a:ea typeface="JetBrains Mono" pitchFamily="49" charset="-122"/>
                <a:cs typeface="JetBrains Mono" pitchFamily="49" charset="-120"/>
              </a:rPr>
              <a:t>required</a:t>
            </a:r>
            <a:endParaRPr lang="en-US" sz="1200" dirty="0"/>
          </a:p>
        </p:txBody>
      </p:sp>
      <p:sp>
        <p:nvSpPr>
          <p:cNvPr id="7" name="Text 5"/>
          <p:cNvSpPr/>
          <p:nvPr/>
        </p:nvSpPr>
        <p:spPr>
          <a:xfrm>
            <a:off x="1066800" y="2943721"/>
            <a:ext cx="48399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scripts/     code it can run</a:t>
            </a:r>
            <a:endParaRPr lang="en-US" sz="1200" dirty="0"/>
          </a:p>
        </p:txBody>
      </p:sp>
      <p:sp>
        <p:nvSpPr>
          <p:cNvPr id="8" name="Text 6"/>
          <p:cNvSpPr/>
          <p:nvPr/>
        </p:nvSpPr>
        <p:spPr>
          <a:xfrm>
            <a:off x="1066800" y="3207841"/>
            <a:ext cx="48399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references/  docs it reads</a:t>
            </a:r>
            <a:endParaRPr lang="en-US" sz="1200" dirty="0"/>
          </a:p>
        </p:txBody>
      </p:sp>
      <p:sp>
        <p:nvSpPr>
          <p:cNvPr id="9" name="Text 7"/>
          <p:cNvSpPr/>
          <p:nvPr/>
        </p:nvSpPr>
        <p:spPr>
          <a:xfrm>
            <a:off x="1066800" y="3471962"/>
            <a:ext cx="48399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assets/      templates, data</a:t>
            </a:r>
            <a:endParaRPr lang="en-US" sz="1200" dirty="0"/>
          </a:p>
        </p:txBody>
      </p:sp>
      <p:sp>
        <p:nvSpPr>
          <p:cNvPr id="10" name="Shape 8"/>
          <p:cNvSpPr/>
          <p:nvPr/>
        </p:nvSpPr>
        <p:spPr>
          <a:xfrm>
            <a:off x="1066800" y="3736082"/>
            <a:ext cx="4699000" cy="12700"/>
          </a:xfrm>
          <a:prstGeom prst="rect">
            <a:avLst/>
          </a:prstGeom>
          <a:solidFill>
            <a:srgbClr val="2A3C4D"/>
          </a:solidFill>
          <a:ln/>
        </p:spPr>
      </p:sp>
      <p:sp>
        <p:nvSpPr>
          <p:cNvPr id="11" name="Text 9"/>
          <p:cNvSpPr/>
          <p:nvPr/>
        </p:nvSpPr>
        <p:spPr>
          <a:xfrm>
            <a:off x="1066800" y="3799582"/>
            <a:ext cx="4839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a:t>
            </a:r>
            <a:endParaRPr lang="en-US" sz="1200" dirty="0"/>
          </a:p>
        </p:txBody>
      </p:sp>
      <p:sp>
        <p:nvSpPr>
          <p:cNvPr id="12" name="Text 10"/>
          <p:cNvSpPr/>
          <p:nvPr/>
        </p:nvSpPr>
        <p:spPr>
          <a:xfrm>
            <a:off x="1066800" y="4063702"/>
            <a:ext cx="48399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name:</a:t>
            </a:r>
            <a:r>
              <a:rPr lang="en-US" sz="1200" dirty="0">
                <a:solidFill>
                  <a:srgbClr val="F4F2EC"/>
                </a:solidFill>
                <a:latin typeface="JetBrains Mono" pitchFamily="49" charset="0"/>
                <a:ea typeface="JetBrains Mono" pitchFamily="49" charset="-122"/>
                <a:cs typeface="JetBrains Mono" pitchFamily="49" charset="-120"/>
              </a:rPr>
              <a:t> k8s-triage</a:t>
            </a:r>
            <a:endParaRPr lang="en-US" sz="1200" dirty="0"/>
          </a:p>
        </p:txBody>
      </p:sp>
      <p:sp>
        <p:nvSpPr>
          <p:cNvPr id="13" name="Text 11"/>
          <p:cNvSpPr/>
          <p:nvPr/>
        </p:nvSpPr>
        <p:spPr>
          <a:xfrm>
            <a:off x="1066800" y="4327823"/>
            <a:ext cx="48399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description:</a:t>
            </a:r>
            <a:r>
              <a:rPr lang="en-US" sz="1200" dirty="0">
                <a:solidFill>
                  <a:srgbClr val="F4F2EC"/>
                </a:solidFill>
                <a:latin typeface="JetBrains Mono" pitchFamily="49" charset="0"/>
                <a:ea typeface="JetBrains Mono" pitchFamily="49" charset="-122"/>
                <a:cs typeface="JetBrains Mono" pitchFamily="49" charset="-120"/>
              </a:rPr>
              <a:t> Read-only triage of a broken Kubernetes workload. Use when asked why a pod is failing.</a:t>
            </a:r>
            <a:endParaRPr lang="en-US" sz="1200" dirty="0"/>
          </a:p>
        </p:txBody>
      </p:sp>
      <p:sp>
        <p:nvSpPr>
          <p:cNvPr id="14" name="Text 12"/>
          <p:cNvSpPr/>
          <p:nvPr/>
        </p:nvSpPr>
        <p:spPr>
          <a:xfrm>
            <a:off x="1066800" y="5018584"/>
            <a:ext cx="4839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a:t>
            </a:r>
            <a:endParaRPr lang="en-US" sz="1200" dirty="0"/>
          </a:p>
        </p:txBody>
      </p:sp>
      <p:sp>
        <p:nvSpPr>
          <p:cNvPr id="15" name="Text 13"/>
          <p:cNvSpPr/>
          <p:nvPr/>
        </p:nvSpPr>
        <p:spPr>
          <a:xfrm>
            <a:off x="1066800" y="5282704"/>
            <a:ext cx="4839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Steps, rules, examples…</a:t>
            </a:r>
            <a:endParaRPr lang="en-US" sz="1200" dirty="0"/>
          </a:p>
        </p:txBody>
      </p:sp>
      <p:sp>
        <p:nvSpPr>
          <p:cNvPr id="16" name="Text 14"/>
          <p:cNvSpPr/>
          <p:nvPr/>
        </p:nvSpPr>
        <p:spPr>
          <a:xfrm>
            <a:off x="6324600" y="2711648"/>
            <a:ext cx="52062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name</a:t>
            </a:r>
            <a:endParaRPr lang="en-US" sz="1600" dirty="0"/>
          </a:p>
        </p:txBody>
      </p:sp>
      <p:sp>
        <p:nvSpPr>
          <p:cNvPr id="17" name="Text 15"/>
          <p:cNvSpPr/>
          <p:nvPr/>
        </p:nvSpPr>
        <p:spPr>
          <a:xfrm>
            <a:off x="6324600" y="3006229"/>
            <a:ext cx="52062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Lowercase and hyphens, matches the folder.</a:t>
            </a:r>
            <a:endParaRPr lang="en-US" sz="1400" dirty="0"/>
          </a:p>
        </p:txBody>
      </p:sp>
      <p:sp>
        <p:nvSpPr>
          <p:cNvPr id="18" name="Text 16"/>
          <p:cNvSpPr/>
          <p:nvPr/>
        </p:nvSpPr>
        <p:spPr>
          <a:xfrm>
            <a:off x="6324600" y="3458270"/>
            <a:ext cx="52062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description</a:t>
            </a:r>
            <a:endParaRPr lang="en-US" sz="1600" dirty="0"/>
          </a:p>
        </p:txBody>
      </p:sp>
      <p:sp>
        <p:nvSpPr>
          <p:cNvPr id="19" name="Text 17"/>
          <p:cNvSpPr/>
          <p:nvPr/>
        </p:nvSpPr>
        <p:spPr>
          <a:xfrm>
            <a:off x="6324600" y="3752850"/>
            <a:ext cx="52062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What it does and </a:t>
            </a:r>
            <a:r>
              <a:rPr lang="en-US" sz="1400" b="1" dirty="0">
                <a:solidFill>
                  <a:srgbClr val="4A5563"/>
                </a:solidFill>
                <a:latin typeface="IBM Plex Sans" pitchFamily="34" charset="0"/>
                <a:ea typeface="IBM Plex Sans" pitchFamily="34" charset="-122"/>
                <a:cs typeface="IBM Plex Sans" pitchFamily="34" charset="-120"/>
              </a:rPr>
              <a:t>when to use it</a:t>
            </a:r>
            <a:r>
              <a:rPr lang="en-US" sz="1400" dirty="0">
                <a:solidFill>
                  <a:srgbClr val="4A5563"/>
                </a:solidFill>
                <a:latin typeface="IBM Plex Sans" pitchFamily="34" charset="0"/>
                <a:ea typeface="IBM Plex Sans" pitchFamily="34" charset="-122"/>
                <a:cs typeface="IBM Plex Sans" pitchFamily="34" charset="-120"/>
              </a:rPr>
              <a:t>. This is the trigger.</a:t>
            </a:r>
            <a:endParaRPr lang="en-US" sz="1400" dirty="0"/>
          </a:p>
        </p:txBody>
      </p:sp>
      <p:sp>
        <p:nvSpPr>
          <p:cNvPr id="20" name="Text 18"/>
          <p:cNvSpPr/>
          <p:nvPr/>
        </p:nvSpPr>
        <p:spPr>
          <a:xfrm>
            <a:off x="6324600" y="4204891"/>
            <a:ext cx="52062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body</a:t>
            </a:r>
            <a:endParaRPr lang="en-US" sz="1600" dirty="0"/>
          </a:p>
        </p:txBody>
      </p:sp>
      <p:sp>
        <p:nvSpPr>
          <p:cNvPr id="21" name="Text 19"/>
          <p:cNvSpPr/>
          <p:nvPr/>
        </p:nvSpPr>
        <p:spPr>
          <a:xfrm>
            <a:off x="6324600" y="4499471"/>
            <a:ext cx="52062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The procedure, in plain Markdown.</a:t>
            </a:r>
            <a:endParaRPr lang="en-US" sz="1400" dirty="0"/>
          </a:p>
        </p:txBody>
      </p:sp>
      <p:sp>
        <p:nvSpPr>
          <p:cNvPr id="22" name="Text 20"/>
          <p:cNvSpPr/>
          <p:nvPr/>
        </p:nvSpPr>
        <p:spPr>
          <a:xfrm>
            <a:off x="6324600" y="4951512"/>
            <a:ext cx="52062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optional folders</a:t>
            </a:r>
            <a:endParaRPr lang="en-US" sz="1600" dirty="0"/>
          </a:p>
        </p:txBody>
      </p:sp>
      <p:sp>
        <p:nvSpPr>
          <p:cNvPr id="23" name="Text 21"/>
          <p:cNvSpPr/>
          <p:nvPr/>
        </p:nvSpPr>
        <p:spPr>
          <a:xfrm>
            <a:off x="6324600" y="5246092"/>
            <a:ext cx="52062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Scripts, reference docs and templates.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PROGRESSIVE DISCLOSURE</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It only reads what the task needs</a:t>
            </a:r>
            <a:endParaRPr lang="en-US" sz="3600" dirty="0"/>
          </a:p>
        </p:txBody>
      </p:sp>
      <p:sp>
        <p:nvSpPr>
          <p:cNvPr id="4" name="Shape 2"/>
          <p:cNvSpPr/>
          <p:nvPr/>
        </p:nvSpPr>
        <p:spPr>
          <a:xfrm>
            <a:off x="815975" y="2289076"/>
            <a:ext cx="3041650" cy="1763812"/>
          </a:xfrm>
          <a:prstGeom prst="roundRect">
            <a:avLst>
              <a:gd name="adj" fmla="val 5580"/>
            </a:avLst>
          </a:prstGeom>
          <a:solidFill>
            <a:srgbClr val="FBFAF6"/>
          </a:solidFill>
          <a:ln w="6350">
            <a:solidFill>
              <a:srgbClr val="DAD5C8"/>
            </a:solidFill>
            <a:prstDash val="solid"/>
          </a:ln>
        </p:spPr>
      </p:sp>
      <p:sp>
        <p:nvSpPr>
          <p:cNvPr id="5" name="Text 3"/>
          <p:cNvSpPr/>
          <p:nvPr/>
        </p:nvSpPr>
        <p:spPr>
          <a:xfrm>
            <a:off x="1073150" y="254625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1 · Discovery</a:t>
            </a:r>
            <a:endParaRPr lang="en-US" sz="1200" dirty="0"/>
          </a:p>
        </p:txBody>
      </p:sp>
      <p:sp>
        <p:nvSpPr>
          <p:cNvPr id="6" name="Text 4"/>
          <p:cNvSpPr/>
          <p:nvPr/>
        </p:nvSpPr>
        <p:spPr>
          <a:xfrm>
            <a:off x="1073150" y="2861171"/>
            <a:ext cx="260311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02C"/>
                </a:solidFill>
                <a:latin typeface="IBM Plex Sans" pitchFamily="34" charset="0"/>
                <a:ea typeface="IBM Plex Sans" pitchFamily="34" charset="-122"/>
                <a:cs typeface="IBM Plex Sans" pitchFamily="34" charset="-120"/>
              </a:rPr>
              <a:t>~100 tokens</a:t>
            </a:r>
            <a:endParaRPr lang="en-US" sz="2200" dirty="0"/>
          </a:p>
        </p:txBody>
      </p:sp>
      <p:sp>
        <p:nvSpPr>
          <p:cNvPr id="7" name="Text 5"/>
          <p:cNvSpPr/>
          <p:nvPr/>
        </p:nvSpPr>
        <p:spPr>
          <a:xfrm>
            <a:off x="1073150" y="3298031"/>
            <a:ext cx="260311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At startup: just the name and description of every skill.</a:t>
            </a:r>
            <a:endParaRPr lang="en-US" sz="1400" dirty="0"/>
          </a:p>
        </p:txBody>
      </p:sp>
      <p:pic>
        <p:nvPicPr>
          <p:cNvPr id="8" name="Image 0" descr="arrow-right">    </p:cNvPr>
          <p:cNvPicPr>
            <a:picLocks noChangeAspect="1"/>
          </p:cNvPicPr>
          <p:nvPr/>
        </p:nvPicPr>
        <p:blipFill>
          <a:blip r:embed="rId1"/>
          <a:srcRect l="0" r="0" t="0" b="0"/>
          <a:stretch/>
        </p:blipFill>
        <p:spPr>
          <a:xfrm>
            <a:off x="4013200" y="3069332"/>
            <a:ext cx="406400" cy="203200"/>
          </a:xfrm>
          <a:prstGeom prst="rect">
            <a:avLst/>
          </a:prstGeom>
        </p:spPr>
      </p:pic>
      <p:sp>
        <p:nvSpPr>
          <p:cNvPr id="9" name="Shape 6"/>
          <p:cNvSpPr/>
          <p:nvPr/>
        </p:nvSpPr>
        <p:spPr>
          <a:xfrm>
            <a:off x="4575175" y="2289076"/>
            <a:ext cx="3041650" cy="1763812"/>
          </a:xfrm>
          <a:prstGeom prst="roundRect">
            <a:avLst>
              <a:gd name="adj" fmla="val 5580"/>
            </a:avLst>
          </a:prstGeom>
          <a:solidFill>
            <a:srgbClr val="FBFAF6"/>
          </a:solidFill>
          <a:ln w="6350">
            <a:solidFill>
              <a:srgbClr val="DAD5C8"/>
            </a:solidFill>
            <a:prstDash val="solid"/>
          </a:ln>
        </p:spPr>
      </p:sp>
      <p:sp>
        <p:nvSpPr>
          <p:cNvPr id="10" name="Text 7"/>
          <p:cNvSpPr/>
          <p:nvPr/>
        </p:nvSpPr>
        <p:spPr>
          <a:xfrm>
            <a:off x="4832350" y="254625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2 · Activation</a:t>
            </a:r>
            <a:endParaRPr lang="en-US" sz="1200" dirty="0"/>
          </a:p>
        </p:txBody>
      </p:sp>
      <p:sp>
        <p:nvSpPr>
          <p:cNvPr id="11" name="Text 8"/>
          <p:cNvSpPr/>
          <p:nvPr/>
        </p:nvSpPr>
        <p:spPr>
          <a:xfrm>
            <a:off x="4832350" y="2861171"/>
            <a:ext cx="260311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02C"/>
                </a:solidFill>
                <a:latin typeface="IBM Plex Sans" pitchFamily="34" charset="0"/>
                <a:ea typeface="IBM Plex Sans" pitchFamily="34" charset="-122"/>
                <a:cs typeface="IBM Plex Sans" pitchFamily="34" charset="-120"/>
              </a:rPr>
              <a:t>&lt; 5,000 tokens</a:t>
            </a:r>
            <a:endParaRPr lang="en-US" sz="2200" dirty="0"/>
          </a:p>
        </p:txBody>
      </p:sp>
      <p:sp>
        <p:nvSpPr>
          <p:cNvPr id="12" name="Text 9"/>
          <p:cNvSpPr/>
          <p:nvPr/>
        </p:nvSpPr>
        <p:spPr>
          <a:xfrm>
            <a:off x="4832350" y="3298031"/>
            <a:ext cx="260311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A task matches: the full SKILL.md is read in.</a:t>
            </a:r>
            <a:endParaRPr lang="en-US" sz="1400" dirty="0"/>
          </a:p>
        </p:txBody>
      </p:sp>
      <p:pic>
        <p:nvPicPr>
          <p:cNvPr id="13" name="Image 1" descr="arrow-right">    </p:cNvPr>
          <p:cNvPicPr>
            <a:picLocks noChangeAspect="1"/>
          </p:cNvPicPr>
          <p:nvPr/>
        </p:nvPicPr>
        <p:blipFill>
          <a:blip r:embed="rId2"/>
          <a:srcRect l="0" r="0" t="0" b="0"/>
          <a:stretch/>
        </p:blipFill>
        <p:spPr>
          <a:xfrm>
            <a:off x="7772400" y="3069332"/>
            <a:ext cx="406400" cy="203200"/>
          </a:xfrm>
          <a:prstGeom prst="rect">
            <a:avLst/>
          </a:prstGeom>
        </p:spPr>
      </p:pic>
      <p:sp>
        <p:nvSpPr>
          <p:cNvPr id="14" name="Shape 10"/>
          <p:cNvSpPr/>
          <p:nvPr/>
        </p:nvSpPr>
        <p:spPr>
          <a:xfrm>
            <a:off x="8334375" y="2164655"/>
            <a:ext cx="3041650" cy="2012652"/>
          </a:xfrm>
          <a:prstGeom prst="roundRect">
            <a:avLst>
              <a:gd name="adj" fmla="val 4890"/>
            </a:avLst>
          </a:prstGeom>
          <a:solidFill>
            <a:srgbClr val="FBFAF6"/>
          </a:solidFill>
          <a:ln w="6350">
            <a:solidFill>
              <a:srgbClr val="DAD5C8"/>
            </a:solidFill>
            <a:prstDash val="solid"/>
          </a:ln>
        </p:spPr>
      </p:sp>
      <p:sp>
        <p:nvSpPr>
          <p:cNvPr id="15" name="Text 11"/>
          <p:cNvSpPr/>
          <p:nvPr/>
        </p:nvSpPr>
        <p:spPr>
          <a:xfrm>
            <a:off x="8591550" y="2421830"/>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3 · Execution</a:t>
            </a:r>
            <a:endParaRPr lang="en-US" sz="1200" dirty="0"/>
          </a:p>
        </p:txBody>
      </p:sp>
      <p:sp>
        <p:nvSpPr>
          <p:cNvPr id="16" name="Text 12"/>
          <p:cNvSpPr/>
          <p:nvPr/>
        </p:nvSpPr>
        <p:spPr>
          <a:xfrm>
            <a:off x="8591550" y="2736751"/>
            <a:ext cx="260311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02C"/>
                </a:solidFill>
                <a:latin typeface="IBM Plex Sans" pitchFamily="34" charset="0"/>
                <a:ea typeface="IBM Plex Sans" pitchFamily="34" charset="-122"/>
                <a:cs typeface="IBM Plex Sans" pitchFamily="34" charset="-120"/>
              </a:rPr>
              <a:t>As needed</a:t>
            </a:r>
            <a:endParaRPr lang="en-US" sz="2200" dirty="0"/>
          </a:p>
        </p:txBody>
      </p:sp>
      <p:sp>
        <p:nvSpPr>
          <p:cNvPr id="17" name="Text 13"/>
          <p:cNvSpPr/>
          <p:nvPr/>
        </p:nvSpPr>
        <p:spPr>
          <a:xfrm>
            <a:off x="8591550" y="3173611"/>
            <a:ext cx="2603119"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Scripts, references and assets load only when a step calls for them.</a:t>
            </a:r>
            <a:endParaRPr lang="en-US" sz="1400" dirty="0"/>
          </a:p>
        </p:txBody>
      </p:sp>
      <p:sp>
        <p:nvSpPr>
          <p:cNvPr id="18" name="Text 14"/>
          <p:cNvSpPr/>
          <p:nvPr/>
        </p:nvSpPr>
        <p:spPr>
          <a:xfrm>
            <a:off x="812800" y="4485283"/>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02C"/>
                </a:solidFill>
                <a:latin typeface="IBM Plex Sans" pitchFamily="34" charset="0"/>
                <a:ea typeface="IBM Plex Sans" pitchFamily="34" charset="-122"/>
                <a:cs typeface="IBM Plex Sans" pitchFamily="34" charset="-120"/>
              </a:rPr>
              <a:t>Result: an agent can carry </a:t>
            </a:r>
            <a:r>
              <a:rPr lang="en-US" sz="1600" b="1" dirty="0">
                <a:solidFill>
                  <a:srgbClr val="13202C"/>
                </a:solidFill>
                <a:latin typeface="IBM Plex Sans" pitchFamily="34" charset="0"/>
                <a:ea typeface="IBM Plex Sans" pitchFamily="34" charset="-122"/>
                <a:cs typeface="IBM Plex Sans" pitchFamily="34" charset="-120"/>
              </a:rPr>
              <a:t>hundreds of skills</a:t>
            </a:r>
            <a:r>
              <a:rPr lang="en-US" sz="1600" dirty="0">
                <a:solidFill>
                  <a:srgbClr val="13202C"/>
                </a:solidFill>
                <a:latin typeface="IBM Plex Sans" pitchFamily="34" charset="0"/>
                <a:ea typeface="IBM Plex Sans" pitchFamily="34" charset="-122"/>
                <a:cs typeface="IBM Plex Sans" pitchFamily="34" charset="-120"/>
              </a:rPr>
              <a:t> with a small context footprint, so it stays focused and costs less to run.</a:t>
            </a:r>
            <a:endParaRPr lang="en-US" sz="1600" dirty="0"/>
          </a:p>
        </p:txBody>
      </p:sp>
      <p:sp>
        <p:nvSpPr>
          <p:cNvPr id="19" name="Text 15"/>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Token figures: the Agent Skills specification, agentskills.io/specification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5D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AN OPEN STANDARD · AGENTSKILLS.IO</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Write a skill once, use it in many agents</a:t>
            </a:r>
            <a:endParaRPr lang="en-US" sz="3600" dirty="0"/>
          </a:p>
        </p:txBody>
      </p:sp>
      <p:sp>
        <p:nvSpPr>
          <p:cNvPr id="4" name="Text 2"/>
          <p:cNvSpPr/>
          <p:nvPr/>
        </p:nvSpPr>
        <p:spPr>
          <a:xfrm>
            <a:off x="812800" y="2161480"/>
            <a:ext cx="981075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3"/>
                </a:solidFill>
                <a:latin typeface="IBM Plex Sans" pitchFamily="34" charset="0"/>
                <a:ea typeface="IBM Plex Sans" pitchFamily="34" charset="-122"/>
                <a:cs typeface="IBM Plex Sans" pitchFamily="34" charset="-120"/>
              </a:rPr>
              <a:t>Originally developed by Anthropic and released as an open format, Agent Skills are now read by a long list of coding agents and IDEs. Our skills aren't locked to one vendor.</a:t>
            </a:r>
            <a:endParaRPr lang="en-US" sz="1600" dirty="0"/>
          </a:p>
        </p:txBody>
      </p:sp>
      <p:sp>
        <p:nvSpPr>
          <p:cNvPr id="5" name="Text 3"/>
          <p:cNvSpPr/>
          <p:nvPr/>
        </p:nvSpPr>
        <p:spPr>
          <a:xfrm>
            <a:off x="815975" y="3058616"/>
            <a:ext cx="1370112"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Claude Code</a:t>
            </a:r>
            <a:endParaRPr lang="en-US" sz="1400" dirty="0"/>
          </a:p>
        </p:txBody>
      </p:sp>
      <p:sp>
        <p:nvSpPr>
          <p:cNvPr id="6" name="Text 4"/>
          <p:cNvSpPr/>
          <p:nvPr/>
        </p:nvSpPr>
        <p:spPr>
          <a:xfrm>
            <a:off x="2294037" y="3058616"/>
            <a:ext cx="1532136"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GitHub Copilot</a:t>
            </a:r>
            <a:endParaRPr lang="en-US" sz="1400" dirty="0"/>
          </a:p>
        </p:txBody>
      </p:sp>
      <p:sp>
        <p:nvSpPr>
          <p:cNvPr id="7" name="Text 5"/>
          <p:cNvSpPr/>
          <p:nvPr/>
        </p:nvSpPr>
        <p:spPr>
          <a:xfrm>
            <a:off x="3934123" y="3058616"/>
            <a:ext cx="1024434"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VS Code</a:t>
            </a:r>
            <a:endParaRPr lang="en-US" sz="1400" dirty="0"/>
          </a:p>
        </p:txBody>
      </p:sp>
      <p:sp>
        <p:nvSpPr>
          <p:cNvPr id="8" name="Text 6"/>
          <p:cNvSpPr/>
          <p:nvPr/>
        </p:nvSpPr>
        <p:spPr>
          <a:xfrm>
            <a:off x="5066506" y="3058616"/>
            <a:ext cx="890091"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Cursor</a:t>
            </a:r>
            <a:endParaRPr lang="en-US" sz="1400" dirty="0"/>
          </a:p>
        </p:txBody>
      </p:sp>
      <p:sp>
        <p:nvSpPr>
          <p:cNvPr id="9" name="Text 7"/>
          <p:cNvSpPr/>
          <p:nvPr/>
        </p:nvSpPr>
        <p:spPr>
          <a:xfrm>
            <a:off x="6064548" y="3058616"/>
            <a:ext cx="1240830"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Gemini CLI</a:t>
            </a:r>
            <a:endParaRPr lang="en-US" sz="1400" dirty="0"/>
          </a:p>
        </p:txBody>
      </p:sp>
      <p:sp>
        <p:nvSpPr>
          <p:cNvPr id="10" name="Text 8"/>
          <p:cNvSpPr/>
          <p:nvPr/>
        </p:nvSpPr>
        <p:spPr>
          <a:xfrm>
            <a:off x="7413327" y="3058616"/>
            <a:ext cx="1515368"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OpenAI Codex</a:t>
            </a:r>
            <a:endParaRPr lang="en-US" sz="1400" dirty="0"/>
          </a:p>
        </p:txBody>
      </p:sp>
      <p:sp>
        <p:nvSpPr>
          <p:cNvPr id="11" name="Text 9"/>
          <p:cNvSpPr/>
          <p:nvPr/>
        </p:nvSpPr>
        <p:spPr>
          <a:xfrm>
            <a:off x="9036645" y="3058616"/>
            <a:ext cx="1597025"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JetBrains Junie</a:t>
            </a:r>
            <a:endParaRPr lang="en-US" sz="1400" dirty="0"/>
          </a:p>
        </p:txBody>
      </p:sp>
      <p:sp>
        <p:nvSpPr>
          <p:cNvPr id="12" name="Text 10"/>
          <p:cNvSpPr/>
          <p:nvPr/>
        </p:nvSpPr>
        <p:spPr>
          <a:xfrm>
            <a:off x="815975" y="3574157"/>
            <a:ext cx="1300956"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OpenHands</a:t>
            </a:r>
            <a:endParaRPr lang="en-US" sz="1400" dirty="0"/>
          </a:p>
        </p:txBody>
      </p:sp>
      <p:sp>
        <p:nvSpPr>
          <p:cNvPr id="13" name="Text 11"/>
          <p:cNvSpPr/>
          <p:nvPr/>
        </p:nvSpPr>
        <p:spPr>
          <a:xfrm>
            <a:off x="2224881" y="3574157"/>
            <a:ext cx="868859"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Goose</a:t>
            </a:r>
            <a:endParaRPr lang="en-US" sz="1400" dirty="0"/>
          </a:p>
        </p:txBody>
      </p:sp>
      <p:sp>
        <p:nvSpPr>
          <p:cNvPr id="14" name="Text 12"/>
          <p:cNvSpPr/>
          <p:nvPr/>
        </p:nvSpPr>
        <p:spPr>
          <a:xfrm>
            <a:off x="3201690" y="3574157"/>
            <a:ext cx="683121"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Kiro</a:t>
            </a:r>
            <a:endParaRPr lang="en-US" sz="1400" dirty="0"/>
          </a:p>
        </p:txBody>
      </p:sp>
      <p:sp>
        <p:nvSpPr>
          <p:cNvPr id="15" name="Text 13"/>
          <p:cNvSpPr/>
          <p:nvPr/>
        </p:nvSpPr>
        <p:spPr>
          <a:xfrm>
            <a:off x="3992761" y="3574157"/>
            <a:ext cx="1124942" cy="407591"/>
          </a:xfrm>
          <a:prstGeom prst="roundRect">
            <a:avLst>
              <a:gd name="adj" fmla="val 50000"/>
            </a:avLst>
          </a:prstGeom>
          <a:solidFill>
            <a:srgbClr val="FBFAF6"/>
          </a:solidFill>
          <a:ln w="6350">
            <a:solidFill>
              <a:srgbClr val="CFC9BA"/>
            </a:solidFill>
            <a:prstDash val="solid"/>
          </a:ln>
        </p:spPr>
        <p:txBody>
          <a:bodyPr wrap="none" lIns="0" tIns="0" rIns="0" bIns="0" rtlCol="0" anchor="ctr">
            <a:normAutofit/>
          </a:bodyPr>
          <a:lstStyle/>
          <a:p>
            <a:pPr algn="ctr"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Roo Code</a:t>
            </a:r>
            <a:endParaRPr lang="en-US" sz="1400" dirty="0"/>
          </a:p>
        </p:txBody>
      </p:sp>
      <p:sp>
        <p:nvSpPr>
          <p:cNvPr id="16" name="Text 14"/>
          <p:cNvSpPr/>
          <p:nvPr/>
        </p:nvSpPr>
        <p:spPr>
          <a:xfrm>
            <a:off x="5222478" y="3570982"/>
            <a:ext cx="1184870" cy="413941"/>
          </a:xfrm>
          <a:prstGeom prst="roundRect">
            <a:avLst>
              <a:gd name="adj" fmla="val 50000"/>
            </a:avLst>
          </a:prstGeom>
          <a:solidFill>
            <a:srgbClr val="0F1A24"/>
          </a:solidFill>
          <a:ln/>
        </p:spPr>
        <p:txBody>
          <a:bodyPr wrap="none" lIns="0" tIns="0" rIns="0" bIns="0" rtlCol="0" anchor="ctr">
            <a:normAutofit/>
          </a:bodyPr>
          <a:lstStyle/>
          <a:p>
            <a:pPr algn="ctr" indent="0" marL="0">
              <a:lnSpc>
                <a:spcPts val="1960"/>
              </a:lnSpc>
              <a:buNone/>
            </a:pPr>
            <a:r>
              <a:rPr lang="en-US" sz="1400" dirty="0">
                <a:solidFill>
                  <a:srgbClr val="F4F2EC"/>
                </a:solidFill>
                <a:latin typeface="IBM Plex Sans" pitchFamily="34" charset="0"/>
                <a:ea typeface="IBM Plex Sans" pitchFamily="34" charset="-122"/>
                <a:cs typeface="IBM Plex Sans" pitchFamily="34" charset="-120"/>
              </a:rPr>
              <a:t>sncfleet.ai</a:t>
            </a:r>
            <a:endParaRPr lang="en-US" sz="1400" dirty="0"/>
          </a:p>
        </p:txBody>
      </p:sp>
      <p:sp>
        <p:nvSpPr>
          <p:cNvPr id="17" name="Text 15"/>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Client list from the agentskills.io showcase, October 2026 (partial)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WHAT I ADDED: PERSONA</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2EC"/>
                </a:solidFill>
                <a:latin typeface="IBM Plex Sans" pitchFamily="34" charset="0"/>
                <a:ea typeface="IBM Plex Sans" pitchFamily="34" charset="-122"/>
                <a:cs typeface="IBM Plex Sans" pitchFamily="34" charset="-120"/>
              </a:rPr>
              <a:t>Skills say </a:t>
            </a:r>
            <a:r>
              <a:rPr lang="en-US" sz="3600" b="1" i="0" dirty="0">
                <a:solidFill>
                  <a:srgbClr val="7FB2EA"/>
                </a:solidFill>
                <a:latin typeface="IBM Plex Sans" pitchFamily="34" charset="0"/>
                <a:ea typeface="IBM Plex Sans" pitchFamily="34" charset="-122"/>
                <a:cs typeface="IBM Plex Sans" pitchFamily="34" charset="-120"/>
              </a:rPr>
              <a:t>how</a:t>
            </a:r>
            <a:r>
              <a:rPr lang="en-US" sz="3600" b="1" i="0" dirty="0">
                <a:solidFill>
                  <a:srgbClr val="F4F2EC"/>
                </a:solidFill>
                <a:latin typeface="IBM Plex Sans" pitchFamily="34" charset="0"/>
                <a:ea typeface="IBM Plex Sans" pitchFamily="34" charset="-122"/>
                <a:cs typeface="IBM Plex Sans" pitchFamily="34" charset="-120"/>
              </a:rPr>
              <a:t>. A persona says </a:t>
            </a:r>
            <a:r>
              <a:rPr lang="en-US" sz="3600" b="1" i="0" dirty="0">
                <a:solidFill>
                  <a:srgbClr val="E8A33D"/>
                </a:solidFill>
                <a:latin typeface="IBM Plex Sans" pitchFamily="34" charset="0"/>
                <a:ea typeface="IBM Plex Sans" pitchFamily="34" charset="-122"/>
                <a:cs typeface="IBM Plex Sans" pitchFamily="34" charset="-120"/>
              </a:rPr>
              <a:t>who</a:t>
            </a:r>
            <a:r>
              <a:rPr lang="en-US" sz="3600" b="1" i="0" dirty="0">
                <a:solidFill>
                  <a:srgbClr val="F4F2EC"/>
                </a:solidFill>
                <a:latin typeface="IBM Plex Sans" pitchFamily="34" charset="0"/>
                <a:ea typeface="IBM Plex Sans" pitchFamily="34" charset="-122"/>
                <a:cs typeface="IBM Plex Sans" pitchFamily="34" charset="-120"/>
              </a:rPr>
              <a:t>.</a:t>
            </a:r>
            <a:endParaRPr lang="en-US" sz="3600" dirty="0"/>
          </a:p>
        </p:txBody>
      </p:sp>
      <p:sp>
        <p:nvSpPr>
          <p:cNvPr id="4" name="Shape 2"/>
          <p:cNvSpPr/>
          <p:nvPr/>
        </p:nvSpPr>
        <p:spPr>
          <a:xfrm>
            <a:off x="815975" y="2164655"/>
            <a:ext cx="3409950" cy="1606252"/>
          </a:xfrm>
          <a:prstGeom prst="roundRect">
            <a:avLst>
              <a:gd name="adj" fmla="val 6128"/>
            </a:avLst>
          </a:prstGeom>
          <a:solidFill>
            <a:srgbClr val="182836"/>
          </a:solidFill>
          <a:ln w="6350">
            <a:solidFill>
              <a:srgbClr val="2A3C4D"/>
            </a:solidFill>
            <a:prstDash val="solid"/>
          </a:ln>
        </p:spPr>
      </p:sp>
      <p:sp>
        <p:nvSpPr>
          <p:cNvPr id="5" name="Text 3"/>
          <p:cNvSpPr/>
          <p:nvPr/>
        </p:nvSpPr>
        <p:spPr>
          <a:xfrm>
            <a:off x="1073150" y="2421830"/>
            <a:ext cx="29824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Role</a:t>
            </a:r>
            <a:endParaRPr lang="en-US" sz="1600" dirty="0"/>
          </a:p>
        </p:txBody>
      </p:sp>
      <p:sp>
        <p:nvSpPr>
          <p:cNvPr id="6" name="Text 4"/>
          <p:cNvSpPr/>
          <p:nvPr/>
        </p:nvSpPr>
        <p:spPr>
          <a:xfrm>
            <a:off x="1073150" y="2767211"/>
            <a:ext cx="29824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"Senior DevOps engineer in US government clouds."</a:t>
            </a:r>
            <a:endParaRPr lang="en-US" sz="1400" dirty="0"/>
          </a:p>
        </p:txBody>
      </p:sp>
      <p:sp>
        <p:nvSpPr>
          <p:cNvPr id="7" name="Shape 5"/>
          <p:cNvSpPr/>
          <p:nvPr/>
        </p:nvSpPr>
        <p:spPr>
          <a:xfrm>
            <a:off x="4384675" y="2164655"/>
            <a:ext cx="3409950" cy="1606252"/>
          </a:xfrm>
          <a:prstGeom prst="roundRect">
            <a:avLst>
              <a:gd name="adj" fmla="val 6128"/>
            </a:avLst>
          </a:prstGeom>
          <a:solidFill>
            <a:srgbClr val="182836"/>
          </a:solidFill>
          <a:ln w="6350">
            <a:solidFill>
              <a:srgbClr val="2A3C4D"/>
            </a:solidFill>
            <a:prstDash val="solid"/>
          </a:ln>
        </p:spPr>
      </p:sp>
      <p:sp>
        <p:nvSpPr>
          <p:cNvPr id="8" name="Text 6"/>
          <p:cNvSpPr/>
          <p:nvPr/>
        </p:nvSpPr>
        <p:spPr>
          <a:xfrm>
            <a:off x="4641850" y="2421830"/>
            <a:ext cx="29824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Standards</a:t>
            </a:r>
            <a:endParaRPr lang="en-US" sz="1600" dirty="0"/>
          </a:p>
        </p:txBody>
      </p:sp>
      <p:sp>
        <p:nvSpPr>
          <p:cNvPr id="9" name="Text 7"/>
          <p:cNvSpPr/>
          <p:nvPr/>
        </p:nvSpPr>
        <p:spPr>
          <a:xfrm>
            <a:off x="4641850" y="2767211"/>
            <a:ext cx="298246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Small reviewable changes, everything in code, nothing by hand in a console.</a:t>
            </a:r>
            <a:endParaRPr lang="en-US" sz="1400" dirty="0"/>
          </a:p>
        </p:txBody>
      </p:sp>
      <p:sp>
        <p:nvSpPr>
          <p:cNvPr id="10" name="Shape 8"/>
          <p:cNvSpPr/>
          <p:nvPr/>
        </p:nvSpPr>
        <p:spPr>
          <a:xfrm>
            <a:off x="7956550" y="2167830"/>
            <a:ext cx="3416300" cy="1599902"/>
          </a:xfrm>
          <a:prstGeom prst="roundRect">
            <a:avLst>
              <a:gd name="adj" fmla="val 5953"/>
            </a:avLst>
          </a:prstGeom>
          <a:solidFill>
            <a:srgbClr val="182836"/>
          </a:solidFill>
          <a:ln w="12700">
            <a:solidFill>
              <a:srgbClr val="E8A33D"/>
            </a:solidFill>
            <a:prstDash val="solid"/>
          </a:ln>
        </p:spPr>
      </p:sp>
      <p:sp>
        <p:nvSpPr>
          <p:cNvPr id="11" name="Text 9"/>
          <p:cNvSpPr/>
          <p:nvPr/>
        </p:nvSpPr>
        <p:spPr>
          <a:xfrm>
            <a:off x="8216900" y="2428180"/>
            <a:ext cx="29824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Hard limits</a:t>
            </a:r>
            <a:endParaRPr lang="en-US" sz="1600" dirty="0"/>
          </a:p>
        </p:txBody>
      </p:sp>
      <p:sp>
        <p:nvSpPr>
          <p:cNvPr id="12" name="Text 10"/>
          <p:cNvSpPr/>
          <p:nvPr/>
        </p:nvSpPr>
        <p:spPr>
          <a:xfrm>
            <a:off x="8216900" y="2773561"/>
            <a:ext cx="29824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No cloud credentials. Never applies infrastructure; a person approves.</a:t>
            </a:r>
            <a:endParaRPr lang="en-US" sz="1400" dirty="0"/>
          </a:p>
        </p:txBody>
      </p:sp>
      <p:sp>
        <p:nvSpPr>
          <p:cNvPr id="13" name="Text 11"/>
          <p:cNvSpPr/>
          <p:nvPr/>
        </p:nvSpPr>
        <p:spPr>
          <a:xfrm>
            <a:off x="812800" y="4078883"/>
            <a:ext cx="1020318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8C4CF"/>
                </a:solidFill>
                <a:latin typeface="IBM Plex Sans" pitchFamily="34" charset="0"/>
                <a:ea typeface="IBM Plex Sans" pitchFamily="34" charset="-122"/>
                <a:cs typeface="IBM Plex Sans" pitchFamily="34" charset="-120"/>
              </a:rPr>
              <a:t>Same skills, different persona: a </a:t>
            </a:r>
            <a:r>
              <a:rPr lang="en-US" sz="1600" b="1" dirty="0">
                <a:solidFill>
                  <a:srgbClr val="F4F2EC"/>
                </a:solidFill>
                <a:latin typeface="IBM Plex Sans" pitchFamily="34" charset="0"/>
                <a:ea typeface="IBM Plex Sans" pitchFamily="34" charset="-122"/>
                <a:cs typeface="IBM Plex Sans" pitchFamily="34" charset="-120"/>
              </a:rPr>
              <a:t>junior</a:t>
            </a:r>
            <a:r>
              <a:rPr lang="en-US" sz="1600" dirty="0">
                <a:solidFill>
                  <a:srgbClr val="B8C4CF"/>
                </a:solidFill>
                <a:latin typeface="IBM Plex Sans" pitchFamily="34" charset="0"/>
                <a:ea typeface="IBM Plex Sans" pitchFamily="34" charset="-122"/>
                <a:cs typeface="IBM Plex Sans" pitchFamily="34" charset="-120"/>
              </a:rPr>
              <a:t> kit takes lint fixes and version bumps and stops at IAM, network and state changes; a </a:t>
            </a:r>
            <a:r>
              <a:rPr lang="en-US" sz="1600" b="1" dirty="0">
                <a:solidFill>
                  <a:srgbClr val="F4F2EC"/>
                </a:solidFill>
                <a:latin typeface="IBM Plex Sans" pitchFamily="34" charset="0"/>
                <a:ea typeface="IBM Plex Sans" pitchFamily="34" charset="-122"/>
                <a:cs typeface="IBM Plex Sans" pitchFamily="34" charset="-120"/>
              </a:rPr>
              <a:t>senior</a:t>
            </a:r>
            <a:r>
              <a:rPr lang="en-US" sz="1600" dirty="0">
                <a:solidFill>
                  <a:srgbClr val="B8C4CF"/>
                </a:solidFill>
                <a:latin typeface="IBM Plex Sans" pitchFamily="34" charset="0"/>
                <a:ea typeface="IBM Plex Sans" pitchFamily="34" charset="-122"/>
                <a:cs typeface="IBM Plex Sans" pitchFamily="34" charset="-120"/>
              </a:rPr>
              <a:t> kit takes those on.</a:t>
            </a:r>
            <a:endParaRPr lang="en-US" sz="1600" dirty="0"/>
          </a:p>
        </p:txBody>
      </p:sp>
      <p:pic>
        <p:nvPicPr>
          <p:cNvPr id="14" name="Image 0" descr="ellipse">    </p:cNvPr>
          <p:cNvPicPr>
            <a:picLocks noChangeAspect="1"/>
          </p:cNvPicPr>
          <p:nvPr/>
        </p:nvPicPr>
        <p:blipFill>
          <a:blip r:embed="rId1"/>
          <a:srcRect l="0" r="0" t="0" b="0"/>
          <a:stretch/>
        </p:blipFill>
        <p:spPr>
          <a:xfrm>
            <a:off x="1982589" y="7620992"/>
            <a:ext cx="1905000" cy="1905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KITS</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A kit bundles it all into one JSON file</a:t>
            </a:r>
            <a:endParaRPr lang="en-US" sz="3600" dirty="0"/>
          </a:p>
        </p:txBody>
      </p:sp>
      <p:sp>
        <p:nvSpPr>
          <p:cNvPr id="4" name="Shape 2"/>
          <p:cNvSpPr/>
          <p:nvPr/>
        </p:nvSpPr>
        <p:spPr>
          <a:xfrm>
            <a:off x="812800" y="2161480"/>
            <a:ext cx="5461000" cy="3883720"/>
          </a:xfrm>
          <a:prstGeom prst="roundRect">
            <a:avLst>
              <a:gd name="adj" fmla="val 2616"/>
            </a:avLst>
          </a:prstGeom>
          <a:solidFill>
            <a:srgbClr val="0F1A24"/>
          </a:solidFill>
          <a:ln/>
        </p:spPr>
      </p:sp>
      <p:sp>
        <p:nvSpPr>
          <p:cNvPr id="5" name="Text 3"/>
          <p:cNvSpPr/>
          <p:nvPr/>
        </p:nvSpPr>
        <p:spPr>
          <a:xfrm>
            <a:off x="1066800" y="2865239"/>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1066800" y="3116659"/>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"title"</a:t>
            </a:r>
            <a:r>
              <a:rPr lang="en-US" sz="1200" dirty="0">
                <a:solidFill>
                  <a:srgbClr val="F4F2EC"/>
                </a:solidFill>
                <a:latin typeface="JetBrains Mono" pitchFamily="49" charset="0"/>
                <a:ea typeface="JetBrains Mono" pitchFamily="49" charset="-122"/>
                <a:cs typeface="JetBrains Mono" pitchFamily="49" charset="-120"/>
              </a:rPr>
              <a:t>: "DevOps engineer, senior",</a:t>
            </a:r>
            <a:endParaRPr lang="en-US" sz="1200" dirty="0"/>
          </a:p>
        </p:txBody>
      </p:sp>
      <p:sp>
        <p:nvSpPr>
          <p:cNvPr id="7" name="Text 5"/>
          <p:cNvSpPr/>
          <p:nvPr/>
        </p:nvSpPr>
        <p:spPr>
          <a:xfrm>
            <a:off x="1066800" y="3368080"/>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E8A33D"/>
                </a:solidFill>
                <a:latin typeface="JetBrains Mono" pitchFamily="49" charset="0"/>
                <a:ea typeface="JetBrains Mono" pitchFamily="49" charset="-122"/>
                <a:cs typeface="JetBrains Mono" pitchFamily="49" charset="-120"/>
              </a:rPr>
              <a:t>"persona"</a:t>
            </a:r>
            <a:r>
              <a:rPr lang="en-US" sz="1200" dirty="0">
                <a:solidFill>
                  <a:srgbClr val="F4F2EC"/>
                </a:solidFill>
                <a:latin typeface="JetBrains Mono" pitchFamily="49" charset="0"/>
                <a:ea typeface="JetBrains Mono" pitchFamily="49" charset="-122"/>
                <a:cs typeface="JetBrains Mono" pitchFamily="49" charset="-120"/>
              </a:rPr>
              <a:t>: "devops-gov",</a:t>
            </a:r>
            <a:endParaRPr lang="en-US" sz="1200" dirty="0"/>
          </a:p>
        </p:txBody>
      </p:sp>
      <p:sp>
        <p:nvSpPr>
          <p:cNvPr id="8" name="Text 6"/>
          <p:cNvSpPr/>
          <p:nvPr/>
        </p:nvSpPr>
        <p:spPr>
          <a:xfrm>
            <a:off x="1066800" y="3619500"/>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"skills"</a:t>
            </a:r>
            <a:r>
              <a:rPr lang="en-US" sz="1200" dirty="0">
                <a:solidFill>
                  <a:srgbClr val="F4F2EC"/>
                </a:solidFill>
                <a:latin typeface="JetBrains Mono" pitchFamily="49" charset="0"/>
                <a:ea typeface="JetBrains Mono" pitchFamily="49" charset="-122"/>
                <a:cs typeface="JetBrains Mono" pitchFamily="49" charset="-120"/>
              </a:rPr>
              <a:t>: ["terraform-gov",</a:t>
            </a:r>
            <a:endParaRPr lang="en-US" sz="1200" dirty="0"/>
          </a:p>
        </p:txBody>
      </p:sp>
      <p:sp>
        <p:nvSpPr>
          <p:cNvPr id="9" name="Text 7"/>
          <p:cNvSpPr/>
          <p:nvPr/>
        </p:nvSpPr>
        <p:spPr>
          <a:xfrm>
            <a:off x="1066800" y="3870920"/>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"kubernetes-gov", "k8s-triage",</a:t>
            </a:r>
            <a:endParaRPr lang="en-US" sz="1200" dirty="0"/>
          </a:p>
        </p:txBody>
      </p:sp>
      <p:sp>
        <p:nvSpPr>
          <p:cNvPr id="10" name="Text 8"/>
          <p:cNvSpPr/>
          <p:nvPr/>
        </p:nvSpPr>
        <p:spPr>
          <a:xfrm>
            <a:off x="1066800" y="4122341"/>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"github-actions-gov"],</a:t>
            </a:r>
            <a:endParaRPr lang="en-US" sz="1200" dirty="0"/>
          </a:p>
        </p:txBody>
      </p:sp>
      <p:sp>
        <p:nvSpPr>
          <p:cNvPr id="11" name="Text 9"/>
          <p:cNvSpPr/>
          <p:nvPr/>
        </p:nvSpPr>
        <p:spPr>
          <a:xfrm>
            <a:off x="1066800" y="4373761"/>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"references"</a:t>
            </a:r>
            <a:r>
              <a:rPr lang="en-US" sz="1200" dirty="0">
                <a:solidFill>
                  <a:srgbClr val="F4F2EC"/>
                </a:solidFill>
                <a:latin typeface="JetBrains Mono" pitchFamily="49" charset="0"/>
                <a:ea typeface="JetBrains Mono" pitchFamily="49" charset="-122"/>
                <a:cs typeface="JetBrains Mono" pitchFamily="49" charset="-120"/>
              </a:rPr>
              <a:t>: ["devsecops-team"],</a:t>
            </a:r>
            <a:endParaRPr lang="en-US" sz="1200" dirty="0"/>
          </a:p>
        </p:txBody>
      </p:sp>
      <p:sp>
        <p:nvSpPr>
          <p:cNvPr id="12" name="Text 10"/>
          <p:cNvSpPr/>
          <p:nvPr/>
        </p:nvSpPr>
        <p:spPr>
          <a:xfrm>
            <a:off x="1066800" y="4625181"/>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"mcp_servers"</a:t>
            </a:r>
            <a:r>
              <a:rPr lang="en-US" sz="1200" dirty="0">
                <a:solidFill>
                  <a:srgbClr val="F4F2EC"/>
                </a:solidFill>
                <a:latin typeface="JetBrains Mono" pitchFamily="49" charset="0"/>
                <a:ea typeface="JetBrains Mono" pitchFamily="49" charset="-122"/>
                <a:cs typeface="JetBrains Mono" pitchFamily="49" charset="-120"/>
              </a:rPr>
              <a:t>: ["github"],</a:t>
            </a:r>
            <a:endParaRPr lang="en-US" sz="1200" dirty="0"/>
          </a:p>
        </p:txBody>
      </p:sp>
      <p:sp>
        <p:nvSpPr>
          <p:cNvPr id="13" name="Text 11"/>
          <p:cNvSpPr/>
          <p:nvPr/>
        </p:nvSpPr>
        <p:spPr>
          <a:xfrm>
            <a:off x="1066800" y="4876602"/>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"model"</a:t>
            </a:r>
            <a:r>
              <a:rPr lang="en-US" sz="1200" dirty="0">
                <a:solidFill>
                  <a:srgbClr val="F4F2EC"/>
                </a:solidFill>
                <a:latin typeface="JetBrains Mono" pitchFamily="49" charset="0"/>
                <a:ea typeface="JetBrains Mono" pitchFamily="49" charset="-122"/>
                <a:cs typeface="JetBrains Mono" pitchFamily="49" charset="-120"/>
              </a:rPr>
              <a:t>: "opus"</a:t>
            </a:r>
            <a:endParaRPr lang="en-US" sz="1200" dirty="0"/>
          </a:p>
        </p:txBody>
      </p:sp>
      <p:sp>
        <p:nvSpPr>
          <p:cNvPr id="14" name="Text 12"/>
          <p:cNvSpPr/>
          <p:nvPr/>
        </p:nvSpPr>
        <p:spPr>
          <a:xfrm>
            <a:off x="1066800" y="5128022"/>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a:t>
            </a:r>
            <a:endParaRPr lang="en-US" sz="1200" dirty="0"/>
          </a:p>
        </p:txBody>
      </p:sp>
      <p:sp>
        <p:nvSpPr>
          <p:cNvPr id="15" name="Text 13"/>
          <p:cNvSpPr/>
          <p:nvPr/>
        </p:nvSpPr>
        <p:spPr>
          <a:xfrm>
            <a:off x="6629400" y="2975769"/>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persona</a:t>
            </a:r>
            <a:r>
              <a:rPr lang="en-US" sz="1400" dirty="0">
                <a:solidFill>
                  <a:srgbClr val="4A5563"/>
                </a:solidFill>
                <a:latin typeface="IBM Plex Sans" pitchFamily="34" charset="0"/>
                <a:ea typeface="IBM Plex Sans" pitchFamily="34" charset="-122"/>
                <a:cs typeface="IBM Plex Sans" pitchFamily="34" charset="-120"/>
              </a:rPr>
              <a:t> · who the agent is</a:t>
            </a:r>
            <a:endParaRPr lang="en-US" sz="1400" dirty="0"/>
          </a:p>
        </p:txBody>
      </p:sp>
      <p:sp>
        <p:nvSpPr>
          <p:cNvPr id="16" name="Text 14"/>
          <p:cNvSpPr/>
          <p:nvPr/>
        </p:nvSpPr>
        <p:spPr>
          <a:xfrm>
            <a:off x="6629400" y="3377009"/>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skills</a:t>
            </a:r>
            <a:r>
              <a:rPr lang="en-US" sz="1400" dirty="0">
                <a:solidFill>
                  <a:srgbClr val="4A5563"/>
                </a:solidFill>
                <a:latin typeface="IBM Plex Sans" pitchFamily="34" charset="0"/>
                <a:ea typeface="IBM Plex Sans" pitchFamily="34" charset="-122"/>
                <a:cs typeface="IBM Plex Sans" pitchFamily="34" charset="-120"/>
              </a:rPr>
              <a:t> · the procedures it can pick up</a:t>
            </a:r>
            <a:endParaRPr lang="en-US" sz="1400" dirty="0"/>
          </a:p>
        </p:txBody>
      </p:sp>
      <p:sp>
        <p:nvSpPr>
          <p:cNvPr id="17" name="Text 15"/>
          <p:cNvSpPr/>
          <p:nvPr/>
        </p:nvSpPr>
        <p:spPr>
          <a:xfrm>
            <a:off x="6629400" y="3778250"/>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references</a:t>
            </a:r>
            <a:r>
              <a:rPr lang="en-US" sz="1400" dirty="0">
                <a:solidFill>
                  <a:srgbClr val="4A5563"/>
                </a:solidFill>
                <a:latin typeface="IBM Plex Sans" pitchFamily="34" charset="0"/>
                <a:ea typeface="IBM Plex Sans" pitchFamily="34" charset="-122"/>
                <a:cs typeface="IBM Plex Sans" pitchFamily="34" charset="-120"/>
              </a:rPr>
              <a:t> · team rules read every session</a:t>
            </a:r>
            <a:endParaRPr lang="en-US" sz="1400" dirty="0"/>
          </a:p>
        </p:txBody>
      </p:sp>
      <p:sp>
        <p:nvSpPr>
          <p:cNvPr id="18" name="Text 16"/>
          <p:cNvSpPr/>
          <p:nvPr/>
        </p:nvSpPr>
        <p:spPr>
          <a:xfrm>
            <a:off x="6629400" y="4179491"/>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mcp_servers</a:t>
            </a:r>
            <a:r>
              <a:rPr lang="en-US" sz="1400" dirty="0">
                <a:solidFill>
                  <a:srgbClr val="4A5563"/>
                </a:solidFill>
                <a:latin typeface="IBM Plex Sans" pitchFamily="34" charset="0"/>
                <a:ea typeface="IBM Plex Sans" pitchFamily="34" charset="-122"/>
                <a:cs typeface="IBM Plex Sans" pitchFamily="34" charset="-120"/>
              </a:rPr>
              <a:t> · the only tools it gets</a:t>
            </a:r>
            <a:endParaRPr lang="en-US" sz="1400" dirty="0"/>
          </a:p>
        </p:txBody>
      </p:sp>
      <p:sp>
        <p:nvSpPr>
          <p:cNvPr id="19" name="Text 17"/>
          <p:cNvSpPr/>
          <p:nvPr/>
        </p:nvSpPr>
        <p:spPr>
          <a:xfrm>
            <a:off x="6629400" y="4580731"/>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model</a:t>
            </a:r>
            <a:r>
              <a:rPr lang="en-US" sz="1400" dirty="0">
                <a:solidFill>
                  <a:srgbClr val="4A5563"/>
                </a:solidFill>
                <a:latin typeface="IBM Plex Sans" pitchFamily="34" charset="0"/>
                <a:ea typeface="IBM Plex Sans" pitchFamily="34" charset="-122"/>
                <a:cs typeface="IBM Plex Sans" pitchFamily="34" charset="-120"/>
              </a:rPr>
              <a:t> · sized to the job</a:t>
            </a:r>
            <a:endParaRPr lang="en-US" sz="1400" dirty="0"/>
          </a:p>
        </p:txBody>
      </p:sp>
      <p:sp>
        <p:nvSpPr>
          <p:cNvPr id="20" name="Text 18"/>
          <p:cNvSpPr/>
          <p:nvPr/>
        </p:nvSpPr>
        <p:spPr>
          <a:xfrm>
            <a:off x="6629400" y="4981972"/>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profile</a:t>
            </a:r>
            <a:r>
              <a:rPr lang="en-US" sz="1400" dirty="0">
                <a:solidFill>
                  <a:srgbClr val="4A5563"/>
                </a:solidFill>
                <a:latin typeface="IBM Plex Sans" pitchFamily="34" charset="0"/>
                <a:ea typeface="IBM Plex Sans" pitchFamily="34" charset="-122"/>
                <a:cs typeface="IBM Plex Sans" pitchFamily="34" charset="-120"/>
              </a:rPr>
              <a:t> · run on the host or in a container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SNCFLEET.AI</a:t>
            </a:r>
            <a:endParaRPr lang="en-US" sz="1200" dirty="0"/>
          </a:p>
        </p:txBody>
      </p:sp>
      <p:sp>
        <p:nvSpPr>
          <p:cNvPr id="3" name="Text 1"/>
          <p:cNvSpPr/>
          <p:nvPr>
            <p:ph type="title"/>
          </p:nvPr>
        </p:nvSpPr>
        <p:spPr>
          <a:xfrm>
            <a:off x="812800" y="12801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The kits on our team today</a:t>
            </a:r>
            <a:endParaRPr lang="en-US" sz="3600" dirty="0"/>
          </a:p>
        </p:txBody>
      </p:sp>
      <p:sp>
        <p:nvSpPr>
          <p:cNvPr id="4" name="Shape 2"/>
          <p:cNvSpPr/>
          <p:nvPr/>
        </p:nvSpPr>
        <p:spPr>
          <a:xfrm>
            <a:off x="815975" y="2063055"/>
            <a:ext cx="3414117" cy="1489472"/>
          </a:xfrm>
          <a:prstGeom prst="roundRect">
            <a:avLst>
              <a:gd name="adj" fmla="val 6608"/>
            </a:avLst>
          </a:prstGeom>
          <a:solidFill>
            <a:srgbClr val="FBFAF6"/>
          </a:solidFill>
          <a:ln w="6350">
            <a:solidFill>
              <a:srgbClr val="DAD5C8"/>
            </a:solidFill>
            <a:prstDash val="solid"/>
          </a:ln>
        </p:spPr>
      </p:sp>
      <p:sp>
        <p:nvSpPr>
          <p:cNvPr id="5" name="Text 3"/>
          <p:cNvSpPr/>
          <p:nvPr/>
        </p:nvSpPr>
        <p:spPr>
          <a:xfrm>
            <a:off x="1022350" y="2269430"/>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devsecops</a:t>
            </a:r>
            <a:endParaRPr lang="en-US" sz="1200" dirty="0"/>
          </a:p>
        </p:txBody>
      </p:sp>
      <p:sp>
        <p:nvSpPr>
          <p:cNvPr id="6" name="Text 4"/>
          <p:cNvSpPr/>
          <p:nvPr/>
        </p:nvSpPr>
        <p:spPr>
          <a:xfrm>
            <a:off x="1022350" y="2558951"/>
            <a:ext cx="30914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Pipelines, infrastructure as code and supply-chain security.</a:t>
            </a:r>
            <a:endParaRPr lang="en-US" sz="1400" dirty="0"/>
          </a:p>
        </p:txBody>
      </p:sp>
      <p:sp>
        <p:nvSpPr>
          <p:cNvPr id="7" name="Text 5"/>
          <p:cNvSpPr/>
          <p:nvPr/>
        </p:nvSpPr>
        <p:spPr>
          <a:xfrm>
            <a:off x="1022350" y="3132832"/>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Skills: [list]</a:t>
            </a:r>
            <a:endParaRPr lang="en-US" sz="1200" dirty="0"/>
          </a:p>
        </p:txBody>
      </p:sp>
      <p:sp>
        <p:nvSpPr>
          <p:cNvPr id="8" name="Shape 6"/>
          <p:cNvSpPr/>
          <p:nvPr/>
        </p:nvSpPr>
        <p:spPr>
          <a:xfrm>
            <a:off x="4388842" y="2063055"/>
            <a:ext cx="3414216" cy="1489472"/>
          </a:xfrm>
          <a:prstGeom prst="roundRect">
            <a:avLst>
              <a:gd name="adj" fmla="val 6608"/>
            </a:avLst>
          </a:prstGeom>
          <a:solidFill>
            <a:srgbClr val="FBFAF6"/>
          </a:solidFill>
          <a:ln w="6350">
            <a:solidFill>
              <a:srgbClr val="DAD5C8"/>
            </a:solidFill>
            <a:prstDash val="solid"/>
          </a:ln>
        </p:spPr>
      </p:sp>
      <p:sp>
        <p:nvSpPr>
          <p:cNvPr id="9" name="Text 7"/>
          <p:cNvSpPr/>
          <p:nvPr/>
        </p:nvSpPr>
        <p:spPr>
          <a:xfrm>
            <a:off x="4595217" y="22694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pr-reviewer</a:t>
            </a:r>
            <a:endParaRPr lang="en-US" sz="1200" dirty="0"/>
          </a:p>
        </p:txBody>
      </p:sp>
      <p:sp>
        <p:nvSpPr>
          <p:cNvPr id="10" name="Text 8"/>
          <p:cNvSpPr/>
          <p:nvPr/>
        </p:nvSpPr>
        <p:spPr>
          <a:xfrm>
            <a:off x="4595217" y="2558951"/>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Reviews pull requests against our standards and checklist.</a:t>
            </a:r>
            <a:endParaRPr lang="en-US" sz="1400" dirty="0"/>
          </a:p>
        </p:txBody>
      </p:sp>
      <p:sp>
        <p:nvSpPr>
          <p:cNvPr id="11" name="Text 9"/>
          <p:cNvSpPr/>
          <p:nvPr/>
        </p:nvSpPr>
        <p:spPr>
          <a:xfrm>
            <a:off x="4595217" y="313283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Skills: [list]</a:t>
            </a:r>
            <a:endParaRPr lang="en-US" sz="1200" dirty="0"/>
          </a:p>
        </p:txBody>
      </p:sp>
      <p:sp>
        <p:nvSpPr>
          <p:cNvPr id="12" name="Shape 10"/>
          <p:cNvSpPr/>
          <p:nvPr/>
        </p:nvSpPr>
        <p:spPr>
          <a:xfrm>
            <a:off x="7961809" y="2063055"/>
            <a:ext cx="3414216" cy="1489472"/>
          </a:xfrm>
          <a:prstGeom prst="roundRect">
            <a:avLst>
              <a:gd name="adj" fmla="val 6608"/>
            </a:avLst>
          </a:prstGeom>
          <a:solidFill>
            <a:srgbClr val="FBFAF6"/>
          </a:solidFill>
          <a:ln w="6350">
            <a:solidFill>
              <a:srgbClr val="DAD5C8"/>
            </a:solidFill>
            <a:prstDash val="solid"/>
          </a:ln>
        </p:spPr>
      </p:sp>
      <p:sp>
        <p:nvSpPr>
          <p:cNvPr id="13" name="Text 11"/>
          <p:cNvSpPr/>
          <p:nvPr/>
        </p:nvSpPr>
        <p:spPr>
          <a:xfrm>
            <a:off x="8168184" y="22694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cmmc-analyst</a:t>
            </a:r>
            <a:endParaRPr lang="en-US" sz="1200" dirty="0"/>
          </a:p>
        </p:txBody>
      </p:sp>
      <p:sp>
        <p:nvSpPr>
          <p:cNvPr id="14" name="Text 12"/>
          <p:cNvSpPr/>
          <p:nvPr/>
        </p:nvSpPr>
        <p:spPr>
          <a:xfrm>
            <a:off x="8168184" y="2558951"/>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Maps changes and evidence to CMMC Level 2 practices.</a:t>
            </a:r>
            <a:endParaRPr lang="en-US" sz="1400" dirty="0"/>
          </a:p>
        </p:txBody>
      </p:sp>
      <p:sp>
        <p:nvSpPr>
          <p:cNvPr id="15" name="Text 13"/>
          <p:cNvSpPr/>
          <p:nvPr/>
        </p:nvSpPr>
        <p:spPr>
          <a:xfrm>
            <a:off x="8168184" y="313283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Skills: [list]</a:t>
            </a:r>
            <a:endParaRPr lang="en-US" sz="1200" dirty="0"/>
          </a:p>
        </p:txBody>
      </p:sp>
      <p:sp>
        <p:nvSpPr>
          <p:cNvPr id="16" name="Shape 14"/>
          <p:cNvSpPr/>
          <p:nvPr/>
        </p:nvSpPr>
        <p:spPr>
          <a:xfrm>
            <a:off x="815975" y="3711277"/>
            <a:ext cx="3414117" cy="1489472"/>
          </a:xfrm>
          <a:prstGeom prst="roundRect">
            <a:avLst>
              <a:gd name="adj" fmla="val 6608"/>
            </a:avLst>
          </a:prstGeom>
          <a:solidFill>
            <a:srgbClr val="FBFAF6"/>
          </a:solidFill>
          <a:ln w="6350">
            <a:solidFill>
              <a:srgbClr val="DAD5C8"/>
            </a:solidFill>
            <a:prstDash val="solid"/>
          </a:ln>
        </p:spPr>
      </p:sp>
      <p:sp>
        <p:nvSpPr>
          <p:cNvPr id="17" name="Text 15"/>
          <p:cNvSpPr/>
          <p:nvPr/>
        </p:nvSpPr>
        <p:spPr>
          <a:xfrm>
            <a:off x="1022350" y="3917652"/>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security-engineer</a:t>
            </a:r>
            <a:endParaRPr lang="en-US" sz="1200" dirty="0"/>
          </a:p>
        </p:txBody>
      </p:sp>
      <p:sp>
        <p:nvSpPr>
          <p:cNvPr id="18" name="Text 16"/>
          <p:cNvSpPr/>
          <p:nvPr/>
        </p:nvSpPr>
        <p:spPr>
          <a:xfrm>
            <a:off x="1022350" y="4207173"/>
            <a:ext cx="30914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Threat models, triages findings and proposes hardening.</a:t>
            </a:r>
            <a:endParaRPr lang="en-US" sz="1400" dirty="0"/>
          </a:p>
        </p:txBody>
      </p:sp>
      <p:sp>
        <p:nvSpPr>
          <p:cNvPr id="19" name="Text 17"/>
          <p:cNvSpPr/>
          <p:nvPr/>
        </p:nvSpPr>
        <p:spPr>
          <a:xfrm>
            <a:off x="1022350" y="4781054"/>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Skills: [list]</a:t>
            </a:r>
            <a:endParaRPr lang="en-US" sz="1200" dirty="0"/>
          </a:p>
        </p:txBody>
      </p:sp>
      <p:sp>
        <p:nvSpPr>
          <p:cNvPr id="20" name="Shape 18"/>
          <p:cNvSpPr/>
          <p:nvPr/>
        </p:nvSpPr>
        <p:spPr>
          <a:xfrm>
            <a:off x="4388842" y="3711277"/>
            <a:ext cx="3414216" cy="1489472"/>
          </a:xfrm>
          <a:prstGeom prst="roundRect">
            <a:avLst>
              <a:gd name="adj" fmla="val 6608"/>
            </a:avLst>
          </a:prstGeom>
          <a:solidFill>
            <a:srgbClr val="FBFAF6"/>
          </a:solidFill>
          <a:ln w="6350">
            <a:solidFill>
              <a:srgbClr val="DAD5C8"/>
            </a:solidFill>
            <a:prstDash val="solid"/>
          </a:ln>
        </p:spPr>
      </p:sp>
      <p:sp>
        <p:nvSpPr>
          <p:cNvPr id="21" name="Text 19"/>
          <p:cNvSpPr/>
          <p:nvPr/>
        </p:nvSpPr>
        <p:spPr>
          <a:xfrm>
            <a:off x="4595217" y="391765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dotnet-developer</a:t>
            </a:r>
            <a:endParaRPr lang="en-US" sz="1200" dirty="0"/>
          </a:p>
        </p:txBody>
      </p:sp>
      <p:sp>
        <p:nvSpPr>
          <p:cNvPr id="22" name="Text 20"/>
          <p:cNvSpPr/>
          <p:nvPr/>
        </p:nvSpPr>
        <p:spPr>
          <a:xfrm>
            <a:off x="4595217" y="4207173"/>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Builds and fixes C#/.NET features, with tests.</a:t>
            </a:r>
            <a:endParaRPr lang="en-US" sz="1400" dirty="0"/>
          </a:p>
        </p:txBody>
      </p:sp>
      <p:sp>
        <p:nvSpPr>
          <p:cNvPr id="23" name="Text 21"/>
          <p:cNvSpPr/>
          <p:nvPr/>
        </p:nvSpPr>
        <p:spPr>
          <a:xfrm>
            <a:off x="4595217" y="4781054"/>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Skills: [list]</a:t>
            </a:r>
            <a:endParaRPr lang="en-US" sz="1200" dirty="0"/>
          </a:p>
        </p:txBody>
      </p:sp>
      <p:sp>
        <p:nvSpPr>
          <p:cNvPr id="24" name="Shape 22"/>
          <p:cNvSpPr/>
          <p:nvPr/>
        </p:nvSpPr>
        <p:spPr>
          <a:xfrm>
            <a:off x="7958634" y="3708102"/>
            <a:ext cx="3420566" cy="1495822"/>
          </a:xfrm>
          <a:prstGeom prst="roundRect">
            <a:avLst>
              <a:gd name="adj" fmla="val 6792"/>
            </a:avLst>
          </a:prstGeom>
          <a:solidFill>
            <a:srgbClr val="0F1A24"/>
          </a:solidFill>
          <a:ln/>
        </p:spPr>
      </p:sp>
      <p:sp>
        <p:nvSpPr>
          <p:cNvPr id="25" name="Text 23"/>
          <p:cNvSpPr/>
          <p:nvPr/>
        </p:nvSpPr>
        <p:spPr>
          <a:xfrm>
            <a:off x="8161834" y="4062412"/>
            <a:ext cx="3104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JetBrains Mono" pitchFamily="49" charset="0"/>
                <a:ea typeface="JetBrains Mono" pitchFamily="49" charset="-122"/>
                <a:cs typeface="JetBrains Mono" pitchFamily="49" charset="-120"/>
              </a:rPr>
              <a:t>+ next kit</a:t>
            </a:r>
            <a:endParaRPr lang="en-US" sz="1200" dirty="0"/>
          </a:p>
        </p:txBody>
      </p:sp>
      <p:sp>
        <p:nvSpPr>
          <p:cNvPr id="26" name="Text 24"/>
          <p:cNvSpPr/>
          <p:nvPr/>
        </p:nvSpPr>
        <p:spPr>
          <a:xfrm>
            <a:off x="8161834" y="4351933"/>
            <a:ext cx="310459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A new role is a persona file and a JSON file, reviewed in a PR.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HOW AN AGENT RUNS</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From kit to pull request</a:t>
            </a:r>
            <a:endParaRPr lang="en-US" sz="3600" dirty="0"/>
          </a:p>
        </p:txBody>
      </p:sp>
      <p:sp>
        <p:nvSpPr>
          <p:cNvPr id="4" name="Shape 2"/>
          <p:cNvSpPr/>
          <p:nvPr/>
        </p:nvSpPr>
        <p:spPr>
          <a:xfrm>
            <a:off x="815975" y="2271316"/>
            <a:ext cx="1743670" cy="1398091"/>
          </a:xfrm>
          <a:prstGeom prst="roundRect">
            <a:avLst>
              <a:gd name="adj" fmla="val 7040"/>
            </a:avLst>
          </a:prstGeom>
          <a:solidFill>
            <a:srgbClr val="FBFAF6"/>
          </a:solidFill>
          <a:ln w="6350">
            <a:solidFill>
              <a:srgbClr val="DAD5C8"/>
            </a:solidFill>
            <a:prstDash val="solid"/>
          </a:ln>
        </p:spPr>
      </p:sp>
      <p:sp>
        <p:nvSpPr>
          <p:cNvPr id="5" name="Text 3"/>
          <p:cNvSpPr/>
          <p:nvPr/>
        </p:nvSpPr>
        <p:spPr>
          <a:xfrm>
            <a:off x="996950" y="2452291"/>
            <a:ext cx="14325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996950" y="2741811"/>
            <a:ext cx="1432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Pick</a:t>
            </a:r>
            <a:endParaRPr lang="en-US" sz="1600" dirty="0"/>
          </a:p>
        </p:txBody>
      </p:sp>
      <p:sp>
        <p:nvSpPr>
          <p:cNvPr id="7" name="Text 5"/>
          <p:cNvSpPr/>
          <p:nvPr/>
        </p:nvSpPr>
        <p:spPr>
          <a:xfrm>
            <a:off x="996950" y="3061791"/>
            <a:ext cx="14325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New agent, choose a kit</a:t>
            </a:r>
            <a:endParaRPr lang="en-US" sz="1200" dirty="0"/>
          </a:p>
        </p:txBody>
      </p:sp>
      <p:pic>
        <p:nvPicPr>
          <p:cNvPr id="8" name="Image 0" descr="arrow-right">    </p:cNvPr>
          <p:cNvPicPr>
            <a:picLocks noChangeAspect="1"/>
          </p:cNvPicPr>
          <p:nvPr/>
        </p:nvPicPr>
        <p:blipFill>
          <a:blip r:embed="rId1"/>
          <a:srcRect l="0" r="0" t="0" b="0"/>
          <a:stretch/>
        </p:blipFill>
        <p:spPr>
          <a:xfrm>
            <a:off x="2664420" y="2906812"/>
            <a:ext cx="254000" cy="127000"/>
          </a:xfrm>
          <a:prstGeom prst="rect">
            <a:avLst/>
          </a:prstGeom>
        </p:spPr>
      </p:pic>
      <p:sp>
        <p:nvSpPr>
          <p:cNvPr id="9" name="Shape 6"/>
          <p:cNvSpPr/>
          <p:nvPr/>
        </p:nvSpPr>
        <p:spPr>
          <a:xfrm>
            <a:off x="3023195" y="2164655"/>
            <a:ext cx="1743770" cy="1611412"/>
          </a:xfrm>
          <a:prstGeom prst="roundRect">
            <a:avLst>
              <a:gd name="adj" fmla="val 6108"/>
            </a:avLst>
          </a:prstGeom>
          <a:solidFill>
            <a:srgbClr val="FBFAF6"/>
          </a:solidFill>
          <a:ln w="6350">
            <a:solidFill>
              <a:srgbClr val="DAD5C8"/>
            </a:solidFill>
            <a:prstDash val="solid"/>
          </a:ln>
        </p:spPr>
      </p:sp>
      <p:sp>
        <p:nvSpPr>
          <p:cNvPr id="10" name="Text 7"/>
          <p:cNvSpPr/>
          <p:nvPr/>
        </p:nvSpPr>
        <p:spPr>
          <a:xfrm>
            <a:off x="3204170" y="2345630"/>
            <a:ext cx="1432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2</a:t>
            </a:r>
            <a:endParaRPr lang="en-US" sz="1200" dirty="0"/>
          </a:p>
        </p:txBody>
      </p:sp>
      <p:sp>
        <p:nvSpPr>
          <p:cNvPr id="11" name="Text 8"/>
          <p:cNvSpPr/>
          <p:nvPr/>
        </p:nvSpPr>
        <p:spPr>
          <a:xfrm>
            <a:off x="3204170" y="2635151"/>
            <a:ext cx="14326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Isolate</a:t>
            </a:r>
            <a:endParaRPr lang="en-US" sz="1600" dirty="0"/>
          </a:p>
        </p:txBody>
      </p:sp>
      <p:sp>
        <p:nvSpPr>
          <p:cNvPr id="12" name="Text 9"/>
          <p:cNvSpPr/>
          <p:nvPr/>
        </p:nvSpPr>
        <p:spPr>
          <a:xfrm>
            <a:off x="3204170" y="2955131"/>
            <a:ext cx="14326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Own branch and checkout, or a container</a:t>
            </a:r>
            <a:endParaRPr lang="en-US" sz="1200" dirty="0"/>
          </a:p>
        </p:txBody>
      </p:sp>
      <p:pic>
        <p:nvPicPr>
          <p:cNvPr id="13" name="Image 1" descr="arrow-right">    </p:cNvPr>
          <p:cNvPicPr>
            <a:picLocks noChangeAspect="1"/>
          </p:cNvPicPr>
          <p:nvPr/>
        </p:nvPicPr>
        <p:blipFill>
          <a:blip r:embed="rId2"/>
          <a:srcRect l="0" r="0" t="0" b="0"/>
          <a:stretch/>
        </p:blipFill>
        <p:spPr>
          <a:xfrm>
            <a:off x="4871740" y="2906812"/>
            <a:ext cx="254000" cy="127000"/>
          </a:xfrm>
          <a:prstGeom prst="rect">
            <a:avLst/>
          </a:prstGeom>
        </p:spPr>
      </p:pic>
      <p:sp>
        <p:nvSpPr>
          <p:cNvPr id="14" name="Shape 10"/>
          <p:cNvSpPr/>
          <p:nvPr/>
        </p:nvSpPr>
        <p:spPr>
          <a:xfrm>
            <a:off x="5230515" y="2164655"/>
            <a:ext cx="1743670" cy="1611412"/>
          </a:xfrm>
          <a:prstGeom prst="roundRect">
            <a:avLst>
              <a:gd name="adj" fmla="val 6108"/>
            </a:avLst>
          </a:prstGeom>
          <a:solidFill>
            <a:srgbClr val="FBFAF6"/>
          </a:solidFill>
          <a:ln w="6350">
            <a:solidFill>
              <a:srgbClr val="DAD5C8"/>
            </a:solidFill>
            <a:prstDash val="solid"/>
          </a:ln>
        </p:spPr>
      </p:sp>
      <p:sp>
        <p:nvSpPr>
          <p:cNvPr id="15" name="Text 11"/>
          <p:cNvSpPr/>
          <p:nvPr/>
        </p:nvSpPr>
        <p:spPr>
          <a:xfrm>
            <a:off x="5411490" y="2345630"/>
            <a:ext cx="14325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3</a:t>
            </a:r>
            <a:endParaRPr lang="en-US" sz="1200" dirty="0"/>
          </a:p>
        </p:txBody>
      </p:sp>
      <p:sp>
        <p:nvSpPr>
          <p:cNvPr id="16" name="Text 12"/>
          <p:cNvSpPr/>
          <p:nvPr/>
        </p:nvSpPr>
        <p:spPr>
          <a:xfrm>
            <a:off x="5411490" y="2635151"/>
            <a:ext cx="1432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Install</a:t>
            </a:r>
            <a:endParaRPr lang="en-US" sz="1600" dirty="0"/>
          </a:p>
        </p:txBody>
      </p:sp>
      <p:sp>
        <p:nvSpPr>
          <p:cNvPr id="17" name="Text 13"/>
          <p:cNvSpPr/>
          <p:nvPr/>
        </p:nvSpPr>
        <p:spPr>
          <a:xfrm>
            <a:off x="5411490" y="2955131"/>
            <a:ext cx="14325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Persona, skills and rules copied in; tools scoped</a:t>
            </a:r>
            <a:endParaRPr lang="en-US" sz="1200" dirty="0"/>
          </a:p>
        </p:txBody>
      </p:sp>
      <p:pic>
        <p:nvPicPr>
          <p:cNvPr id="18" name="Image 2" descr="arrow-right">    </p:cNvPr>
          <p:cNvPicPr>
            <a:picLocks noChangeAspect="1"/>
          </p:cNvPicPr>
          <p:nvPr/>
        </p:nvPicPr>
        <p:blipFill>
          <a:blip r:embed="rId3"/>
          <a:srcRect l="0" r="0" t="0" b="0"/>
          <a:stretch/>
        </p:blipFill>
        <p:spPr>
          <a:xfrm>
            <a:off x="7078960" y="2906812"/>
            <a:ext cx="254000" cy="127000"/>
          </a:xfrm>
          <a:prstGeom prst="rect">
            <a:avLst/>
          </a:prstGeom>
        </p:spPr>
      </p:pic>
      <p:sp>
        <p:nvSpPr>
          <p:cNvPr id="19" name="Shape 14"/>
          <p:cNvSpPr/>
          <p:nvPr/>
        </p:nvSpPr>
        <p:spPr>
          <a:xfrm>
            <a:off x="7437735" y="2164655"/>
            <a:ext cx="1743770" cy="1611412"/>
          </a:xfrm>
          <a:prstGeom prst="roundRect">
            <a:avLst>
              <a:gd name="adj" fmla="val 6108"/>
            </a:avLst>
          </a:prstGeom>
          <a:solidFill>
            <a:srgbClr val="FBFAF6"/>
          </a:solidFill>
          <a:ln w="6350">
            <a:solidFill>
              <a:srgbClr val="DAD5C8"/>
            </a:solidFill>
            <a:prstDash val="solid"/>
          </a:ln>
        </p:spPr>
      </p:sp>
      <p:sp>
        <p:nvSpPr>
          <p:cNvPr id="20" name="Text 15"/>
          <p:cNvSpPr/>
          <p:nvPr/>
        </p:nvSpPr>
        <p:spPr>
          <a:xfrm>
            <a:off x="7618710" y="2345630"/>
            <a:ext cx="1432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4</a:t>
            </a:r>
            <a:endParaRPr lang="en-US" sz="1200" dirty="0"/>
          </a:p>
        </p:txBody>
      </p:sp>
      <p:sp>
        <p:nvSpPr>
          <p:cNvPr id="21" name="Text 16"/>
          <p:cNvSpPr/>
          <p:nvPr/>
        </p:nvSpPr>
        <p:spPr>
          <a:xfrm>
            <a:off x="7618710" y="2635151"/>
            <a:ext cx="14326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Work</a:t>
            </a:r>
            <a:endParaRPr lang="en-US" sz="1600" dirty="0"/>
          </a:p>
        </p:txBody>
      </p:sp>
      <p:sp>
        <p:nvSpPr>
          <p:cNvPr id="22" name="Text 17"/>
          <p:cNvSpPr/>
          <p:nvPr/>
        </p:nvSpPr>
        <p:spPr>
          <a:xfrm>
            <a:off x="7618710" y="2955131"/>
            <a:ext cx="14326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Runs as the persona; skills load on demand</a:t>
            </a:r>
            <a:endParaRPr lang="en-US" sz="1200" dirty="0"/>
          </a:p>
        </p:txBody>
      </p:sp>
      <p:pic>
        <p:nvPicPr>
          <p:cNvPr id="23" name="Image 3" descr="arrow-right">    </p:cNvPr>
          <p:cNvPicPr>
            <a:picLocks noChangeAspect="1"/>
          </p:cNvPicPr>
          <p:nvPr/>
        </p:nvPicPr>
        <p:blipFill>
          <a:blip r:embed="rId4"/>
          <a:srcRect l="0" r="0" t="0" b="0"/>
          <a:stretch/>
        </p:blipFill>
        <p:spPr>
          <a:xfrm>
            <a:off x="9286280" y="2906812"/>
            <a:ext cx="254000" cy="127000"/>
          </a:xfrm>
          <a:prstGeom prst="rect">
            <a:avLst/>
          </a:prstGeom>
        </p:spPr>
      </p:pic>
      <p:sp>
        <p:nvSpPr>
          <p:cNvPr id="24" name="Shape 18"/>
          <p:cNvSpPr/>
          <p:nvPr/>
        </p:nvSpPr>
        <p:spPr>
          <a:xfrm>
            <a:off x="9641880" y="2167830"/>
            <a:ext cx="1737320" cy="1605062"/>
          </a:xfrm>
          <a:prstGeom prst="roundRect">
            <a:avLst>
              <a:gd name="adj" fmla="val 6330"/>
            </a:avLst>
          </a:prstGeom>
          <a:solidFill>
            <a:srgbClr val="0F1A24"/>
          </a:solidFill>
          <a:ln/>
        </p:spPr>
      </p:sp>
      <p:sp>
        <p:nvSpPr>
          <p:cNvPr id="25" name="Text 19"/>
          <p:cNvSpPr/>
          <p:nvPr/>
        </p:nvSpPr>
        <p:spPr>
          <a:xfrm>
            <a:off x="9819680" y="2345630"/>
            <a:ext cx="14325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JetBrains Mono" pitchFamily="49" charset="0"/>
                <a:ea typeface="JetBrains Mono" pitchFamily="49" charset="-122"/>
                <a:cs typeface="JetBrains Mono" pitchFamily="49" charset="-120"/>
              </a:rPr>
              <a:t>5</a:t>
            </a:r>
            <a:endParaRPr lang="en-US" sz="1200" dirty="0"/>
          </a:p>
        </p:txBody>
      </p:sp>
      <p:sp>
        <p:nvSpPr>
          <p:cNvPr id="26" name="Text 20"/>
          <p:cNvSpPr/>
          <p:nvPr/>
        </p:nvSpPr>
        <p:spPr>
          <a:xfrm>
            <a:off x="9819680" y="2635151"/>
            <a:ext cx="1432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Review</a:t>
            </a:r>
            <a:endParaRPr lang="en-US" sz="1600" dirty="0"/>
          </a:p>
        </p:txBody>
      </p:sp>
      <p:sp>
        <p:nvSpPr>
          <p:cNvPr id="27" name="Text 21"/>
          <p:cNvSpPr/>
          <p:nvPr/>
        </p:nvSpPr>
        <p:spPr>
          <a:xfrm>
            <a:off x="9819680" y="2955131"/>
            <a:ext cx="14325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IBM Plex Sans" pitchFamily="34" charset="0"/>
                <a:ea typeface="IBM Plex Sans" pitchFamily="34" charset="-122"/>
                <a:cs typeface="IBM Plex Sans" pitchFamily="34" charset="-120"/>
              </a:rPr>
              <a:t>Commits on its branch; a person merges</a:t>
            </a:r>
            <a:endParaRPr lang="en-US" sz="1200" dirty="0"/>
          </a:p>
        </p:txBody>
      </p:sp>
      <p:sp>
        <p:nvSpPr>
          <p:cNvPr id="28" name="Shape 22"/>
          <p:cNvSpPr/>
          <p:nvPr/>
        </p:nvSpPr>
        <p:spPr>
          <a:xfrm>
            <a:off x="825500" y="4084042"/>
            <a:ext cx="0" cy="792361"/>
          </a:xfrm>
          <a:prstGeom prst="line">
            <a:avLst/>
          </a:prstGeom>
          <a:noFill/>
          <a:ln w="25400">
            <a:solidFill>
              <a:srgbClr val="2A64A8"/>
            </a:solidFill>
            <a:prstDash val="solid"/>
          </a:ln>
        </p:spPr>
      </p:sp>
      <p:sp>
        <p:nvSpPr>
          <p:cNvPr id="29" name="Text 23"/>
          <p:cNvSpPr/>
          <p:nvPr/>
        </p:nvSpPr>
        <p:spPr>
          <a:xfrm>
            <a:off x="990600" y="4134842"/>
            <a:ext cx="518007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Many agents in parallel</a:t>
            </a:r>
            <a:endParaRPr lang="en-US" sz="1400" dirty="0"/>
          </a:p>
        </p:txBody>
      </p:sp>
      <p:sp>
        <p:nvSpPr>
          <p:cNvPr id="30" name="Text 24"/>
          <p:cNvSpPr/>
          <p:nvPr/>
        </p:nvSpPr>
        <p:spPr>
          <a:xfrm>
            <a:off x="990600" y="4398963"/>
            <a:ext cx="51800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Each tab in the terminal is its own agent with its own kit, so they don't step on each other.</a:t>
            </a:r>
            <a:endParaRPr lang="en-US" sz="1200" dirty="0"/>
          </a:p>
        </p:txBody>
      </p:sp>
      <p:sp>
        <p:nvSpPr>
          <p:cNvPr id="31" name="Shape 25"/>
          <p:cNvSpPr/>
          <p:nvPr/>
        </p:nvSpPr>
        <p:spPr>
          <a:xfrm>
            <a:off x="6184900" y="4084042"/>
            <a:ext cx="0" cy="792361"/>
          </a:xfrm>
          <a:prstGeom prst="line">
            <a:avLst/>
          </a:prstGeom>
          <a:noFill/>
          <a:ln w="25400">
            <a:solidFill>
              <a:srgbClr val="9A5B0E"/>
            </a:solidFill>
            <a:prstDash val="solid"/>
          </a:ln>
        </p:spPr>
      </p:sp>
      <p:sp>
        <p:nvSpPr>
          <p:cNvPr id="32" name="Text 26"/>
          <p:cNvSpPr/>
          <p:nvPr/>
        </p:nvSpPr>
        <p:spPr>
          <a:xfrm>
            <a:off x="6350000" y="4134842"/>
            <a:ext cx="518007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No real credentials inside</a:t>
            </a:r>
            <a:endParaRPr lang="en-US" sz="1400" dirty="0"/>
          </a:p>
        </p:txBody>
      </p:sp>
      <p:sp>
        <p:nvSpPr>
          <p:cNvPr id="33" name="Text 27"/>
          <p:cNvSpPr/>
          <p:nvPr/>
        </p:nvSpPr>
        <p:spPr>
          <a:xfrm>
            <a:off x="6350000" y="4398963"/>
            <a:ext cx="51800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agent holds a stand-in token; a proxy on the host swaps in the real session.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5D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TRUST AND GUARDRAILS</a:t>
            </a:r>
            <a:endParaRPr lang="en-US" sz="1200" dirty="0"/>
          </a:p>
        </p:txBody>
      </p:sp>
      <p:sp>
        <p:nvSpPr>
          <p:cNvPr id="3" name="Text 1"/>
          <p:cNvSpPr/>
          <p:nvPr>
            <p:ph type="title"/>
          </p:nvPr>
        </p:nvSpPr>
        <p:spPr>
          <a:xfrm>
            <a:off x="812800" y="1280120"/>
            <a:ext cx="10883392"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Skills can run commands, so we treat them like code</a:t>
            </a:r>
            <a:endParaRPr lang="en-US" sz="3600" dirty="0"/>
          </a:p>
        </p:txBody>
      </p:sp>
      <p:sp>
        <p:nvSpPr>
          <p:cNvPr id="4" name="Shape 2"/>
          <p:cNvSpPr/>
          <p:nvPr/>
        </p:nvSpPr>
        <p:spPr>
          <a:xfrm>
            <a:off x="815975" y="2588816"/>
            <a:ext cx="3414117" cy="1459111"/>
          </a:xfrm>
          <a:prstGeom prst="roundRect">
            <a:avLst>
              <a:gd name="adj" fmla="val 6746"/>
            </a:avLst>
          </a:prstGeom>
          <a:solidFill>
            <a:srgbClr val="FBFAF6"/>
          </a:solidFill>
          <a:ln w="6350">
            <a:solidFill>
              <a:srgbClr val="CFC9BA"/>
            </a:solidFill>
            <a:prstDash val="solid"/>
          </a:ln>
        </p:spPr>
      </p:sp>
      <p:pic>
        <p:nvPicPr>
          <p:cNvPr id="5" name="Image 0" descr="Key">    </p:cNvPr>
          <p:cNvPicPr>
            <a:picLocks noChangeAspect="1"/>
          </p:cNvPicPr>
          <p:nvPr/>
        </p:nvPicPr>
        <p:blipFill>
          <a:blip r:embed="rId1"/>
          <a:srcRect l="0" r="0" t="0" b="0"/>
          <a:stretch/>
        </p:blipFill>
        <p:spPr>
          <a:xfrm>
            <a:off x="1022350" y="2795191"/>
            <a:ext cx="254000" cy="254000"/>
          </a:xfrm>
          <a:prstGeom prst="rect">
            <a:avLst/>
          </a:prstGeom>
        </p:spPr>
      </p:pic>
      <p:sp>
        <p:nvSpPr>
          <p:cNvPr id="6" name="Text 3"/>
          <p:cNvSpPr/>
          <p:nvPr/>
        </p:nvSpPr>
        <p:spPr>
          <a:xfrm>
            <a:off x="1022350" y="3125391"/>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No real credentials</a:t>
            </a:r>
            <a:endParaRPr lang="en-US" sz="1400" dirty="0"/>
          </a:p>
        </p:txBody>
      </p:sp>
      <p:sp>
        <p:nvSpPr>
          <p:cNvPr id="7" name="Text 4"/>
          <p:cNvSpPr/>
          <p:nvPr/>
        </p:nvSpPr>
        <p:spPr>
          <a:xfrm>
            <a:off x="1022350" y="341491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Secrets stay on the host and in the MCP servers.</a:t>
            </a:r>
            <a:endParaRPr lang="en-US" sz="1200" dirty="0"/>
          </a:p>
        </p:txBody>
      </p:sp>
      <p:sp>
        <p:nvSpPr>
          <p:cNvPr id="8" name="Shape 5"/>
          <p:cNvSpPr/>
          <p:nvPr/>
        </p:nvSpPr>
        <p:spPr>
          <a:xfrm>
            <a:off x="4388842" y="2588816"/>
            <a:ext cx="3414216" cy="1459111"/>
          </a:xfrm>
          <a:prstGeom prst="roundRect">
            <a:avLst>
              <a:gd name="adj" fmla="val 6746"/>
            </a:avLst>
          </a:prstGeom>
          <a:solidFill>
            <a:srgbClr val="FBFAF6"/>
          </a:solidFill>
          <a:ln w="6350">
            <a:solidFill>
              <a:srgbClr val="CFC9BA"/>
            </a:solidFill>
            <a:prstDash val="solid"/>
          </a:ln>
        </p:spPr>
      </p:sp>
      <p:pic>
        <p:nvPicPr>
          <p:cNvPr id="9" name="Image 1" descr="Tool">    </p:cNvPr>
          <p:cNvPicPr>
            <a:picLocks noChangeAspect="1"/>
          </p:cNvPicPr>
          <p:nvPr/>
        </p:nvPicPr>
        <p:blipFill>
          <a:blip r:embed="rId2"/>
          <a:srcRect l="0" r="0" t="0" b="0"/>
          <a:stretch/>
        </p:blipFill>
        <p:spPr>
          <a:xfrm>
            <a:off x="4595217" y="2795191"/>
            <a:ext cx="254000" cy="254000"/>
          </a:xfrm>
          <a:prstGeom prst="rect">
            <a:avLst/>
          </a:prstGeom>
        </p:spPr>
      </p:pic>
      <p:sp>
        <p:nvSpPr>
          <p:cNvPr id="10" name="Text 6"/>
          <p:cNvSpPr/>
          <p:nvPr/>
        </p:nvSpPr>
        <p:spPr>
          <a:xfrm>
            <a:off x="4595217" y="312539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Least tools</a:t>
            </a:r>
            <a:endParaRPr lang="en-US" sz="1400" dirty="0"/>
          </a:p>
        </p:txBody>
      </p:sp>
      <p:sp>
        <p:nvSpPr>
          <p:cNvPr id="11" name="Text 7"/>
          <p:cNvSpPr/>
          <p:nvPr/>
        </p:nvSpPr>
        <p:spPr>
          <a:xfrm>
            <a:off x="4595217" y="341491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 kit names the only MCP servers its agent gets.</a:t>
            </a:r>
            <a:endParaRPr lang="en-US" sz="1200" dirty="0"/>
          </a:p>
        </p:txBody>
      </p:sp>
      <p:sp>
        <p:nvSpPr>
          <p:cNvPr id="12" name="Shape 8"/>
          <p:cNvSpPr/>
          <p:nvPr/>
        </p:nvSpPr>
        <p:spPr>
          <a:xfrm>
            <a:off x="7961809" y="2588816"/>
            <a:ext cx="3414216" cy="1459111"/>
          </a:xfrm>
          <a:prstGeom prst="roundRect">
            <a:avLst>
              <a:gd name="adj" fmla="val 6746"/>
            </a:avLst>
          </a:prstGeom>
          <a:solidFill>
            <a:srgbClr val="FBFAF6"/>
          </a:solidFill>
          <a:ln w="6350">
            <a:solidFill>
              <a:srgbClr val="CFC9BA"/>
            </a:solidFill>
            <a:prstDash val="solid"/>
          </a:ln>
        </p:spPr>
      </p:sp>
      <p:pic>
        <p:nvPicPr>
          <p:cNvPr id="13" name="Image 2" descr="Users">    </p:cNvPr>
          <p:cNvPicPr>
            <a:picLocks noChangeAspect="1"/>
          </p:cNvPicPr>
          <p:nvPr/>
        </p:nvPicPr>
        <p:blipFill>
          <a:blip r:embed="rId3"/>
          <a:srcRect l="0" r="0" t="0" b="0"/>
          <a:stretch/>
        </p:blipFill>
        <p:spPr>
          <a:xfrm>
            <a:off x="8168184" y="2795191"/>
            <a:ext cx="254000" cy="254000"/>
          </a:xfrm>
          <a:prstGeom prst="rect">
            <a:avLst/>
          </a:prstGeom>
        </p:spPr>
      </p:pic>
      <p:sp>
        <p:nvSpPr>
          <p:cNvPr id="14" name="Text 9"/>
          <p:cNvSpPr/>
          <p:nvPr/>
        </p:nvSpPr>
        <p:spPr>
          <a:xfrm>
            <a:off x="8168184" y="312539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A person merges</a:t>
            </a:r>
            <a:endParaRPr lang="en-US" sz="1400" dirty="0"/>
          </a:p>
        </p:txBody>
      </p:sp>
      <p:sp>
        <p:nvSpPr>
          <p:cNvPr id="15" name="Text 10"/>
          <p:cNvSpPr/>
          <p:nvPr/>
        </p:nvSpPr>
        <p:spPr>
          <a:xfrm>
            <a:off x="8168184" y="341491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Agents propose; nothing applies to a live environment.</a:t>
            </a:r>
            <a:endParaRPr lang="en-US" sz="1200" dirty="0"/>
          </a:p>
        </p:txBody>
      </p:sp>
      <p:sp>
        <p:nvSpPr>
          <p:cNvPr id="16" name="Shape 11"/>
          <p:cNvSpPr/>
          <p:nvPr/>
        </p:nvSpPr>
        <p:spPr>
          <a:xfrm>
            <a:off x="815975" y="4206677"/>
            <a:ext cx="3414117" cy="1459111"/>
          </a:xfrm>
          <a:prstGeom prst="roundRect">
            <a:avLst>
              <a:gd name="adj" fmla="val 6746"/>
            </a:avLst>
          </a:prstGeom>
          <a:solidFill>
            <a:srgbClr val="FBFAF6"/>
          </a:solidFill>
          <a:ln w="6350">
            <a:solidFill>
              <a:srgbClr val="CFC9BA"/>
            </a:solidFill>
            <a:prstDash val="solid"/>
          </a:ln>
        </p:spPr>
      </p:sp>
      <p:pic>
        <p:nvPicPr>
          <p:cNvPr id="17" name="Image 3" descr="Code">    </p:cNvPr>
          <p:cNvPicPr>
            <a:picLocks noChangeAspect="1"/>
          </p:cNvPicPr>
          <p:nvPr/>
        </p:nvPicPr>
        <p:blipFill>
          <a:blip r:embed="rId4"/>
          <a:srcRect l="0" r="0" t="0" b="0"/>
          <a:stretch/>
        </p:blipFill>
        <p:spPr>
          <a:xfrm>
            <a:off x="1022350" y="4413052"/>
            <a:ext cx="254000" cy="254000"/>
          </a:xfrm>
          <a:prstGeom prst="rect">
            <a:avLst/>
          </a:prstGeom>
        </p:spPr>
      </p:pic>
      <p:sp>
        <p:nvSpPr>
          <p:cNvPr id="18" name="Text 12"/>
          <p:cNvSpPr/>
          <p:nvPr/>
        </p:nvSpPr>
        <p:spPr>
          <a:xfrm>
            <a:off x="1022350" y="4743252"/>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Reviewed in PRs</a:t>
            </a:r>
            <a:endParaRPr lang="en-US" sz="1400" dirty="0"/>
          </a:p>
        </p:txBody>
      </p:sp>
      <p:sp>
        <p:nvSpPr>
          <p:cNvPr id="19" name="Text 13"/>
          <p:cNvSpPr/>
          <p:nvPr/>
        </p:nvSpPr>
        <p:spPr>
          <a:xfrm>
            <a:off x="1022350" y="5032772"/>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skill library changes only through review.</a:t>
            </a:r>
            <a:endParaRPr lang="en-US" sz="1200" dirty="0"/>
          </a:p>
        </p:txBody>
      </p:sp>
      <p:sp>
        <p:nvSpPr>
          <p:cNvPr id="20" name="Shape 14"/>
          <p:cNvSpPr/>
          <p:nvPr/>
        </p:nvSpPr>
        <p:spPr>
          <a:xfrm>
            <a:off x="4388842" y="4206677"/>
            <a:ext cx="3414216" cy="1459111"/>
          </a:xfrm>
          <a:prstGeom prst="roundRect">
            <a:avLst>
              <a:gd name="adj" fmla="val 6746"/>
            </a:avLst>
          </a:prstGeom>
          <a:solidFill>
            <a:srgbClr val="FBFAF6"/>
          </a:solidFill>
          <a:ln w="6350">
            <a:solidFill>
              <a:srgbClr val="CFC9BA"/>
            </a:solidFill>
            <a:prstDash val="solid"/>
          </a:ln>
        </p:spPr>
      </p:sp>
      <p:pic>
        <p:nvPicPr>
          <p:cNvPr id="21" name="Image 4" descr="Search">    </p:cNvPr>
          <p:cNvPicPr>
            <a:picLocks noChangeAspect="1"/>
          </p:cNvPicPr>
          <p:nvPr/>
        </p:nvPicPr>
        <p:blipFill>
          <a:blip r:embed="rId5"/>
          <a:srcRect l="0" r="0" t="0" b="0"/>
          <a:stretch/>
        </p:blipFill>
        <p:spPr>
          <a:xfrm>
            <a:off x="4595217" y="4413052"/>
            <a:ext cx="254000" cy="254000"/>
          </a:xfrm>
          <a:prstGeom prst="rect">
            <a:avLst/>
          </a:prstGeom>
        </p:spPr>
      </p:pic>
      <p:sp>
        <p:nvSpPr>
          <p:cNvPr id="22" name="Text 15"/>
          <p:cNvSpPr/>
          <p:nvPr/>
        </p:nvSpPr>
        <p:spPr>
          <a:xfrm>
            <a:off x="4595217" y="4743252"/>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Scanned for secrets</a:t>
            </a:r>
            <a:endParaRPr lang="en-US" sz="1400" dirty="0"/>
          </a:p>
        </p:txBody>
      </p:sp>
      <p:sp>
        <p:nvSpPr>
          <p:cNvPr id="23" name="Text 16"/>
          <p:cNvSpPr/>
          <p:nvPr/>
        </p:nvSpPr>
        <p:spPr>
          <a:xfrm>
            <a:off x="4595217" y="503277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 kit with a key or token in it is refused.</a:t>
            </a:r>
            <a:endParaRPr lang="en-US" sz="1200" dirty="0"/>
          </a:p>
        </p:txBody>
      </p:sp>
      <p:sp>
        <p:nvSpPr>
          <p:cNvPr id="24" name="Shape 17"/>
          <p:cNvSpPr/>
          <p:nvPr/>
        </p:nvSpPr>
        <p:spPr>
          <a:xfrm>
            <a:off x="7961809" y="4206677"/>
            <a:ext cx="3414216" cy="1459111"/>
          </a:xfrm>
          <a:prstGeom prst="roundRect">
            <a:avLst>
              <a:gd name="adj" fmla="val 6746"/>
            </a:avLst>
          </a:prstGeom>
          <a:solidFill>
            <a:srgbClr val="FBFAF6"/>
          </a:solidFill>
          <a:ln w="6350">
            <a:solidFill>
              <a:srgbClr val="CFC9BA"/>
            </a:solidFill>
            <a:prstDash val="solid"/>
          </a:ln>
        </p:spPr>
      </p:sp>
      <p:pic>
        <p:nvPicPr>
          <p:cNvPr id="25" name="Image 5" descr="Lock">    </p:cNvPr>
          <p:cNvPicPr>
            <a:picLocks noChangeAspect="1"/>
          </p:cNvPicPr>
          <p:nvPr/>
        </p:nvPicPr>
        <p:blipFill>
          <a:blip r:embed="rId6"/>
          <a:srcRect l="0" r="0" t="0" b="0"/>
          <a:stretch/>
        </p:blipFill>
        <p:spPr>
          <a:xfrm>
            <a:off x="8168184" y="4413052"/>
            <a:ext cx="254000" cy="254000"/>
          </a:xfrm>
          <a:prstGeom prst="rect">
            <a:avLst/>
          </a:prstGeom>
        </p:spPr>
      </p:pic>
      <p:sp>
        <p:nvSpPr>
          <p:cNvPr id="26" name="Text 18"/>
          <p:cNvSpPr/>
          <p:nvPr/>
        </p:nvSpPr>
        <p:spPr>
          <a:xfrm>
            <a:off x="8168184" y="4743252"/>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Guardrails and audit</a:t>
            </a:r>
            <a:endParaRPr lang="en-US" sz="1400" dirty="0"/>
          </a:p>
        </p:txBody>
      </p:sp>
      <p:sp>
        <p:nvSpPr>
          <p:cNvPr id="27" name="Text 19"/>
          <p:cNvSpPr/>
          <p:nvPr/>
        </p:nvSpPr>
        <p:spPr>
          <a:xfrm>
            <a:off x="8168184" y="503277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Hooks stop risky commands; actions are logged.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4"/>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WHY IT MATTERS</a:t>
            </a:r>
            <a:endParaRPr lang="en-US" sz="1200" dirty="0"/>
          </a:p>
        </p:txBody>
      </p:sp>
      <p:sp>
        <p:nvSpPr>
          <p:cNvPr id="4" name="Text 2"/>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2EC"/>
                </a:solidFill>
                <a:latin typeface="IBM Plex Sans" pitchFamily="34" charset="0"/>
                <a:ea typeface="IBM Plex Sans" pitchFamily="34" charset="-122"/>
                <a:cs typeface="IBM Plex Sans" pitchFamily="34" charset="-120"/>
              </a:rPr>
              <a:t>What the organization gets</a:t>
            </a:r>
            <a:endParaRPr lang="en-US" sz="3600" dirty="0"/>
          </a:p>
        </p:txBody>
      </p:sp>
      <p:sp>
        <p:nvSpPr>
          <p:cNvPr id="5" name="Shape 3"/>
          <p:cNvSpPr/>
          <p:nvPr/>
        </p:nvSpPr>
        <p:spPr>
          <a:xfrm>
            <a:off x="812800" y="2174180"/>
            <a:ext cx="5207000" cy="0"/>
          </a:xfrm>
          <a:prstGeom prst="line">
            <a:avLst/>
          </a:prstGeom>
          <a:noFill/>
          <a:ln w="25400">
            <a:solidFill>
              <a:srgbClr val="7FB2EA"/>
            </a:solidFill>
            <a:prstDash val="solid"/>
          </a:ln>
        </p:spPr>
      </p:sp>
      <p:sp>
        <p:nvSpPr>
          <p:cNvPr id="6" name="Text 4"/>
          <p:cNvSpPr/>
          <p:nvPr/>
        </p:nvSpPr>
        <p:spPr>
          <a:xfrm>
            <a:off x="812800" y="2339280"/>
            <a:ext cx="536321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Consistency</a:t>
            </a:r>
            <a:endParaRPr lang="en-US" sz="2200" dirty="0"/>
          </a:p>
        </p:txBody>
      </p:sp>
      <p:sp>
        <p:nvSpPr>
          <p:cNvPr id="7" name="Text 5"/>
          <p:cNvSpPr/>
          <p:nvPr/>
        </p:nvSpPr>
        <p:spPr>
          <a:xfrm>
            <a:off x="812800" y="2750741"/>
            <a:ext cx="53632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The team's best way of doing a task, written once and followed every time.</a:t>
            </a:r>
            <a:endParaRPr lang="en-US" sz="1400" dirty="0"/>
          </a:p>
        </p:txBody>
      </p:sp>
      <p:sp>
        <p:nvSpPr>
          <p:cNvPr id="8" name="Shape 6"/>
          <p:cNvSpPr/>
          <p:nvPr/>
        </p:nvSpPr>
        <p:spPr>
          <a:xfrm>
            <a:off x="6172200" y="2174180"/>
            <a:ext cx="5207000" cy="0"/>
          </a:xfrm>
          <a:prstGeom prst="line">
            <a:avLst/>
          </a:prstGeom>
          <a:noFill/>
          <a:ln w="25400">
            <a:solidFill>
              <a:srgbClr val="7FB2EA"/>
            </a:solidFill>
            <a:prstDash val="solid"/>
          </a:ln>
        </p:spPr>
      </p:sp>
      <p:sp>
        <p:nvSpPr>
          <p:cNvPr id="9" name="Text 7"/>
          <p:cNvSpPr/>
          <p:nvPr/>
        </p:nvSpPr>
        <p:spPr>
          <a:xfrm>
            <a:off x="6172200" y="2339280"/>
            <a:ext cx="536321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Auditability</a:t>
            </a:r>
            <a:endParaRPr lang="en-US" sz="2200" dirty="0"/>
          </a:p>
        </p:txBody>
      </p:sp>
      <p:sp>
        <p:nvSpPr>
          <p:cNvPr id="10" name="Text 8"/>
          <p:cNvSpPr/>
          <p:nvPr/>
        </p:nvSpPr>
        <p:spPr>
          <a:xfrm>
            <a:off x="6172200" y="2750741"/>
            <a:ext cx="53632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Procedures live in git; agent work lands as reviewable commits.</a:t>
            </a:r>
            <a:endParaRPr lang="en-US" sz="1400" dirty="0"/>
          </a:p>
        </p:txBody>
      </p:sp>
      <p:sp>
        <p:nvSpPr>
          <p:cNvPr id="11" name="Shape 9"/>
          <p:cNvSpPr/>
          <p:nvPr/>
        </p:nvSpPr>
        <p:spPr>
          <a:xfrm>
            <a:off x="812800" y="4090591"/>
            <a:ext cx="5207000" cy="0"/>
          </a:xfrm>
          <a:prstGeom prst="line">
            <a:avLst/>
          </a:prstGeom>
          <a:noFill/>
          <a:ln w="25400">
            <a:solidFill>
              <a:srgbClr val="E8A33D"/>
            </a:solidFill>
            <a:prstDash val="solid"/>
          </a:ln>
        </p:spPr>
      </p:sp>
      <p:sp>
        <p:nvSpPr>
          <p:cNvPr id="12" name="Text 10"/>
          <p:cNvSpPr/>
          <p:nvPr/>
        </p:nvSpPr>
        <p:spPr>
          <a:xfrm>
            <a:off x="812800" y="4255691"/>
            <a:ext cx="536321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Portability</a:t>
            </a:r>
            <a:endParaRPr lang="en-US" sz="2200" dirty="0"/>
          </a:p>
        </p:txBody>
      </p:sp>
      <p:sp>
        <p:nvSpPr>
          <p:cNvPr id="13" name="Text 11"/>
          <p:cNvSpPr/>
          <p:nvPr/>
        </p:nvSpPr>
        <p:spPr>
          <a:xfrm>
            <a:off x="812800" y="4667151"/>
            <a:ext cx="53632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An open standard: skills move with us if tools or models change.</a:t>
            </a:r>
            <a:endParaRPr lang="en-US" sz="1400" dirty="0"/>
          </a:p>
        </p:txBody>
      </p:sp>
      <p:sp>
        <p:nvSpPr>
          <p:cNvPr id="14" name="Shape 12"/>
          <p:cNvSpPr/>
          <p:nvPr/>
        </p:nvSpPr>
        <p:spPr>
          <a:xfrm>
            <a:off x="6172200" y="4090591"/>
            <a:ext cx="5207000" cy="0"/>
          </a:xfrm>
          <a:prstGeom prst="line">
            <a:avLst/>
          </a:prstGeom>
          <a:noFill/>
          <a:ln w="25400">
            <a:solidFill>
              <a:srgbClr val="E8A33D"/>
            </a:solidFill>
            <a:prstDash val="solid"/>
          </a:ln>
        </p:spPr>
      </p:sp>
      <p:sp>
        <p:nvSpPr>
          <p:cNvPr id="15" name="Text 13"/>
          <p:cNvSpPr/>
          <p:nvPr/>
        </p:nvSpPr>
        <p:spPr>
          <a:xfrm>
            <a:off x="6172200" y="4255691"/>
            <a:ext cx="536321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Right-sized cost</a:t>
            </a:r>
            <a:endParaRPr lang="en-US" sz="2200" dirty="0"/>
          </a:p>
        </p:txBody>
      </p:sp>
      <p:sp>
        <p:nvSpPr>
          <p:cNvPr id="16" name="Text 14"/>
          <p:cNvSpPr/>
          <p:nvPr/>
        </p:nvSpPr>
        <p:spPr>
          <a:xfrm>
            <a:off x="6172200" y="4667151"/>
            <a:ext cx="53632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Each kit picks its model: routine work on a cheaper one, design on the strongest.</a:t>
            </a:r>
            <a:endParaRPr lang="en-US" sz="1400" dirty="0"/>
          </a:p>
        </p:txBody>
      </p:sp>
      <p:sp>
        <p:nvSpPr>
          <p:cNvPr id="17" name="Text 15"/>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JetBrains Mono" pitchFamily="49" charset="0"/>
                <a:ea typeface="JetBrains Mono" pitchFamily="49" charset="-122"/>
                <a:cs typeface="JetBrains Mono" pitchFamily="49" charset="-120"/>
              </a:rPr>
              <a:t>Up next → live demo in sncfleet.ai</a:t>
            </a:r>
            <a:endParaRPr lang="en-US" sz="1200" dirty="0"/>
          </a:p>
        </p:txBody>
      </p:sp>
    </p:spTree>
  </p:cSld>
  <p:clrMapOvr>
    <a:masterClrMapping/>
  </p:clrMapOvr>
</p:sld>
</file>

<file path=ppt/theme/theme1.xml><?xml version="1.0" encoding="utf-8"?>
<a:theme xmlns:a="http://schemas.openxmlformats.org/drawingml/2006/main" name="Skills, Personas &amp; Kits">
  <a:themeElements>
    <a:clrScheme name="Skills, Personas &amp; Kits">
      <a:dk1>
        <a:srgbClr val="13202C"/>
      </a:dk1>
      <a:lt1>
        <a:srgbClr val="F4F2EC"/>
      </a:lt1>
      <a:dk2>
        <a:srgbClr val="4B555C"/>
      </a:dk2>
      <a:lt2>
        <a:srgbClr val="DEDDD9"/>
      </a:lt2>
      <a:accent1>
        <a:srgbClr val="2A64A8"/>
      </a:accent1>
      <a:accent2>
        <a:srgbClr val="9A5B0E"/>
      </a:accent2>
      <a:accent3>
        <a:srgbClr val="E8A33D"/>
      </a:accent3>
      <a:accent4>
        <a:srgbClr val="7FB2EA"/>
      </a:accent4>
      <a:accent5>
        <a:srgbClr val="4A5563"/>
      </a:accent5>
      <a:accent6>
        <a:srgbClr val="B8C4CF"/>
      </a:accent6>
      <a:hlink>
        <a:srgbClr val="0563C1"/>
      </a:hlink>
      <a:folHlink>
        <a:srgbClr val="954F72"/>
      </a:folHlink>
    </a:clrScheme>
    <a:fontScheme name="Skills, Personas &amp; Kit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 Personas &amp; Kits</dc:title>
  <dc:subject/>
  <dc:creator/>
  <cp:lastModifiedBy/>
  <cp:revision>1</cp:revision>
  <dcterms:created xsi:type="dcterms:W3CDTF">2026-10-07T19:38:11Z</dcterms:created>
  <dcterms:modified xsi:type="dcterms:W3CDTF">2026-10-07T19:38:11Z</dcterms:modified>
</cp:coreProperties>
</file>